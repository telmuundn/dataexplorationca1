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7" r:id="rId2"/>
    <p:sldMasterId id="2147483653" r:id="rId3"/>
  </p:sldMasterIdLst>
  <p:notesMasterIdLst>
    <p:notesMasterId r:id="rId5"/>
  </p:notesMasterIdLst>
  <p:handoutMasterIdLst>
    <p:handoutMasterId r:id="rId6"/>
  </p:handoutMasterIdLst>
  <p:sldIdLst>
    <p:sldId id="258" r:id="rId4"/>
  </p:sldIdLst>
  <p:sldSz cx="43891200" cy="32918400"/>
  <p:notesSz cx="6858000" cy="9144000"/>
  <p:defaultText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18">
          <p15:clr>
            <a:srgbClr val="A4A3A4"/>
          </p15:clr>
        </p15:guide>
        <p15:guide id="2" orient="horz" pos="288">
          <p15:clr>
            <a:srgbClr val="A4A3A4"/>
          </p15:clr>
        </p15:guide>
        <p15:guide id="3" orient="horz" pos="20160">
          <p15:clr>
            <a:srgbClr val="A4A3A4"/>
          </p15:clr>
        </p15:guide>
        <p15:guide id="4" orient="horz">
          <p15:clr>
            <a:srgbClr val="A4A3A4"/>
          </p15:clr>
        </p15:guide>
        <p15:guide id="5" pos="581">
          <p15:clr>
            <a:srgbClr val="A4A3A4"/>
          </p15:clr>
        </p15:guide>
        <p15:guide id="6" pos="27069">
          <p15:clr>
            <a:srgbClr val="A4A3A4"/>
          </p15:clr>
        </p15:guide>
        <p15:guide id="7" orient="horz" pos="3298">
          <p15:clr>
            <a:srgbClr val="A4A3A4"/>
          </p15:clr>
        </p15:guide>
        <p15:guide id="8" orient="horz" pos="20735">
          <p15:clr>
            <a:srgbClr val="A4A3A4"/>
          </p15:clr>
        </p15:guide>
        <p15:guide id="9" pos="320">
          <p15:clr>
            <a:srgbClr val="A4A3A4"/>
          </p15:clr>
        </p15:guide>
        <p15:guide id="10" pos="27647">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58" autoAdjust="0"/>
    <p:restoredTop sz="94434" autoAdjust="0"/>
  </p:normalViewPr>
  <p:slideViewPr>
    <p:cSldViewPr snapToGrid="0" snapToObjects="1" showGuides="1">
      <p:cViewPr>
        <p:scale>
          <a:sx n="33" d="100"/>
          <a:sy n="33" d="100"/>
        </p:scale>
        <p:origin x="1734" y="-732"/>
      </p:cViewPr>
      <p:guideLst>
        <p:guide orient="horz" pos="3318"/>
        <p:guide orient="horz" pos="288"/>
        <p:guide orient="horz" pos="20160"/>
        <p:guide orient="horz"/>
        <p:guide pos="581"/>
        <p:guide pos="27069"/>
        <p:guide orient="horz" pos="3298"/>
        <p:guide orient="horz" pos="20735"/>
        <p:guide pos="320"/>
        <p:guide pos="27647"/>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56" d="100"/>
          <a:sy n="56" d="100"/>
        </p:scale>
        <p:origin x="-2886"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Master" Target="slideMasters/slideMaster3.xml"/><Relationship Id="rId7" Type="http://schemas.openxmlformats.org/officeDocument/2006/relationships/commentAuthors" Target="commentAuthor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handoutMaster" Target="handoutMasters/handoutMaster1.xml"/><Relationship Id="rId11" Type="http://schemas.openxmlformats.org/officeDocument/2006/relationships/tableStyles" Target="tableStyles.xml"/><Relationship Id="rId5" Type="http://schemas.openxmlformats.org/officeDocument/2006/relationships/notesMaster" Target="notesMasters/notesMaster1.xml"/><Relationship Id="rId10"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pPr/>
              <a:t>10/23/2026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39740682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10/23/2026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2414637987"/>
      </p:ext>
    </p:extLst>
  </p:cSld>
  <p:clrMap bg1="lt1" tx1="dk1" bg2="lt2" tx2="dk2" accent1="accent1" accent2="accent2" accent3="accent3" accent4="accent4" accent5="accent5" accent6="accent6" hlink="hlink" folHlink="folHlink"/>
  <p:notesStyle>
    <a:lvl1pPr marL="0" algn="l" defTabSz="4388900" rtl="0" eaLnBrk="1" latinLnBrk="0" hangingPunct="1">
      <a:defRPr sz="5800" kern="1200">
        <a:solidFill>
          <a:schemeClr val="tx1"/>
        </a:solidFill>
        <a:latin typeface="+mn-lt"/>
        <a:ea typeface="+mn-ea"/>
        <a:cs typeface="+mn-cs"/>
      </a:defRPr>
    </a:lvl1pPr>
    <a:lvl2pPr marL="2194451" algn="l" defTabSz="4388900" rtl="0" eaLnBrk="1" latinLnBrk="0" hangingPunct="1">
      <a:defRPr sz="5800" kern="1200">
        <a:solidFill>
          <a:schemeClr val="tx1"/>
        </a:solidFill>
        <a:latin typeface="+mn-lt"/>
        <a:ea typeface="+mn-ea"/>
        <a:cs typeface="+mn-cs"/>
      </a:defRPr>
    </a:lvl2pPr>
    <a:lvl3pPr marL="4388900" algn="l" defTabSz="4388900" rtl="0" eaLnBrk="1" latinLnBrk="0" hangingPunct="1">
      <a:defRPr sz="5800" kern="1200">
        <a:solidFill>
          <a:schemeClr val="tx1"/>
        </a:solidFill>
        <a:latin typeface="+mn-lt"/>
        <a:ea typeface="+mn-ea"/>
        <a:cs typeface="+mn-cs"/>
      </a:defRPr>
    </a:lvl3pPr>
    <a:lvl4pPr marL="6583351" algn="l" defTabSz="4388900" rtl="0" eaLnBrk="1" latinLnBrk="0" hangingPunct="1">
      <a:defRPr sz="5800" kern="1200">
        <a:solidFill>
          <a:schemeClr val="tx1"/>
        </a:solidFill>
        <a:latin typeface="+mn-lt"/>
        <a:ea typeface="+mn-ea"/>
        <a:cs typeface="+mn-cs"/>
      </a:defRPr>
    </a:lvl4pPr>
    <a:lvl5pPr marL="8777801" algn="l" defTabSz="4388900" rtl="0" eaLnBrk="1" latinLnBrk="0" hangingPunct="1">
      <a:defRPr sz="5800" kern="1200">
        <a:solidFill>
          <a:schemeClr val="tx1"/>
        </a:solidFill>
        <a:latin typeface="+mn-lt"/>
        <a:ea typeface="+mn-ea"/>
        <a:cs typeface="+mn-cs"/>
      </a:defRPr>
    </a:lvl5pPr>
    <a:lvl6pPr marL="10972252" algn="l" defTabSz="4388900" rtl="0" eaLnBrk="1" latinLnBrk="0" hangingPunct="1">
      <a:defRPr sz="5800" kern="1200">
        <a:solidFill>
          <a:schemeClr val="tx1"/>
        </a:solidFill>
        <a:latin typeface="+mn-lt"/>
        <a:ea typeface="+mn-ea"/>
        <a:cs typeface="+mn-cs"/>
      </a:defRPr>
    </a:lvl6pPr>
    <a:lvl7pPr marL="13166703" algn="l" defTabSz="4388900" rtl="0" eaLnBrk="1" latinLnBrk="0" hangingPunct="1">
      <a:defRPr sz="5800" kern="1200">
        <a:solidFill>
          <a:schemeClr val="tx1"/>
        </a:solidFill>
        <a:latin typeface="+mn-lt"/>
        <a:ea typeface="+mn-ea"/>
        <a:cs typeface="+mn-cs"/>
      </a:defRPr>
    </a:lvl7pPr>
    <a:lvl8pPr marL="15361152" algn="l" defTabSz="4388900" rtl="0" eaLnBrk="1" latinLnBrk="0" hangingPunct="1">
      <a:defRPr sz="5800" kern="1200">
        <a:solidFill>
          <a:schemeClr val="tx1"/>
        </a:solidFill>
        <a:latin typeface="+mn-lt"/>
        <a:ea typeface="+mn-ea"/>
        <a:cs typeface="+mn-cs"/>
      </a:defRPr>
    </a:lvl8pPr>
    <a:lvl9pPr marL="17555603" algn="l" defTabSz="4388900" rtl="0" eaLnBrk="1" latinLnBrk="0" hangingPunct="1">
      <a:defRPr sz="5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26A1A87D-CAF7-4BDC-A0D3-C0DBEDE81619}" type="slidenum">
              <a:rPr lang="en-US" smtClean="0"/>
              <a:pPr/>
              <a:t>1</a:t>
            </a:fld>
            <a:endParaRPr lang="en-US" dirty="0"/>
          </a:p>
        </p:txBody>
      </p:sp>
    </p:spTree>
    <p:extLst>
      <p:ext uri="{BB962C8B-B14F-4D97-AF65-F5344CB8AC3E}">
        <p14:creationId xmlns:p14="http://schemas.microsoft.com/office/powerpoint/2010/main" val="17626444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andard 4 column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91425" y="6378481"/>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509578"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509576" y="14212513"/>
            <a:ext cx="10050462"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OBJECTIVES</a:t>
            </a:r>
          </a:p>
        </p:txBody>
      </p:sp>
      <p:sp>
        <p:nvSpPr>
          <p:cNvPr id="21" name="Text Placeholder 3"/>
          <p:cNvSpPr>
            <a:spLocks noGrp="1"/>
          </p:cNvSpPr>
          <p:nvPr>
            <p:ph type="body" sz="quarter" idx="21" hasCustomPrompt="1"/>
          </p:nvPr>
        </p:nvSpPr>
        <p:spPr>
          <a:xfrm>
            <a:off x="11460161"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1460162"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22385343"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22377404" y="5548749"/>
            <a:ext cx="10058400"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RESULTS</a:t>
            </a:r>
          </a:p>
        </p:txBody>
      </p:sp>
      <p:sp>
        <p:nvSpPr>
          <p:cNvPr id="25" name="Text Placeholder 5"/>
          <p:cNvSpPr>
            <a:spLocks noGrp="1"/>
          </p:cNvSpPr>
          <p:nvPr>
            <p:ph type="body" sz="quarter" idx="25" hasCustomPrompt="1"/>
          </p:nvPr>
        </p:nvSpPr>
        <p:spPr>
          <a:xfrm>
            <a:off x="33358541" y="5548749"/>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33358541" y="6378481"/>
            <a:ext cx="10047018"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33358541" y="14272738"/>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33358541" y="15011402"/>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33358541" y="25679401"/>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33358541" y="26433446"/>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491425" y="14951552"/>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77" name="Text Placeholder 76"/>
          <p:cNvSpPr>
            <a:spLocks noGrp="1"/>
          </p:cNvSpPr>
          <p:nvPr>
            <p:ph type="body" sz="quarter" idx="150" hasCustomPrompt="1"/>
          </p:nvPr>
        </p:nvSpPr>
        <p:spPr>
          <a:xfrm>
            <a:off x="5932593" y="3383947"/>
            <a:ext cx="31998968" cy="1280160"/>
          </a:xfrm>
          <a:prstGeom prst="rect">
            <a:avLst/>
          </a:prstGeom>
        </p:spPr>
        <p:txBody>
          <a:bodyPr>
            <a:normAutofit/>
          </a:bodyPr>
          <a:lstStyle>
            <a:lvl1pPr marL="0" indent="0" algn="ctr">
              <a:buFontTx/>
              <a:buNone/>
              <a:defRPr sz="60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8" name="Text Placeholder 76"/>
          <p:cNvSpPr>
            <a:spLocks noGrp="1"/>
          </p:cNvSpPr>
          <p:nvPr>
            <p:ph type="body" sz="quarter" idx="151" hasCustomPrompt="1"/>
          </p:nvPr>
        </p:nvSpPr>
        <p:spPr>
          <a:xfrm>
            <a:off x="5932593" y="2103787"/>
            <a:ext cx="31998968" cy="1280160"/>
          </a:xfrm>
          <a:prstGeom prst="rect">
            <a:avLst/>
          </a:prstGeom>
        </p:spPr>
        <p:txBody>
          <a:bodyPr anchor="t" anchorCtr="1">
            <a:normAutofit/>
          </a:bodyPr>
          <a:lstStyle>
            <a:lvl1pPr marL="0" indent="0" algn="ctr">
              <a:buFontTx/>
              <a:buNone/>
              <a:defRPr sz="88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79" name="Text Placeholder 76"/>
          <p:cNvSpPr>
            <a:spLocks noGrp="1"/>
          </p:cNvSpPr>
          <p:nvPr>
            <p:ph type="body" sz="quarter" idx="153" hasCustomPrompt="1"/>
          </p:nvPr>
        </p:nvSpPr>
        <p:spPr>
          <a:xfrm>
            <a:off x="5932593" y="465813"/>
            <a:ext cx="31998968" cy="1637973"/>
          </a:xfrm>
          <a:prstGeom prst="rect">
            <a:avLst/>
          </a:prstGeom>
        </p:spPr>
        <p:txBody>
          <a:bodyPr anchor="t" anchorCtr="1">
            <a:normAutofit/>
          </a:bodyPr>
          <a:lstStyle>
            <a:lvl1pPr marL="0" indent="0" algn="ctr">
              <a:buFontTx/>
              <a:buNone/>
              <a:defRPr sz="115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tandard 3 column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904186" y="6295353"/>
            <a:ext cx="13591277"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922338" y="5431995"/>
            <a:ext cx="13573126"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INTRODUCTION or ABSTRACT</a:t>
            </a:r>
          </a:p>
        </p:txBody>
      </p:sp>
      <p:sp>
        <p:nvSpPr>
          <p:cNvPr id="19" name="Text Placeholder 3"/>
          <p:cNvSpPr>
            <a:spLocks noGrp="1"/>
          </p:cNvSpPr>
          <p:nvPr>
            <p:ph type="body" sz="quarter" idx="19" hasCustomPrompt="1"/>
          </p:nvPr>
        </p:nvSpPr>
        <p:spPr>
          <a:xfrm>
            <a:off x="922338" y="18240478"/>
            <a:ext cx="13592864"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0" name="Text Placeholder 5"/>
          <p:cNvSpPr>
            <a:spLocks noGrp="1"/>
          </p:cNvSpPr>
          <p:nvPr>
            <p:ph type="body" sz="quarter" idx="20" hasCustomPrompt="1"/>
          </p:nvPr>
        </p:nvSpPr>
        <p:spPr>
          <a:xfrm>
            <a:off x="942080" y="17409229"/>
            <a:ext cx="13573125"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OBJECTIVES</a:t>
            </a:r>
          </a:p>
        </p:txBody>
      </p:sp>
      <p:sp>
        <p:nvSpPr>
          <p:cNvPr id="21" name="Text Placeholder 3"/>
          <p:cNvSpPr>
            <a:spLocks noGrp="1"/>
          </p:cNvSpPr>
          <p:nvPr>
            <p:ph type="body" sz="quarter" idx="21" hasCustomPrompt="1"/>
          </p:nvPr>
        </p:nvSpPr>
        <p:spPr>
          <a:xfrm>
            <a:off x="15154276" y="21595083"/>
            <a:ext cx="13571534"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5154276" y="20739663"/>
            <a:ext cx="13571534"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MATERIALS &amp; METHODS</a:t>
            </a:r>
          </a:p>
        </p:txBody>
      </p:sp>
      <p:sp>
        <p:nvSpPr>
          <p:cNvPr id="23" name="Text Placeholder 3"/>
          <p:cNvSpPr>
            <a:spLocks noGrp="1"/>
          </p:cNvSpPr>
          <p:nvPr>
            <p:ph type="body" sz="quarter" idx="23" hasCustomPrompt="1"/>
          </p:nvPr>
        </p:nvSpPr>
        <p:spPr>
          <a:xfrm>
            <a:off x="15162215" y="6295353"/>
            <a:ext cx="13571534"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15154277" y="5431995"/>
            <a:ext cx="13579475"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RESULTS</a:t>
            </a:r>
          </a:p>
        </p:txBody>
      </p:sp>
      <p:sp>
        <p:nvSpPr>
          <p:cNvPr id="25" name="Text Placeholder 5"/>
          <p:cNvSpPr>
            <a:spLocks noGrp="1"/>
          </p:cNvSpPr>
          <p:nvPr>
            <p:ph type="body" sz="quarter" idx="25" hasCustomPrompt="1"/>
          </p:nvPr>
        </p:nvSpPr>
        <p:spPr>
          <a:xfrm>
            <a:off x="29395741" y="5431995"/>
            <a:ext cx="13576029"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CONCLUSIONS</a:t>
            </a:r>
          </a:p>
        </p:txBody>
      </p:sp>
      <p:sp>
        <p:nvSpPr>
          <p:cNvPr id="26" name="Text Placeholder 3"/>
          <p:cNvSpPr>
            <a:spLocks noGrp="1"/>
          </p:cNvSpPr>
          <p:nvPr>
            <p:ph type="body" sz="quarter" idx="26" hasCustomPrompt="1"/>
          </p:nvPr>
        </p:nvSpPr>
        <p:spPr>
          <a:xfrm>
            <a:off x="29395741" y="6295353"/>
            <a:ext cx="13576029"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29395741" y="17377122"/>
            <a:ext cx="13576029" cy="754045"/>
          </a:xfrm>
          <a:prstGeom prst="rect">
            <a:avLst/>
          </a:prstGeom>
          <a:noFill/>
        </p:spPr>
        <p:txBody>
          <a:bodyPr wrap="square" lIns="91436" tIns="91436" rIns="91436" bIns="91436" anchor="ctr" anchorCtr="0">
            <a:spAutoFit/>
          </a:bodyPr>
          <a:lstStyle>
            <a:lvl1pPr marL="0" indent="0" algn="ctr">
              <a:buNone/>
              <a:tabLst/>
              <a:defRPr sz="3700" b="1" u="sng" baseline="0">
                <a:solidFill>
                  <a:schemeClr val="accent5">
                    <a:lumMod val="50000"/>
                  </a:schemeClr>
                </a:solidFill>
              </a:defRPr>
            </a:lvl1pPr>
          </a:lstStyle>
          <a:p>
            <a:pPr lvl="0"/>
            <a:r>
              <a:rPr lang="en-US" dirty="0"/>
              <a:t>(click to add)  REFERENCES</a:t>
            </a:r>
          </a:p>
        </p:txBody>
      </p:sp>
      <p:sp>
        <p:nvSpPr>
          <p:cNvPr id="28" name="Text Placeholder 3"/>
          <p:cNvSpPr>
            <a:spLocks noGrp="1"/>
          </p:cNvSpPr>
          <p:nvPr>
            <p:ph type="body" sz="quarter" idx="28" hasCustomPrompt="1"/>
          </p:nvPr>
        </p:nvSpPr>
        <p:spPr>
          <a:xfrm>
            <a:off x="29390710" y="18157350"/>
            <a:ext cx="13581061"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29395741" y="25845657"/>
            <a:ext cx="13576029"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ACKNOWLEDGEMENTS  or  CONTACT</a:t>
            </a:r>
          </a:p>
        </p:txBody>
      </p:sp>
      <p:sp>
        <p:nvSpPr>
          <p:cNvPr id="30" name="Text Placeholder 3"/>
          <p:cNvSpPr>
            <a:spLocks noGrp="1"/>
          </p:cNvSpPr>
          <p:nvPr>
            <p:ph type="body" sz="quarter" idx="30" hasCustomPrompt="1"/>
          </p:nvPr>
        </p:nvSpPr>
        <p:spPr>
          <a:xfrm>
            <a:off x="29395742" y="26625887"/>
            <a:ext cx="13581061"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4" name="Text Placeholder 76"/>
          <p:cNvSpPr>
            <a:spLocks noGrp="1"/>
          </p:cNvSpPr>
          <p:nvPr>
            <p:ph type="body" sz="quarter" idx="150" hasCustomPrompt="1"/>
          </p:nvPr>
        </p:nvSpPr>
        <p:spPr>
          <a:xfrm>
            <a:off x="5932593" y="3383947"/>
            <a:ext cx="31998968" cy="1280160"/>
          </a:xfrm>
          <a:prstGeom prst="rect">
            <a:avLst/>
          </a:prstGeom>
        </p:spPr>
        <p:txBody>
          <a:bodyPr>
            <a:normAutofit/>
          </a:bodyPr>
          <a:lstStyle>
            <a:lvl1pPr marL="0" indent="0" algn="ctr">
              <a:buFontTx/>
              <a:buNone/>
              <a:defRPr sz="60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65" name="Text Placeholder 76"/>
          <p:cNvSpPr>
            <a:spLocks noGrp="1"/>
          </p:cNvSpPr>
          <p:nvPr>
            <p:ph type="body" sz="quarter" idx="151" hasCustomPrompt="1"/>
          </p:nvPr>
        </p:nvSpPr>
        <p:spPr>
          <a:xfrm>
            <a:off x="5932593" y="2103787"/>
            <a:ext cx="31998968" cy="1280160"/>
          </a:xfrm>
          <a:prstGeom prst="rect">
            <a:avLst/>
          </a:prstGeom>
        </p:spPr>
        <p:txBody>
          <a:bodyPr anchor="t" anchorCtr="1">
            <a:normAutofit/>
          </a:bodyPr>
          <a:lstStyle>
            <a:lvl1pPr marL="0" indent="0" algn="ctr">
              <a:buFontTx/>
              <a:buNone/>
              <a:defRPr sz="88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66" name="Text Placeholder 76"/>
          <p:cNvSpPr>
            <a:spLocks noGrp="1"/>
          </p:cNvSpPr>
          <p:nvPr>
            <p:ph type="body" sz="quarter" idx="153" hasCustomPrompt="1"/>
          </p:nvPr>
        </p:nvSpPr>
        <p:spPr>
          <a:xfrm>
            <a:off x="5932593" y="465813"/>
            <a:ext cx="31998968" cy="1637973"/>
          </a:xfrm>
          <a:prstGeom prst="rect">
            <a:avLst/>
          </a:prstGeom>
        </p:spPr>
        <p:txBody>
          <a:bodyPr anchor="t" anchorCtr="1">
            <a:normAutofit/>
          </a:bodyPr>
          <a:lstStyle>
            <a:lvl1pPr marL="0" indent="0" algn="ctr">
              <a:buFontTx/>
              <a:buNone/>
              <a:defRPr sz="115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ide center column">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904188" y="6212225"/>
            <a:ext cx="10056813"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6" name="Text Placeholder 5"/>
          <p:cNvSpPr>
            <a:spLocks noGrp="1"/>
          </p:cNvSpPr>
          <p:nvPr>
            <p:ph type="body" sz="quarter" idx="11" hasCustomPrompt="1"/>
          </p:nvPr>
        </p:nvSpPr>
        <p:spPr>
          <a:xfrm>
            <a:off x="922341" y="5348867"/>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INTRODUCTION or ABSTRACT</a:t>
            </a:r>
          </a:p>
        </p:txBody>
      </p:sp>
      <p:sp>
        <p:nvSpPr>
          <p:cNvPr id="19" name="Text Placeholder 3"/>
          <p:cNvSpPr>
            <a:spLocks noGrp="1"/>
          </p:cNvSpPr>
          <p:nvPr>
            <p:ph type="body" sz="quarter" idx="19" hasCustomPrompt="1"/>
          </p:nvPr>
        </p:nvSpPr>
        <p:spPr>
          <a:xfrm>
            <a:off x="902598" y="15043762"/>
            <a:ext cx="10058400"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20" name="Text Placeholder 5"/>
          <p:cNvSpPr>
            <a:spLocks noGrp="1"/>
          </p:cNvSpPr>
          <p:nvPr>
            <p:ph type="body" sz="quarter" idx="20" hasCustomPrompt="1"/>
          </p:nvPr>
        </p:nvSpPr>
        <p:spPr>
          <a:xfrm>
            <a:off x="922339" y="14212513"/>
            <a:ext cx="10050462"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OBJECTIVES</a:t>
            </a:r>
          </a:p>
        </p:txBody>
      </p:sp>
      <p:sp>
        <p:nvSpPr>
          <p:cNvPr id="21" name="Text Placeholder 3"/>
          <p:cNvSpPr>
            <a:spLocks noGrp="1"/>
          </p:cNvSpPr>
          <p:nvPr>
            <p:ph type="body" sz="quarter" idx="21" hasCustomPrompt="1"/>
          </p:nvPr>
        </p:nvSpPr>
        <p:spPr>
          <a:xfrm>
            <a:off x="11587163" y="6204287"/>
            <a:ext cx="20720048"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22" name="Text Placeholder 5"/>
          <p:cNvSpPr>
            <a:spLocks noGrp="1"/>
          </p:cNvSpPr>
          <p:nvPr>
            <p:ph type="body" sz="quarter" idx="22" hasCustomPrompt="1"/>
          </p:nvPr>
        </p:nvSpPr>
        <p:spPr>
          <a:xfrm>
            <a:off x="11587164" y="5348867"/>
            <a:ext cx="20720050"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(header)  MATERIALS &amp; METHODS</a:t>
            </a:r>
          </a:p>
        </p:txBody>
      </p:sp>
      <p:sp>
        <p:nvSpPr>
          <p:cNvPr id="23" name="Text Placeholder 3"/>
          <p:cNvSpPr>
            <a:spLocks noGrp="1"/>
          </p:cNvSpPr>
          <p:nvPr>
            <p:ph type="body" sz="quarter" idx="23" hasCustomPrompt="1"/>
          </p:nvPr>
        </p:nvSpPr>
        <p:spPr>
          <a:xfrm>
            <a:off x="11587164" y="21896538"/>
            <a:ext cx="20720050"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24" name="Text Placeholder 5"/>
          <p:cNvSpPr>
            <a:spLocks noGrp="1"/>
          </p:cNvSpPr>
          <p:nvPr>
            <p:ph type="body" sz="quarter" idx="24" hasCustomPrompt="1"/>
          </p:nvPr>
        </p:nvSpPr>
        <p:spPr>
          <a:xfrm>
            <a:off x="11587162" y="21074746"/>
            <a:ext cx="20720050"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RESULTS</a:t>
            </a:r>
          </a:p>
        </p:txBody>
      </p:sp>
      <p:sp>
        <p:nvSpPr>
          <p:cNvPr id="25" name="Text Placeholder 5"/>
          <p:cNvSpPr>
            <a:spLocks noGrp="1"/>
          </p:cNvSpPr>
          <p:nvPr>
            <p:ph type="body" sz="quarter" idx="25" hasCustomPrompt="1"/>
          </p:nvPr>
        </p:nvSpPr>
        <p:spPr>
          <a:xfrm>
            <a:off x="32905536" y="5348867"/>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CONCLUSIONS</a:t>
            </a:r>
          </a:p>
        </p:txBody>
      </p:sp>
      <p:sp>
        <p:nvSpPr>
          <p:cNvPr id="26" name="Text Placeholder 3"/>
          <p:cNvSpPr>
            <a:spLocks noGrp="1"/>
          </p:cNvSpPr>
          <p:nvPr>
            <p:ph type="body" sz="quarter" idx="26" hasCustomPrompt="1"/>
          </p:nvPr>
        </p:nvSpPr>
        <p:spPr>
          <a:xfrm>
            <a:off x="32905536" y="6212225"/>
            <a:ext cx="10047018"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27" name="Text Placeholder 5"/>
          <p:cNvSpPr>
            <a:spLocks noGrp="1"/>
          </p:cNvSpPr>
          <p:nvPr>
            <p:ph type="body" sz="quarter" idx="27" hasCustomPrompt="1"/>
          </p:nvPr>
        </p:nvSpPr>
        <p:spPr>
          <a:xfrm>
            <a:off x="32905536" y="14272738"/>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REFERENCES</a:t>
            </a:r>
          </a:p>
        </p:txBody>
      </p:sp>
      <p:sp>
        <p:nvSpPr>
          <p:cNvPr id="28" name="Text Placeholder 3"/>
          <p:cNvSpPr>
            <a:spLocks noGrp="1"/>
          </p:cNvSpPr>
          <p:nvPr>
            <p:ph type="body" sz="quarter" idx="28" hasCustomPrompt="1"/>
          </p:nvPr>
        </p:nvSpPr>
        <p:spPr>
          <a:xfrm>
            <a:off x="32905536" y="15011402"/>
            <a:ext cx="10052050"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29" name="Text Placeholder 5"/>
          <p:cNvSpPr>
            <a:spLocks noGrp="1"/>
          </p:cNvSpPr>
          <p:nvPr>
            <p:ph type="body" sz="quarter" idx="29" hasCustomPrompt="1"/>
          </p:nvPr>
        </p:nvSpPr>
        <p:spPr>
          <a:xfrm>
            <a:off x="32905536" y="25669876"/>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ACKNOWLEDGEMENTS or CONTACT</a:t>
            </a:r>
          </a:p>
        </p:txBody>
      </p:sp>
      <p:sp>
        <p:nvSpPr>
          <p:cNvPr id="30" name="Text Placeholder 3"/>
          <p:cNvSpPr>
            <a:spLocks noGrp="1"/>
          </p:cNvSpPr>
          <p:nvPr>
            <p:ph type="body" sz="quarter" idx="30" hasCustomPrompt="1"/>
          </p:nvPr>
        </p:nvSpPr>
        <p:spPr>
          <a:xfrm>
            <a:off x="32905536" y="26436774"/>
            <a:ext cx="10052050"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64" name="Text Placeholder 76"/>
          <p:cNvSpPr>
            <a:spLocks noGrp="1"/>
          </p:cNvSpPr>
          <p:nvPr>
            <p:ph type="body" sz="quarter" idx="150" hasCustomPrompt="1"/>
          </p:nvPr>
        </p:nvSpPr>
        <p:spPr>
          <a:xfrm>
            <a:off x="5932593" y="3383947"/>
            <a:ext cx="31998968" cy="1280160"/>
          </a:xfrm>
          <a:prstGeom prst="rect">
            <a:avLst/>
          </a:prstGeom>
        </p:spPr>
        <p:txBody>
          <a:bodyPr>
            <a:normAutofit/>
          </a:bodyPr>
          <a:lstStyle>
            <a:lvl1pPr marL="0" indent="0" algn="ctr">
              <a:buFontTx/>
              <a:buNone/>
              <a:defRPr sz="60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65" name="Text Placeholder 76"/>
          <p:cNvSpPr>
            <a:spLocks noGrp="1"/>
          </p:cNvSpPr>
          <p:nvPr>
            <p:ph type="body" sz="quarter" idx="151" hasCustomPrompt="1"/>
          </p:nvPr>
        </p:nvSpPr>
        <p:spPr>
          <a:xfrm>
            <a:off x="5932593" y="2103787"/>
            <a:ext cx="31998968" cy="1280160"/>
          </a:xfrm>
          <a:prstGeom prst="rect">
            <a:avLst/>
          </a:prstGeom>
        </p:spPr>
        <p:txBody>
          <a:bodyPr anchor="t" anchorCtr="1">
            <a:normAutofit/>
          </a:bodyPr>
          <a:lstStyle>
            <a:lvl1pPr marL="0" indent="0" algn="ctr">
              <a:buFontTx/>
              <a:buNone/>
              <a:defRPr sz="88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66" name="Text Placeholder 76"/>
          <p:cNvSpPr>
            <a:spLocks noGrp="1"/>
          </p:cNvSpPr>
          <p:nvPr>
            <p:ph type="body" sz="quarter" idx="153" hasCustomPrompt="1"/>
          </p:nvPr>
        </p:nvSpPr>
        <p:spPr>
          <a:xfrm>
            <a:off x="5932593" y="465813"/>
            <a:ext cx="31998968" cy="1637973"/>
          </a:xfrm>
          <a:prstGeom prst="rect">
            <a:avLst/>
          </a:prstGeom>
        </p:spPr>
        <p:txBody>
          <a:bodyPr anchor="t" anchorCtr="1">
            <a:normAutofit/>
          </a:bodyPr>
          <a:lstStyle>
            <a:lvl1pPr marL="0" indent="0" algn="ctr">
              <a:buFontTx/>
              <a:buNone/>
              <a:defRPr sz="115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5.wmf"/><Relationship Id="rId13"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oleObject" Target="../embeddings/oleObject1.bin"/><Relationship Id="rId12" Type="http://schemas.openxmlformats.org/officeDocument/2006/relationships/image" Target="../media/image7.wmf"/><Relationship Id="rId17" Type="http://schemas.openxmlformats.org/officeDocument/2006/relationships/image" Target="../media/image10.jpeg"/><Relationship Id="rId2" Type="http://schemas.openxmlformats.org/officeDocument/2006/relationships/theme" Target="../theme/theme1.xml"/><Relationship Id="rId16" Type="http://schemas.openxmlformats.org/officeDocument/2006/relationships/hyperlink" Target="http://www.facebook.com/pages/PosterPresentationscom/217914411419?v=app_4949752878&amp;ref=ts" TargetMode="Externa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oleObject" Target="../embeddings/oleObject3.bin"/><Relationship Id="rId5" Type="http://schemas.openxmlformats.org/officeDocument/2006/relationships/image" Target="../media/image3.png"/><Relationship Id="rId15" Type="http://schemas.openxmlformats.org/officeDocument/2006/relationships/image" Target="../media/image9.wmf"/><Relationship Id="rId10" Type="http://schemas.openxmlformats.org/officeDocument/2006/relationships/image" Target="../media/image6.wmf"/><Relationship Id="rId4" Type="http://schemas.openxmlformats.org/officeDocument/2006/relationships/image" Target="../media/image2.png"/><Relationship Id="rId9" Type="http://schemas.openxmlformats.org/officeDocument/2006/relationships/oleObject" Target="../embeddings/oleObject2.bin"/><Relationship Id="rId14" Type="http://schemas.openxmlformats.org/officeDocument/2006/relationships/oleObject" Target="../embeddings/oleObject4.bin"/></Relationships>
</file>

<file path=ppt/slideMasters/_rels/slideMaster2.xml.rels><?xml version="1.0" encoding="UTF-8" standalone="yes"?>
<Relationships xmlns="http://schemas.openxmlformats.org/package/2006/relationships"><Relationship Id="rId8" Type="http://schemas.openxmlformats.org/officeDocument/2006/relationships/hyperlink" Target="http://www.facebook.com/pages/PosterPresentationscom/217914411419?v=app_4949752878&amp;ref=ts" TargetMode="External"/><Relationship Id="rId13" Type="http://schemas.openxmlformats.org/officeDocument/2006/relationships/image" Target="../media/image4.png"/><Relationship Id="rId3" Type="http://schemas.openxmlformats.org/officeDocument/2006/relationships/oleObject" Target="../embeddings/oleObject3.bin"/><Relationship Id="rId7" Type="http://schemas.openxmlformats.org/officeDocument/2006/relationships/image" Target="../media/image9.wmf"/><Relationship Id="rId12" Type="http://schemas.openxmlformats.org/officeDocument/2006/relationships/image" Target="../media/image3.png"/><Relationship Id="rId17" Type="http://schemas.openxmlformats.org/officeDocument/2006/relationships/image" Target="../media/image6.wmf"/><Relationship Id="rId2" Type="http://schemas.openxmlformats.org/officeDocument/2006/relationships/theme" Target="../theme/theme2.xml"/><Relationship Id="rId16" Type="http://schemas.openxmlformats.org/officeDocument/2006/relationships/oleObject" Target="../embeddings/oleObject2.bin"/><Relationship Id="rId1" Type="http://schemas.openxmlformats.org/officeDocument/2006/relationships/slideLayout" Target="../slideLayouts/slideLayout2.xml"/><Relationship Id="rId6" Type="http://schemas.openxmlformats.org/officeDocument/2006/relationships/oleObject" Target="../embeddings/oleObject4.bin"/><Relationship Id="rId11" Type="http://schemas.openxmlformats.org/officeDocument/2006/relationships/image" Target="../media/image2.png"/><Relationship Id="rId5" Type="http://schemas.openxmlformats.org/officeDocument/2006/relationships/image" Target="../media/image8.png"/><Relationship Id="rId15" Type="http://schemas.openxmlformats.org/officeDocument/2006/relationships/image" Target="../media/image5.wmf"/><Relationship Id="rId10" Type="http://schemas.openxmlformats.org/officeDocument/2006/relationships/image" Target="../media/image1.png"/><Relationship Id="rId4" Type="http://schemas.openxmlformats.org/officeDocument/2006/relationships/image" Target="../media/image7.wmf"/><Relationship Id="rId9" Type="http://schemas.openxmlformats.org/officeDocument/2006/relationships/image" Target="../media/image10.jpeg"/><Relationship Id="rId14" Type="http://schemas.openxmlformats.org/officeDocument/2006/relationships/oleObject" Target="../embeddings/oleObject1.bin"/></Relationships>
</file>

<file path=ppt/slideMasters/_rels/slideMaster3.xml.rels><?xml version="1.0" encoding="UTF-8" standalone="yes"?>
<Relationships xmlns="http://schemas.openxmlformats.org/package/2006/relationships"><Relationship Id="rId8" Type="http://schemas.openxmlformats.org/officeDocument/2006/relationships/hyperlink" Target="http://www.facebook.com/pages/PosterPresentationscom/217914411419?v=app_4949752878&amp;ref=ts" TargetMode="External"/><Relationship Id="rId13" Type="http://schemas.openxmlformats.org/officeDocument/2006/relationships/image" Target="../media/image4.png"/><Relationship Id="rId3" Type="http://schemas.openxmlformats.org/officeDocument/2006/relationships/oleObject" Target="../embeddings/oleObject3.bin"/><Relationship Id="rId7" Type="http://schemas.openxmlformats.org/officeDocument/2006/relationships/image" Target="../media/image9.wmf"/><Relationship Id="rId12" Type="http://schemas.openxmlformats.org/officeDocument/2006/relationships/image" Target="../media/image3.png"/><Relationship Id="rId17" Type="http://schemas.openxmlformats.org/officeDocument/2006/relationships/image" Target="../media/image6.wmf"/><Relationship Id="rId2" Type="http://schemas.openxmlformats.org/officeDocument/2006/relationships/theme" Target="../theme/theme3.xml"/><Relationship Id="rId16" Type="http://schemas.openxmlformats.org/officeDocument/2006/relationships/oleObject" Target="../embeddings/oleObject2.bin"/><Relationship Id="rId1" Type="http://schemas.openxmlformats.org/officeDocument/2006/relationships/slideLayout" Target="../slideLayouts/slideLayout3.xml"/><Relationship Id="rId6" Type="http://schemas.openxmlformats.org/officeDocument/2006/relationships/oleObject" Target="../embeddings/oleObject4.bin"/><Relationship Id="rId11" Type="http://schemas.openxmlformats.org/officeDocument/2006/relationships/image" Target="../media/image2.png"/><Relationship Id="rId5" Type="http://schemas.openxmlformats.org/officeDocument/2006/relationships/image" Target="../media/image8.png"/><Relationship Id="rId15" Type="http://schemas.openxmlformats.org/officeDocument/2006/relationships/image" Target="../media/image5.wmf"/><Relationship Id="rId10" Type="http://schemas.openxmlformats.org/officeDocument/2006/relationships/image" Target="../media/image1.png"/><Relationship Id="rId4" Type="http://schemas.openxmlformats.org/officeDocument/2006/relationships/image" Target="../media/image7.wmf"/><Relationship Id="rId9" Type="http://schemas.openxmlformats.org/officeDocument/2006/relationships/image" Target="../media/image10.jpeg"/><Relationship Id="rId1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5">
                <a:lumMod val="50000"/>
              </a:schemeClr>
            </a:gs>
            <a:gs pos="34000">
              <a:schemeClr val="tx2">
                <a:lumMod val="40000"/>
                <a:lumOff val="60000"/>
              </a:schemeClr>
            </a:gs>
            <a:gs pos="100000">
              <a:schemeClr val="accent5">
                <a:lumMod val="20000"/>
                <a:lumOff val="80000"/>
              </a:schemeClr>
            </a:gs>
          </a:gsLst>
          <a:lin ang="16200000" scaled="1"/>
          <a:tileRect/>
        </a:gradFill>
        <a:effectLst/>
      </p:bgPr>
    </p:bg>
    <p:spTree>
      <p:nvGrpSpPr>
        <p:cNvPr id="1" name=""/>
        <p:cNvGrpSpPr/>
        <p:nvPr/>
      </p:nvGrpSpPr>
      <p:grpSpPr>
        <a:xfrm>
          <a:off x="0" y="0"/>
          <a:ext cx="0" cy="0"/>
          <a:chOff x="0" y="0"/>
          <a:chExt cx="0" cy="0"/>
        </a:xfrm>
      </p:grpSpPr>
      <p:sp>
        <p:nvSpPr>
          <p:cNvPr id="7" name="Rectangle 36"/>
          <p:cNvSpPr>
            <a:spLocks noChangeArrowheads="1"/>
          </p:cNvSpPr>
          <p:nvPr/>
        </p:nvSpPr>
        <p:spPr bwMode="auto">
          <a:xfrm>
            <a:off x="0" y="0"/>
            <a:ext cx="43891200" cy="4800600"/>
          </a:xfrm>
          <a:prstGeom prst="rect">
            <a:avLst/>
          </a:prstGeom>
          <a:solidFill>
            <a:schemeClr val="accent5">
              <a:lumMod val="75000"/>
            </a:schemeClr>
          </a:solidFill>
          <a:ln w="9525">
            <a:solidFill>
              <a:schemeClr val="tx1"/>
            </a:solidFill>
            <a:miter lim="800000"/>
            <a:headEnd/>
            <a:tailEnd/>
          </a:ln>
          <a:effectLst/>
        </p:spPr>
        <p:txBody>
          <a:bodyPr wrap="none" lIns="91436" tIns="45717" rIns="91436" bIns="45717" anchor="ctr"/>
          <a:lstStyle/>
          <a:p>
            <a:pPr>
              <a:defRPr/>
            </a:pPr>
            <a:endParaRPr lang="en-US" dirty="0"/>
          </a:p>
        </p:txBody>
      </p:sp>
      <p:sp>
        <p:nvSpPr>
          <p:cNvPr id="9" name="Rectangle 9"/>
          <p:cNvSpPr>
            <a:spLocks noChangeArrowheads="1"/>
          </p:cNvSpPr>
          <p:nvPr/>
        </p:nvSpPr>
        <p:spPr bwMode="auto">
          <a:xfrm>
            <a:off x="0" y="4800600"/>
            <a:ext cx="43891200" cy="45719"/>
          </a:xfrm>
          <a:prstGeom prst="rect">
            <a:avLst/>
          </a:prstGeom>
          <a:solidFill>
            <a:schemeClr val="accent5">
              <a:lumMod val="50000"/>
            </a:schemeClr>
          </a:solidFill>
          <a:ln w="152400">
            <a:solidFill>
              <a:schemeClr val="accent5">
                <a:lumMod val="50000"/>
              </a:schemeClr>
            </a:solidFill>
            <a:miter lim="800000"/>
            <a:headEnd/>
            <a:tailEnd/>
          </a:ln>
          <a:effectLst/>
        </p:spPr>
        <p:txBody>
          <a:bodyPr wrap="none" lIns="91436" tIns="45717" rIns="91436" bIns="45717" anchor="ctr"/>
          <a:lstStyle/>
          <a:p>
            <a:pPr>
              <a:defRPr/>
            </a:pPr>
            <a:endParaRPr lang="en-US" dirty="0"/>
          </a:p>
        </p:txBody>
      </p:sp>
      <p:sp>
        <p:nvSpPr>
          <p:cNvPr id="10" name="Text Box 14"/>
          <p:cNvSpPr txBox="1">
            <a:spLocks noChangeArrowheads="1"/>
          </p:cNvSpPr>
          <p:nvPr/>
        </p:nvSpPr>
        <p:spPr bwMode="auto">
          <a:xfrm>
            <a:off x="1567305" y="32315729"/>
            <a:ext cx="2514600" cy="336819"/>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2015</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sp>
        <p:nvSpPr>
          <p:cNvPr id="2" name="Rounded Rectangle 1"/>
          <p:cNvSpPr/>
          <p:nvPr userDrawn="1"/>
        </p:nvSpPr>
        <p:spPr>
          <a:xfrm>
            <a:off x="477824" y="5475145"/>
            <a:ext cx="10058400" cy="26736675"/>
          </a:xfrm>
          <a:prstGeom prst="roundRect">
            <a:avLst>
              <a:gd name="adj" fmla="val 4178"/>
            </a:avLst>
          </a:prstGeom>
          <a:gradFill>
            <a:gsLst>
              <a:gs pos="0">
                <a:srgbClr val="CDD2DE"/>
              </a:gs>
              <a:gs pos="0">
                <a:srgbClr val="CDD2DE"/>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 Rectangle 22"/>
          <p:cNvSpPr/>
          <p:nvPr userDrawn="1"/>
        </p:nvSpPr>
        <p:spPr>
          <a:xfrm>
            <a:off x="11439521" y="5475145"/>
            <a:ext cx="10058400" cy="26736675"/>
          </a:xfrm>
          <a:prstGeom prst="roundRect">
            <a:avLst>
              <a:gd name="adj" fmla="val 4494"/>
            </a:avLst>
          </a:prstGeom>
          <a:gradFill>
            <a:gsLst>
              <a:gs pos="0">
                <a:srgbClr val="CDD2DE"/>
              </a:gs>
              <a:gs pos="0">
                <a:srgbClr val="CDD2DE"/>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ounded Rectangle 23"/>
          <p:cNvSpPr/>
          <p:nvPr userDrawn="1"/>
        </p:nvSpPr>
        <p:spPr>
          <a:xfrm>
            <a:off x="22401218" y="5475145"/>
            <a:ext cx="10058400" cy="26736675"/>
          </a:xfrm>
          <a:prstGeom prst="roundRect">
            <a:avLst>
              <a:gd name="adj" fmla="val 4810"/>
            </a:avLst>
          </a:prstGeom>
          <a:gradFill>
            <a:gsLst>
              <a:gs pos="0">
                <a:srgbClr val="CDD2DE"/>
              </a:gs>
              <a:gs pos="0">
                <a:srgbClr val="CDD2DE"/>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ounded Rectangle 25"/>
          <p:cNvSpPr/>
          <p:nvPr userDrawn="1"/>
        </p:nvSpPr>
        <p:spPr>
          <a:xfrm>
            <a:off x="33362914" y="5475145"/>
            <a:ext cx="10058400" cy="26736675"/>
          </a:xfrm>
          <a:prstGeom prst="roundRect">
            <a:avLst>
              <a:gd name="adj" fmla="val 3863"/>
            </a:avLst>
          </a:prstGeom>
          <a:gradFill>
            <a:gsLst>
              <a:gs pos="0">
                <a:srgbClr val="CDD2DE"/>
              </a:gs>
              <a:gs pos="0">
                <a:srgbClr val="CDD2DE"/>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29"/>
          <p:cNvGrpSpPr/>
          <p:nvPr userDrawn="1"/>
        </p:nvGrpSpPr>
        <p:grpSpPr>
          <a:xfrm>
            <a:off x="-11225189" y="-1"/>
            <a:ext cx="11018865" cy="32918401"/>
            <a:chOff x="-11225189" y="-1"/>
            <a:chExt cx="11018865" cy="32918401"/>
          </a:xfrm>
        </p:grpSpPr>
        <p:sp>
          <p:nvSpPr>
            <p:cNvPr id="31" name="Rectangle 30"/>
            <p:cNvSpPr/>
            <p:nvPr/>
          </p:nvSpPr>
          <p:spPr>
            <a:xfrm>
              <a:off x="-11216136" y="-1"/>
              <a:ext cx="11009812" cy="3291840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marL="0" marR="0" indent="0" algn="ctr" defTabSz="1518341" rtl="0" eaLnBrk="1" fontAlgn="auto" latinLnBrk="0" hangingPunct="1">
                <a:lnSpc>
                  <a:spcPct val="100000"/>
                </a:lnSpc>
                <a:spcBef>
                  <a:spcPts val="0"/>
                </a:spcBef>
                <a:spcAft>
                  <a:spcPts val="0"/>
                </a:spcAft>
                <a:buClrTx/>
                <a:buSzTx/>
                <a:buFontTx/>
                <a:buNone/>
                <a:tabLst/>
                <a:defRPr/>
              </a:pPr>
              <a:r>
                <a:rPr lang="en-US" sz="3200" b="1" spc="0" dirty="0">
                  <a:solidFill>
                    <a:srgbClr val="FF0000"/>
                  </a:solidFill>
                  <a:latin typeface="Trebuchet MS" pitchFamily="34" charset="0"/>
                </a:rPr>
                <a:t>(—THIS SIDEBAR DOES NOT PRINT—)</a:t>
              </a:r>
              <a:endParaRPr lang="en-US" sz="3200" b="1" spc="600" dirty="0">
                <a:solidFill>
                  <a:schemeClr val="bg1"/>
                </a:solidFill>
                <a:latin typeface="Trebuchet MS" pitchFamily="34" charset="0"/>
              </a:endParaRPr>
            </a:p>
            <a:p>
              <a:pPr algn="ctr"/>
              <a:r>
                <a:rPr lang="en-US" sz="4000" b="1" spc="600" dirty="0">
                  <a:solidFill>
                    <a:schemeClr val="bg1"/>
                  </a:solidFill>
                  <a:latin typeface="Trebuchet MS" pitchFamily="34" charset="0"/>
                </a:rPr>
                <a:t>DESIGN</a:t>
              </a:r>
              <a:r>
                <a:rPr lang="en-US" sz="4000" b="1" spc="600" baseline="0" dirty="0">
                  <a:solidFill>
                    <a:schemeClr val="bg1"/>
                  </a:solidFill>
                  <a:latin typeface="Trebuchet MS" pitchFamily="34" charset="0"/>
                </a:rPr>
                <a:t> </a:t>
              </a:r>
              <a:r>
                <a:rPr lang="en-US" sz="4000" b="1" spc="600" dirty="0">
                  <a:solidFill>
                    <a:schemeClr val="bg1"/>
                  </a:solidFill>
                  <a:latin typeface="Trebuchet MS" pitchFamily="34" charset="0"/>
                </a:rPr>
                <a:t>GUIDE</a:t>
              </a:r>
            </a:p>
            <a:p>
              <a:pPr algn="ctr"/>
              <a:endParaRPr lang="en-US" sz="2800" b="1" dirty="0">
                <a:latin typeface="Trebuchet MS" pitchFamily="34" charset="0"/>
              </a:endParaRPr>
            </a:p>
            <a:p>
              <a:pPr defTabSz="3765639"/>
              <a:r>
                <a:rPr lang="en-US" sz="2800" i="0" dirty="0">
                  <a:latin typeface="Trebuchet MS" pitchFamily="34" charset="0"/>
                </a:rPr>
                <a:t>This PowerPoint</a:t>
              </a:r>
              <a:r>
                <a:rPr lang="en-US" sz="2800" i="0" baseline="0" dirty="0">
                  <a:latin typeface="Trebuchet MS" pitchFamily="34" charset="0"/>
                </a:rPr>
                <a:t> </a:t>
              </a:r>
              <a:r>
                <a:rPr lang="en-US" sz="2800" i="0" dirty="0">
                  <a:latin typeface="Trebuchet MS" pitchFamily="34" charset="0"/>
                </a:rPr>
                <a:t>2007 template produces</a:t>
              </a:r>
              <a:r>
                <a:rPr lang="en-US" sz="2800" i="0" baseline="0" dirty="0">
                  <a:latin typeface="Trebuchet MS" pitchFamily="34" charset="0"/>
                </a:rPr>
                <a:t> </a:t>
              </a:r>
              <a:r>
                <a:rPr lang="en-US" sz="2800" i="0" dirty="0">
                  <a:latin typeface="Trebuchet MS" pitchFamily="34" charset="0"/>
                </a:rPr>
                <a:t>a 36”x48” presentation poster. </a:t>
              </a:r>
              <a:r>
                <a:rPr lang="en-US" sz="2800" dirty="0">
                  <a:latin typeface="Trebuchet MS" pitchFamily="34" charset="0"/>
                </a:rPr>
                <a:t>You</a:t>
              </a:r>
              <a:r>
                <a:rPr lang="en-US" sz="2800" baseline="0" dirty="0">
                  <a:latin typeface="Trebuchet MS" pitchFamily="34" charset="0"/>
                </a:rPr>
                <a:t> can u</a:t>
              </a:r>
              <a:r>
                <a:rPr lang="en-US" sz="2800" dirty="0">
                  <a:latin typeface="Trebuchet MS" pitchFamily="34" charset="0"/>
                </a:rPr>
                <a:t>se</a:t>
              </a:r>
              <a:r>
                <a:rPr lang="en-US" sz="2800" baseline="0" dirty="0">
                  <a:latin typeface="Trebuchet MS" pitchFamily="34" charset="0"/>
                </a:rPr>
                <a:t> it to create your research poster and </a:t>
              </a:r>
              <a:r>
                <a:rPr lang="en-US" sz="2800" dirty="0">
                  <a:latin typeface="Trebuchet MS" pitchFamily="34" charset="0"/>
                </a:rPr>
                <a:t>save valuable time placing titles, subtitles,</a:t>
              </a:r>
              <a:r>
                <a:rPr lang="en-US" sz="2800" baseline="0" dirty="0">
                  <a:latin typeface="Trebuchet MS" pitchFamily="34" charset="0"/>
                </a:rPr>
                <a:t> text, and graphics</a:t>
              </a:r>
              <a:r>
                <a:rPr lang="en-US" sz="2800" dirty="0">
                  <a:latin typeface="Trebuchet MS" pitchFamily="34" charset="0"/>
                </a:rPr>
                <a:t>. </a:t>
              </a:r>
            </a:p>
            <a:p>
              <a:pPr defTabSz="3765639"/>
              <a:endParaRPr lang="en-US" sz="2800" dirty="0">
                <a:latin typeface="Trebuchet MS" pitchFamily="34" charset="0"/>
              </a:endParaRPr>
            </a:p>
            <a:p>
              <a:pPr defTabSz="4389219"/>
              <a:r>
                <a:rPr lang="en-US" sz="2800" dirty="0">
                  <a:latin typeface="Trebuchet MS" pitchFamily="34" charset="0"/>
                </a:rPr>
                <a:t>We provide a series of online tutorials that will guide you through the poster design process and answer your poster production questions. To view our template tutorials, go online to </a:t>
              </a:r>
              <a:r>
                <a:rPr lang="en-US" sz="2800" b="1" dirty="0">
                  <a:solidFill>
                    <a:srgbClr val="FFC000"/>
                  </a:solidFill>
                  <a:latin typeface="Trebuchet MS" pitchFamily="34" charset="0"/>
                </a:rPr>
                <a:t>PosterPresentations.com</a:t>
              </a:r>
              <a:r>
                <a:rPr lang="en-US" sz="2800" b="1" dirty="0">
                  <a:solidFill>
                    <a:schemeClr val="bg1"/>
                  </a:solidFill>
                  <a:latin typeface="Trebuchet MS" pitchFamily="34" charset="0"/>
                </a:rPr>
                <a:t> </a:t>
              </a:r>
              <a:r>
                <a:rPr lang="en-US" sz="2800" dirty="0">
                  <a:solidFill>
                    <a:schemeClr val="bg1"/>
                  </a:solidFill>
                  <a:latin typeface="Trebuchet MS" pitchFamily="34" charset="0"/>
                </a:rPr>
                <a:t>and click on HELP DESK.</a:t>
              </a:r>
            </a:p>
            <a:p>
              <a:pPr defTabSz="4389219"/>
              <a:endParaRPr lang="en-US" sz="2800" dirty="0">
                <a:latin typeface="Trebuchet MS" pitchFamily="34" charset="0"/>
              </a:endParaRPr>
            </a:p>
            <a:p>
              <a:pPr defTabSz="4389219"/>
              <a:r>
                <a:rPr lang="en-US" sz="2800" dirty="0">
                  <a:solidFill>
                    <a:schemeClr val="bg1"/>
                  </a:solidFill>
                  <a:latin typeface="Trebuchet MS" pitchFamily="34" charset="0"/>
                </a:rPr>
                <a:t>When</a:t>
              </a:r>
              <a:r>
                <a:rPr lang="en-US" sz="2800" baseline="0" dirty="0">
                  <a:solidFill>
                    <a:schemeClr val="bg1"/>
                  </a:solidFill>
                  <a:latin typeface="Trebuchet MS" pitchFamily="34" charset="0"/>
                </a:rPr>
                <a:t> you are ready to print your poster</a:t>
              </a:r>
              <a:r>
                <a:rPr lang="en-US" sz="2800" dirty="0">
                  <a:solidFill>
                    <a:schemeClr val="bg1"/>
                  </a:solidFill>
                  <a:latin typeface="Trebuchet MS" pitchFamily="34" charset="0"/>
                </a:rPr>
                <a:t>,</a:t>
              </a:r>
              <a:r>
                <a:rPr lang="en-US" sz="2800" baseline="0" dirty="0">
                  <a:solidFill>
                    <a:schemeClr val="bg1"/>
                  </a:solidFill>
                  <a:latin typeface="Trebuchet MS" pitchFamily="34" charset="0"/>
                </a:rPr>
                <a:t> go online to </a:t>
              </a:r>
              <a:r>
                <a:rPr lang="en-US" sz="2800" b="0" dirty="0">
                  <a:solidFill>
                    <a:schemeClr val="bg1"/>
                  </a:solidFill>
                  <a:latin typeface="Trebuchet MS" pitchFamily="34" charset="0"/>
                </a:rPr>
                <a:t>PosterPresentations.com</a:t>
              </a:r>
              <a:br>
                <a:rPr lang="en-US" sz="2800" dirty="0">
                  <a:solidFill>
                    <a:schemeClr val="bg1"/>
                  </a:solidFill>
                  <a:latin typeface="Trebuchet MS" pitchFamily="34" charset="0"/>
                </a:rPr>
              </a:br>
              <a:endParaRPr lang="en-US" sz="2800" dirty="0">
                <a:solidFill>
                  <a:schemeClr val="bg1"/>
                </a:solidFill>
                <a:latin typeface="Trebuchet MS" pitchFamily="34" charset="0"/>
              </a:endParaRPr>
            </a:p>
            <a:p>
              <a:pPr algn="l" defTabSz="3765639"/>
              <a:r>
                <a:rPr lang="en-US" sz="2800" b="0" dirty="0">
                  <a:solidFill>
                    <a:schemeClr val="bg1"/>
                  </a:solidFill>
                  <a:latin typeface="Trebuchet MS" pitchFamily="34" charset="0"/>
                </a:rPr>
                <a:t>Need</a:t>
              </a:r>
              <a:r>
                <a:rPr lang="en-US" sz="2800" b="0" baseline="0" dirty="0">
                  <a:solidFill>
                    <a:schemeClr val="bg1"/>
                  </a:solidFill>
                  <a:latin typeface="Trebuchet MS" pitchFamily="34" charset="0"/>
                </a:rPr>
                <a:t> assistance? Call us at </a:t>
              </a:r>
              <a:r>
                <a:rPr lang="en-US" sz="2800" b="0" dirty="0">
                  <a:solidFill>
                    <a:srgbClr val="FFC000"/>
                  </a:solidFill>
                  <a:latin typeface="Trebuchet MS" pitchFamily="34" charset="0"/>
                </a:rPr>
                <a:t>1.510.649.3001</a:t>
              </a:r>
            </a:p>
            <a:p>
              <a:pPr algn="l" defTabSz="3765639"/>
              <a:endParaRPr lang="en-US" sz="3600" b="1" dirty="0">
                <a:solidFill>
                  <a:srgbClr val="FFFF00"/>
                </a:solidFill>
                <a:latin typeface="Trebuchet MS" pitchFamily="34" charset="0"/>
              </a:endParaRPr>
            </a:p>
            <a:p>
              <a:pPr algn="ctr"/>
              <a:endParaRPr lang="en-US" sz="2400" b="1" dirty="0">
                <a:solidFill>
                  <a:schemeClr val="bg1"/>
                </a:solidFill>
                <a:latin typeface="Trebuchet MS" pitchFamily="34" charset="0"/>
              </a:endParaRPr>
            </a:p>
            <a:p>
              <a:pPr algn="ctr"/>
              <a:r>
                <a:rPr lang="en-US" sz="4000" b="1" spc="600" dirty="0">
                  <a:solidFill>
                    <a:schemeClr val="bg1"/>
                  </a:solidFill>
                  <a:latin typeface="Trebuchet MS" pitchFamily="34" charset="0"/>
                </a:rPr>
                <a:t>QUICK START</a:t>
              </a:r>
            </a:p>
            <a:p>
              <a:pPr algn="ctr"/>
              <a:endParaRPr lang="en-US" sz="3200" b="1"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Zoom in and out</a:t>
              </a:r>
            </a:p>
            <a:p>
              <a:pPr marL="1892300" indent="-1892300" algn="l" defTabSz="850900"/>
              <a:r>
                <a:rPr lang="en-US" sz="2400" b="0" baseline="0" dirty="0">
                  <a:solidFill>
                    <a:schemeClr val="bg1"/>
                  </a:solidFill>
                  <a:latin typeface="Trebuchet MS" pitchFamily="34" charset="0"/>
                </a:rPr>
                <a:t>	</a:t>
              </a:r>
              <a:r>
                <a:rPr lang="en-US" sz="2400" b="0" baseline="0" dirty="0">
                  <a:solidFill>
                    <a:schemeClr val="bg1">
                      <a:lumMod val="75000"/>
                    </a:schemeClr>
                  </a:solidFill>
                  <a:latin typeface="Trebuchet MS" pitchFamily="34" charset="0"/>
                </a:rPr>
                <a:t>As you work on your poster zoom in and out to the level that is more comfortable to you. </a:t>
              </a:r>
            </a:p>
            <a:p>
              <a:pPr marL="1892300" indent="-1892300" algn="l" defTabSz="850900"/>
              <a:r>
                <a:rPr lang="en-US" sz="2400" b="1" baseline="0" dirty="0">
                  <a:solidFill>
                    <a:schemeClr val="bg1">
                      <a:lumMod val="75000"/>
                    </a:schemeClr>
                  </a:solidFill>
                  <a:latin typeface="Trebuchet MS" pitchFamily="34" charset="0"/>
                </a:rPr>
                <a:t>	</a:t>
              </a:r>
              <a:r>
                <a:rPr lang="en-US" sz="2400" b="0" baseline="0" dirty="0">
                  <a:solidFill>
                    <a:schemeClr val="bg1">
                      <a:lumMod val="75000"/>
                    </a:schemeClr>
                  </a:solidFill>
                  <a:latin typeface="Trebuchet MS" pitchFamily="34" charset="0"/>
                </a:rPr>
                <a:t>Go to VIEW &gt; ZOOM.</a:t>
              </a:r>
            </a:p>
            <a:p>
              <a:pPr algn="l"/>
              <a:endParaRPr lang="en-US" sz="2800" b="0"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Title, Authors, and Affiliations</a:t>
              </a:r>
            </a:p>
            <a:p>
              <a:pPr algn="l"/>
              <a:r>
                <a:rPr lang="en-US" sz="2400" b="0" baseline="0" dirty="0">
                  <a:solidFill>
                    <a:schemeClr val="bg1">
                      <a:lumMod val="75000"/>
                    </a:schemeClr>
                  </a:solidFill>
                  <a:latin typeface="Trebuchet MS" pitchFamily="34" charset="0"/>
                </a:rPr>
                <a:t>Start designing your poster by adding the title, the names of the authors, and the affiliated institutions. </a:t>
              </a:r>
              <a:r>
                <a:rPr lang="en-US" sz="2400" b="0" spc="0" baseline="0" dirty="0">
                  <a:solidFill>
                    <a:schemeClr val="bg1">
                      <a:lumMod val="75000"/>
                    </a:schemeClr>
                  </a:solidFill>
                  <a:latin typeface="Trebuchet MS" pitchFamily="34" charset="0"/>
                </a:rPr>
                <a:t>You can type or paste text into the provided boxes. The template will automatically adjust the size of your text to fit the title box. You can manually override this feature and change the size of your text. </a:t>
              </a:r>
            </a:p>
            <a:p>
              <a:pPr algn="l"/>
              <a:endParaRPr lang="en-US" sz="2400" b="0" spc="0" baseline="0" dirty="0">
                <a:solidFill>
                  <a:schemeClr val="bg1">
                    <a:lumMod val="75000"/>
                  </a:schemeClr>
                </a:solidFill>
                <a:latin typeface="Trebuchet MS" pitchFamily="34" charset="0"/>
              </a:endParaRPr>
            </a:p>
            <a:p>
              <a:pPr algn="l"/>
              <a:r>
                <a:rPr lang="en-US" sz="2400" b="1" spc="300" baseline="0" dirty="0">
                  <a:solidFill>
                    <a:srgbClr val="FFC000"/>
                  </a:solidFill>
                  <a:latin typeface="Trebuchet MS" pitchFamily="34" charset="0"/>
                </a:rPr>
                <a:t>TIP</a:t>
              </a:r>
              <a:r>
                <a:rPr lang="en-US" sz="2400" b="1" baseline="0" dirty="0">
                  <a:solidFill>
                    <a:srgbClr val="FFC000"/>
                  </a:solidFill>
                  <a:latin typeface="Trebuchet MS" pitchFamily="34" charset="0"/>
                </a:rPr>
                <a:t>: </a:t>
              </a:r>
              <a:r>
                <a:rPr lang="en-US" sz="2400" b="0" baseline="0" dirty="0">
                  <a:solidFill>
                    <a:schemeClr val="bg1">
                      <a:lumMod val="75000"/>
                    </a:schemeClr>
                  </a:solidFill>
                  <a:latin typeface="Trebuchet MS" pitchFamily="34" charset="0"/>
                </a:rPr>
                <a:t>The font size of your title should be bigger than your name(s) and institution name(s).</a:t>
              </a:r>
            </a:p>
            <a:p>
              <a:pPr algn="l"/>
              <a:br>
                <a:rPr lang="en-US" sz="2800" b="1" baseline="0" dirty="0">
                  <a:solidFill>
                    <a:schemeClr val="bg1"/>
                  </a:solidFill>
                  <a:latin typeface="Trebuchet MS" pitchFamily="34" charset="0"/>
                </a:rPr>
              </a:br>
              <a:endParaRPr lang="en-US" sz="2800" b="1" dirty="0">
                <a:solidFill>
                  <a:schemeClr val="bg1"/>
                </a:solidFill>
                <a:latin typeface="Trebuchet MS" pitchFamily="34" charset="0"/>
              </a:endParaRPr>
            </a:p>
            <a:p>
              <a:pPr algn="ctr"/>
              <a:endParaRPr lang="en-US" sz="2800" b="1" dirty="0">
                <a:solidFill>
                  <a:srgbClr val="FFC000"/>
                </a:solidFill>
                <a:latin typeface="Trebuchet MS" pitchFamily="34" charset="0"/>
              </a:endParaRPr>
            </a:p>
            <a:p>
              <a:pPr algn="ctr"/>
              <a:endParaRPr lang="en-US" sz="2800" b="1" dirty="0">
                <a:solidFill>
                  <a:srgbClr val="FFC000"/>
                </a:solidFill>
                <a:latin typeface="Trebuchet MS" pitchFamily="34" charset="0"/>
              </a:endParaRPr>
            </a:p>
            <a:p>
              <a:pPr algn="ctr"/>
              <a:r>
                <a:rPr lang="en-US" sz="3200" b="1" dirty="0">
                  <a:solidFill>
                    <a:srgbClr val="FFC000"/>
                  </a:solidFill>
                  <a:latin typeface="Trebuchet MS" pitchFamily="34" charset="0"/>
                </a:rPr>
                <a:t>Adding Logos</a:t>
              </a:r>
              <a:r>
                <a:rPr lang="en-US" sz="3200" b="1" baseline="0" dirty="0">
                  <a:solidFill>
                    <a:srgbClr val="FFC000"/>
                  </a:solidFill>
                  <a:latin typeface="Trebuchet MS" pitchFamily="34" charset="0"/>
                </a:rPr>
                <a:t> / Seals</a:t>
              </a:r>
            </a:p>
            <a:p>
              <a:pPr algn="l"/>
              <a:r>
                <a:rPr lang="en-US" sz="2400" b="0" baseline="0" dirty="0">
                  <a:solidFill>
                    <a:schemeClr val="bg1">
                      <a:lumMod val="75000"/>
                    </a:schemeClr>
                  </a:solidFill>
                  <a:latin typeface="Trebuchet MS" pitchFamily="34" charset="0"/>
                </a:rPr>
                <a:t>Most often, logos are added on each side of the title. You can insert a logo by dragging and dropping it from your desktop, copy and paste or by going to INSERT &gt; PICTURES. Logos taken from web sites are likely to be low quality when printed. Zoom it at 100% to see what the logo will look like on the final poster and make any necessary adjustments.  </a:t>
              </a:r>
            </a:p>
            <a:p>
              <a:pPr algn="l"/>
              <a:endParaRPr lang="en-US" sz="2400" b="0" spc="300" baseline="0" dirty="0">
                <a:solidFill>
                  <a:schemeClr val="bg1">
                    <a:lumMod val="75000"/>
                  </a:schemeClr>
                </a:solidFill>
                <a:latin typeface="Trebuchet MS" pitchFamily="34" charset="0"/>
              </a:endParaRPr>
            </a:p>
            <a:p>
              <a:pPr algn="l"/>
              <a:r>
                <a:rPr lang="en-US" sz="2400" b="1" spc="300" baseline="0" dirty="0">
                  <a:solidFill>
                    <a:srgbClr val="FFC000"/>
                  </a:solidFill>
                  <a:latin typeface="Trebuchet MS" pitchFamily="34" charset="0"/>
                </a:rPr>
                <a:t>TIP:</a:t>
              </a:r>
              <a:r>
                <a:rPr lang="en-US" sz="2400" b="1" spc="0" baseline="0" dirty="0">
                  <a:solidFill>
                    <a:srgbClr val="FFC000"/>
                  </a:solidFill>
                  <a:latin typeface="Trebuchet MS" pitchFamily="34" charset="0"/>
                </a:rPr>
                <a:t> </a:t>
              </a:r>
              <a:r>
                <a:rPr lang="en-US" sz="2400" b="0" baseline="0" dirty="0">
                  <a:solidFill>
                    <a:schemeClr val="bg1">
                      <a:lumMod val="75000"/>
                    </a:schemeClr>
                  </a:solidFill>
                  <a:latin typeface="Trebuchet MS" pitchFamily="34" charset="0"/>
                </a:rPr>
                <a:t>See if your school’s logo is available on our free poster templates page.</a:t>
              </a:r>
            </a:p>
            <a:p>
              <a:pPr algn="l"/>
              <a:endParaRPr lang="en-US" sz="2400" b="0" baseline="0" dirty="0">
                <a:latin typeface="Trebuchet MS" pitchFamily="34" charset="0"/>
              </a:endParaRPr>
            </a:p>
            <a:p>
              <a:pPr algn="ctr"/>
              <a:r>
                <a:rPr lang="en-US" sz="3200" b="1" baseline="0" dirty="0">
                  <a:solidFill>
                    <a:srgbClr val="FFC000"/>
                  </a:solidFill>
                  <a:latin typeface="Trebuchet MS" pitchFamily="34" charset="0"/>
                </a:rPr>
                <a:t>Photographs / Graphics</a:t>
              </a:r>
            </a:p>
            <a:p>
              <a:pPr algn="l" defTabSz="977900"/>
              <a:r>
                <a:rPr lang="en-US" sz="2400" b="0" baseline="0" dirty="0">
                  <a:solidFill>
                    <a:schemeClr val="bg1">
                      <a:lumMod val="75000"/>
                    </a:schemeClr>
                  </a:solidFill>
                  <a:latin typeface="Trebuchet MS" pitchFamily="34" charset="0"/>
                </a:rPr>
                <a:t>You can add images by dragging and dropping from your desktop, copy and paste, or by going to INSERT &gt; PICTURES. Resize images proportionally by holding down the SHIFT key and dragging one of the corner handles. For a professional-looking poster, do not distort your images by enlarging them </a:t>
              </a:r>
              <a:r>
                <a:rPr lang="en-US" sz="2400" b="0" spc="0" baseline="0" dirty="0">
                  <a:solidFill>
                    <a:schemeClr val="bg1">
                      <a:lumMod val="75000"/>
                    </a:schemeClr>
                  </a:solidFill>
                  <a:latin typeface="Trebuchet MS" pitchFamily="34" charset="0"/>
                </a:rPr>
                <a:t>disproportionally.</a:t>
              </a:r>
            </a:p>
            <a:p>
              <a:pPr algn="l" defTabSz="977900"/>
              <a:endParaRPr lang="en-US" sz="2400" b="0" baseline="0" dirty="0">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r>
                <a:rPr lang="en-US" sz="3200" b="1" baseline="0" dirty="0">
                  <a:solidFill>
                    <a:srgbClr val="FFC000"/>
                  </a:solidFill>
                  <a:latin typeface="Trebuchet MS" pitchFamily="34" charset="0"/>
                </a:rPr>
                <a:t>Image Quality Check</a:t>
              </a:r>
            </a:p>
            <a:p>
              <a:pPr lvl="0" algn="l" defTabSz="977900"/>
              <a:r>
                <a:rPr lang="en-US" sz="2400" b="0" baseline="0" dirty="0">
                  <a:solidFill>
                    <a:schemeClr val="bg1">
                      <a:lumMod val="75000"/>
                    </a:schemeClr>
                  </a:solidFill>
                  <a:latin typeface="Trebuchet MS" pitchFamily="34" charset="0"/>
                </a:rPr>
                <a:t>Zoom in and look at your images at 100% magnification. If they look good they will print well. </a:t>
              </a:r>
              <a:endParaRPr lang="en-US" sz="2800" b="0" dirty="0">
                <a:latin typeface="Trebuchet MS" pitchFamily="34" charset="0"/>
              </a:endParaRPr>
            </a:p>
          </p:txBody>
        </p:sp>
        <p:cxnSp>
          <p:nvCxnSpPr>
            <p:cNvPr id="32" name="Straight Connector 31"/>
            <p:cNvCxnSpPr/>
            <p:nvPr/>
          </p:nvCxnSpPr>
          <p:spPr>
            <a:xfrm>
              <a:off x="-11225189" y="8422500"/>
              <a:ext cx="10999746" cy="3341"/>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pic>
          <p:nvPicPr>
            <p:cNvPr id="36" name="Picture 35"/>
            <p:cNvPicPr>
              <a:picLocks noChangeAspect="1"/>
            </p:cNvPicPr>
            <p:nvPr userDrawn="1"/>
          </p:nvPicPr>
          <p:blipFill>
            <a:blip r:embed="rId3"/>
            <a:stretch>
              <a:fillRect/>
            </a:stretch>
          </p:blipFill>
          <p:spPr>
            <a:xfrm>
              <a:off x="-10740740" y="10261718"/>
              <a:ext cx="1597666" cy="1201935"/>
            </a:xfrm>
            <a:prstGeom prst="rect">
              <a:avLst/>
            </a:prstGeom>
          </p:spPr>
        </p:pic>
        <p:pic>
          <p:nvPicPr>
            <p:cNvPr id="37" name="Picture 36"/>
            <p:cNvPicPr>
              <a:picLocks noChangeAspect="1"/>
            </p:cNvPicPr>
            <p:nvPr userDrawn="1"/>
          </p:nvPicPr>
          <p:blipFill>
            <a:blip r:embed="rId4"/>
            <a:stretch>
              <a:fillRect/>
            </a:stretch>
          </p:blipFill>
          <p:spPr>
            <a:xfrm>
              <a:off x="-10732765" y="15696927"/>
              <a:ext cx="9986808" cy="1053596"/>
            </a:xfrm>
            <a:prstGeom prst="rect">
              <a:avLst/>
            </a:prstGeom>
          </p:spPr>
        </p:pic>
        <p:grpSp>
          <p:nvGrpSpPr>
            <p:cNvPr id="38" name="Group 37"/>
            <p:cNvGrpSpPr/>
            <p:nvPr userDrawn="1"/>
          </p:nvGrpSpPr>
          <p:grpSpPr>
            <a:xfrm>
              <a:off x="-9744993" y="23540957"/>
              <a:ext cx="7531182" cy="2120439"/>
              <a:chOff x="-4470427" y="11016658"/>
              <a:chExt cx="3470785" cy="974220"/>
            </a:xfrm>
          </p:grpSpPr>
          <p:grpSp>
            <p:nvGrpSpPr>
              <p:cNvPr id="46" name="Group 45"/>
              <p:cNvGrpSpPr/>
              <p:nvPr userDrawn="1"/>
            </p:nvGrpSpPr>
            <p:grpSpPr>
              <a:xfrm>
                <a:off x="-2783495" y="11060886"/>
                <a:ext cx="624431" cy="893535"/>
                <a:chOff x="-3958697" y="11117435"/>
                <a:chExt cx="779338" cy="1280430"/>
              </a:xfrm>
            </p:grpSpPr>
            <p:pic>
              <p:nvPicPr>
                <p:cNvPr id="52" name="Picture 51"/>
                <p:cNvPicPr>
                  <a:picLocks noChangeAspect="1"/>
                </p:cNvPicPr>
                <p:nvPr userDrawn="1"/>
              </p:nvPicPr>
              <p:blipFill>
                <a:blip r:embed="rId5"/>
                <a:stretch>
                  <a:fillRect/>
                </a:stretch>
              </p:blipFill>
              <p:spPr>
                <a:xfrm>
                  <a:off x="-3948160" y="11117435"/>
                  <a:ext cx="768801" cy="1090857"/>
                </a:xfrm>
                <a:prstGeom prst="rect">
                  <a:avLst/>
                </a:prstGeom>
              </p:spPr>
            </p:pic>
            <p:sp>
              <p:nvSpPr>
                <p:cNvPr id="53" name="TextBox 52"/>
                <p:cNvSpPr txBox="1"/>
                <p:nvPr userDrawn="1"/>
              </p:nvSpPr>
              <p:spPr>
                <a:xfrm>
                  <a:off x="-3958697" y="12114178"/>
                  <a:ext cx="779337" cy="283687"/>
                </a:xfrm>
                <a:prstGeom prst="rect">
                  <a:avLst/>
                </a:prstGeom>
                <a:solidFill>
                  <a:schemeClr val="accent1"/>
                </a:solidFill>
                <a:ln>
                  <a:noFill/>
                </a:ln>
              </p:spPr>
              <p:txBody>
                <a:bodyPr wrap="square" lIns="91440" tIns="91440" rIns="91440" bIns="91440" rtlCol="0">
                  <a:spAutoFit/>
                </a:bodyPr>
                <a:lstStyle/>
                <a:p>
                  <a:pPr algn="ctr"/>
                  <a:r>
                    <a:rPr lang="en-US" sz="1600" b="1" dirty="0">
                      <a:solidFill>
                        <a:schemeClr val="tx1"/>
                      </a:solidFill>
                    </a:rPr>
                    <a:t>ORIGINAL</a:t>
                  </a:r>
                </a:p>
              </p:txBody>
            </p:sp>
          </p:grpSp>
          <p:grpSp>
            <p:nvGrpSpPr>
              <p:cNvPr id="47" name="Group 46"/>
              <p:cNvGrpSpPr/>
              <p:nvPr userDrawn="1"/>
            </p:nvGrpSpPr>
            <p:grpSpPr>
              <a:xfrm>
                <a:off x="-2033159" y="11060889"/>
                <a:ext cx="1033517" cy="893529"/>
                <a:chOff x="-2921738" y="11200127"/>
                <a:chExt cx="1420279" cy="1227904"/>
              </a:xfrm>
            </p:grpSpPr>
            <p:pic>
              <p:nvPicPr>
                <p:cNvPr id="50" name="Picture 49"/>
                <p:cNvPicPr>
                  <a:picLocks noChangeAspect="1"/>
                </p:cNvPicPr>
                <p:nvPr userDrawn="1"/>
              </p:nvPicPr>
              <p:blipFill>
                <a:blip r:embed="rId5"/>
                <a:stretch>
                  <a:fillRect/>
                </a:stretch>
              </p:blipFill>
              <p:spPr>
                <a:xfrm>
                  <a:off x="-2921738" y="11200127"/>
                  <a:ext cx="1420279" cy="1029694"/>
                </a:xfrm>
                <a:prstGeom prst="rect">
                  <a:avLst/>
                </a:prstGeom>
              </p:spPr>
            </p:pic>
            <p:sp>
              <p:nvSpPr>
                <p:cNvPr id="51" name="TextBox 50"/>
                <p:cNvSpPr txBox="1"/>
                <p:nvPr userDrawn="1"/>
              </p:nvSpPr>
              <p:spPr>
                <a:xfrm>
                  <a:off x="-2918991" y="12175418"/>
                  <a:ext cx="1417532" cy="252613"/>
                </a:xfrm>
                <a:prstGeom prst="rect">
                  <a:avLst/>
                </a:prstGeom>
                <a:solidFill>
                  <a:srgbClr val="FF0000"/>
                </a:solidFill>
              </p:spPr>
              <p:txBody>
                <a:bodyPr wrap="square" lIns="457200" tIns="91440" rIns="457200" bIns="91440" rtlCol="0">
                  <a:spAutoFit/>
                </a:bodyPr>
                <a:lstStyle/>
                <a:p>
                  <a:pPr algn="ctr"/>
                  <a:r>
                    <a:rPr lang="en-US" sz="1400" b="1" dirty="0">
                      <a:solidFill>
                        <a:schemeClr val="bg1"/>
                      </a:solidFill>
                    </a:rPr>
                    <a:t>DISTORTED</a:t>
                  </a:r>
                  <a:endParaRPr lang="en-US" sz="700" b="1" dirty="0">
                    <a:solidFill>
                      <a:schemeClr val="bg1"/>
                    </a:solidFill>
                  </a:endParaRPr>
                </a:p>
              </p:txBody>
            </p:sp>
          </p:grpSp>
          <p:pic>
            <p:nvPicPr>
              <p:cNvPr id="48" name="Picture 47"/>
              <p:cNvPicPr>
                <a:picLocks noChangeAspect="1"/>
              </p:cNvPicPr>
              <p:nvPr userDrawn="1"/>
            </p:nvPicPr>
            <p:blipFill>
              <a:blip r:embed="rId6"/>
              <a:stretch>
                <a:fillRect/>
              </a:stretch>
            </p:blipFill>
            <p:spPr>
              <a:xfrm>
                <a:off x="-4470427" y="11016658"/>
                <a:ext cx="1098742" cy="847761"/>
              </a:xfrm>
              <a:prstGeom prst="rect">
                <a:avLst/>
              </a:prstGeom>
            </p:spPr>
          </p:pic>
          <p:sp>
            <p:nvSpPr>
              <p:cNvPr id="49" name="TextBox 48"/>
              <p:cNvSpPr txBox="1"/>
              <p:nvPr userDrawn="1"/>
            </p:nvSpPr>
            <p:spPr>
              <a:xfrm>
                <a:off x="-4440600" y="11665645"/>
                <a:ext cx="1035685" cy="325233"/>
              </a:xfrm>
              <a:prstGeom prst="rect">
                <a:avLst/>
              </a:prstGeom>
              <a:noFill/>
            </p:spPr>
            <p:txBody>
              <a:bodyPr wrap="square" lIns="457200" tIns="457200" rIns="457200" bIns="0" rtlCol="0">
                <a:spAutoFit/>
              </a:bodyPr>
              <a:lstStyle/>
              <a:p>
                <a:pPr algn="ctr"/>
                <a:r>
                  <a:rPr lang="en-US" sz="1600" dirty="0">
                    <a:solidFill>
                      <a:schemeClr val="bg1"/>
                    </a:solidFill>
                  </a:rPr>
                  <a:t>Corner</a:t>
                </a:r>
                <a:r>
                  <a:rPr lang="en-US" sz="1600" baseline="0" dirty="0">
                    <a:solidFill>
                      <a:schemeClr val="bg1"/>
                    </a:solidFill>
                  </a:rPr>
                  <a:t> handles</a:t>
                </a:r>
                <a:endParaRPr lang="en-US" sz="1600" dirty="0">
                  <a:solidFill>
                    <a:schemeClr val="bg1"/>
                  </a:solidFill>
                </a:endParaRPr>
              </a:p>
            </p:txBody>
          </p:sp>
        </p:grpSp>
        <p:grpSp>
          <p:nvGrpSpPr>
            <p:cNvPr id="39" name="Group 38"/>
            <p:cNvGrpSpPr/>
            <p:nvPr userDrawn="1"/>
          </p:nvGrpSpPr>
          <p:grpSpPr>
            <a:xfrm>
              <a:off x="-10398793" y="27751410"/>
              <a:ext cx="9323012" cy="2453251"/>
              <a:chOff x="-4754996" y="12734136"/>
              <a:chExt cx="4296559" cy="1127128"/>
            </a:xfrm>
          </p:grpSpPr>
          <p:graphicFrame>
            <p:nvGraphicFramePr>
              <p:cNvPr id="41" name="Object 40"/>
              <p:cNvGraphicFramePr>
                <a:graphicFrameLocks noChangeAspect="1"/>
              </p:cNvGraphicFramePr>
              <p:nvPr userDrawn="1">
                <p:extLst>
                  <p:ext uri="{D42A27DB-BD31-4B8C-83A1-F6EECF244321}">
                    <p14:modId xmlns:p14="http://schemas.microsoft.com/office/powerpoint/2010/main" val="2923600614"/>
                  </p:ext>
                </p:extLst>
              </p:nvPr>
            </p:nvGraphicFramePr>
            <p:xfrm>
              <a:off x="-4533347" y="12734142"/>
              <a:ext cx="1828800" cy="1117600"/>
            </p:xfrm>
            <a:graphic>
              <a:graphicData uri="http://schemas.openxmlformats.org/presentationml/2006/ole">
                <mc:AlternateContent xmlns:mc="http://schemas.openxmlformats.org/markup-compatibility/2006">
                  <mc:Choice xmlns:v="urn:schemas-microsoft-com:vml" Requires="v">
                    <p:oleObj name="Image" r:id="rId7" imgW="1828440" imgH="1117440" progId="Photoshop.Image.13">
                      <p:embed/>
                    </p:oleObj>
                  </mc:Choice>
                  <mc:Fallback>
                    <p:oleObj name="Image" r:id="rId7" imgW="1828440" imgH="1117440" progId="Photoshop.Image.13">
                      <p:embed/>
                      <p:pic>
                        <p:nvPicPr>
                          <p:cNvPr id="0" name=""/>
                          <p:cNvPicPr/>
                          <p:nvPr/>
                        </p:nvPicPr>
                        <p:blipFill>
                          <a:blip r:embed="rId8"/>
                          <a:stretch>
                            <a:fillRect/>
                          </a:stretch>
                        </p:blipFill>
                        <p:spPr>
                          <a:xfrm>
                            <a:off x="-4533347" y="12734142"/>
                            <a:ext cx="1828800" cy="1117600"/>
                          </a:xfrm>
                          <a:prstGeom prst="rect">
                            <a:avLst/>
                          </a:prstGeom>
                        </p:spPr>
                      </p:pic>
                    </p:oleObj>
                  </mc:Fallback>
                </mc:AlternateContent>
              </a:graphicData>
            </a:graphic>
          </p:graphicFrame>
          <p:graphicFrame>
            <p:nvGraphicFramePr>
              <p:cNvPr id="43" name="Object 42"/>
              <p:cNvGraphicFramePr>
                <a:graphicFrameLocks noChangeAspect="1"/>
              </p:cNvGraphicFramePr>
              <p:nvPr userDrawn="1">
                <p:extLst>
                  <p:ext uri="{D42A27DB-BD31-4B8C-83A1-F6EECF244321}">
                    <p14:modId xmlns:p14="http://schemas.microsoft.com/office/powerpoint/2010/main" val="3743875991"/>
                  </p:ext>
                </p:extLst>
              </p:nvPr>
            </p:nvGraphicFramePr>
            <p:xfrm>
              <a:off x="-2456641" y="12737835"/>
              <a:ext cx="1828800" cy="1117600"/>
            </p:xfrm>
            <a:graphic>
              <a:graphicData uri="http://schemas.openxmlformats.org/presentationml/2006/ole">
                <mc:AlternateContent xmlns:mc="http://schemas.openxmlformats.org/markup-compatibility/2006">
                  <mc:Choice xmlns:v="urn:schemas-microsoft-com:vml" Requires="v">
                    <p:oleObj name="Image" r:id="rId9" imgW="1828440" imgH="1117440" progId="Photoshop.Image.13">
                      <p:embed/>
                    </p:oleObj>
                  </mc:Choice>
                  <mc:Fallback>
                    <p:oleObj name="Image" r:id="rId9" imgW="1828440" imgH="1117440" progId="Photoshop.Image.13">
                      <p:embed/>
                      <p:pic>
                        <p:nvPicPr>
                          <p:cNvPr id="0" name=""/>
                          <p:cNvPicPr/>
                          <p:nvPr/>
                        </p:nvPicPr>
                        <p:blipFill>
                          <a:blip r:embed="rId10"/>
                          <a:stretch>
                            <a:fillRect/>
                          </a:stretch>
                        </p:blipFill>
                        <p:spPr>
                          <a:xfrm>
                            <a:off x="-2456641" y="12737835"/>
                            <a:ext cx="1828800" cy="1117600"/>
                          </a:xfrm>
                          <a:prstGeom prst="rect">
                            <a:avLst/>
                          </a:prstGeom>
                        </p:spPr>
                      </p:pic>
                    </p:oleObj>
                  </mc:Fallback>
                </mc:AlternateContent>
              </a:graphicData>
            </a:graphic>
          </p:graphicFrame>
          <p:sp>
            <p:nvSpPr>
              <p:cNvPr id="44" name="TextBox 43"/>
              <p:cNvSpPr txBox="1"/>
              <p:nvPr userDrawn="1"/>
            </p:nvSpPr>
            <p:spPr>
              <a:xfrm rot="16200000">
                <a:off x="-5235785" y="13214925"/>
                <a:ext cx="1117601" cy="156024"/>
              </a:xfrm>
              <a:prstGeom prst="rect">
                <a:avLst/>
              </a:prstGeom>
              <a:noFill/>
            </p:spPr>
            <p:txBody>
              <a:bodyPr wrap="square" lIns="91440" tIns="91440" rIns="91440" bIns="0" rtlCol="0">
                <a:spAutoFit/>
              </a:bodyPr>
              <a:lstStyle/>
              <a:p>
                <a:pPr algn="ctr"/>
                <a:r>
                  <a:rPr lang="en-US" sz="1600" dirty="0">
                    <a:solidFill>
                      <a:srgbClr val="92D050"/>
                    </a:solidFill>
                  </a:rPr>
                  <a:t>Good</a:t>
                </a:r>
                <a:r>
                  <a:rPr lang="en-US" sz="1600" baseline="0" dirty="0">
                    <a:solidFill>
                      <a:srgbClr val="92D050"/>
                    </a:solidFill>
                  </a:rPr>
                  <a:t> </a:t>
                </a:r>
                <a:r>
                  <a:rPr lang="en-US" sz="1600" baseline="0" dirty="0">
                    <a:solidFill>
                      <a:schemeClr val="bg1"/>
                    </a:solidFill>
                  </a:rPr>
                  <a:t>printing quality</a:t>
                </a:r>
                <a:endParaRPr lang="en-US" sz="1600" dirty="0">
                  <a:solidFill>
                    <a:schemeClr val="bg1"/>
                  </a:solidFill>
                </a:endParaRPr>
              </a:p>
            </p:txBody>
          </p:sp>
          <p:sp>
            <p:nvSpPr>
              <p:cNvPr id="45" name="TextBox 44"/>
              <p:cNvSpPr txBox="1"/>
              <p:nvPr userDrawn="1"/>
            </p:nvSpPr>
            <p:spPr>
              <a:xfrm rot="16200000">
                <a:off x="-1095250" y="13224452"/>
                <a:ext cx="1117601" cy="156024"/>
              </a:xfrm>
              <a:prstGeom prst="rect">
                <a:avLst/>
              </a:prstGeom>
              <a:noFill/>
            </p:spPr>
            <p:txBody>
              <a:bodyPr wrap="square" lIns="91440" tIns="91440" rIns="91440" bIns="0" rtlCol="0">
                <a:spAutoFit/>
              </a:bodyPr>
              <a:lstStyle/>
              <a:p>
                <a:pPr algn="ctr"/>
                <a:r>
                  <a:rPr lang="en-US" sz="1600" dirty="0">
                    <a:solidFill>
                      <a:srgbClr val="FF0000"/>
                    </a:solidFill>
                  </a:rPr>
                  <a:t>Bad </a:t>
                </a:r>
                <a:r>
                  <a:rPr lang="en-US" sz="1600" dirty="0">
                    <a:solidFill>
                      <a:schemeClr val="bg1"/>
                    </a:solidFill>
                  </a:rPr>
                  <a:t>printing quality</a:t>
                </a:r>
              </a:p>
            </p:txBody>
          </p:sp>
        </p:grpSp>
      </p:grpSp>
      <p:grpSp>
        <p:nvGrpSpPr>
          <p:cNvPr id="54" name="Group 53"/>
          <p:cNvGrpSpPr/>
          <p:nvPr userDrawn="1"/>
        </p:nvGrpSpPr>
        <p:grpSpPr>
          <a:xfrm>
            <a:off x="44157839" y="-55065"/>
            <a:ext cx="11062139" cy="32973465"/>
            <a:chOff x="44157839" y="-55065"/>
            <a:chExt cx="11062139" cy="32973465"/>
          </a:xfrm>
        </p:grpSpPr>
        <p:sp>
          <p:nvSpPr>
            <p:cNvPr id="55" name="Rectangle 54"/>
            <p:cNvSpPr/>
            <p:nvPr userDrawn="1"/>
          </p:nvSpPr>
          <p:spPr>
            <a:xfrm>
              <a:off x="44157839" y="-55065"/>
              <a:ext cx="11062139" cy="32973465"/>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algn="ctr"/>
              <a:r>
                <a:rPr lang="en-US" sz="4000" b="1" spc="600" dirty="0">
                  <a:solidFill>
                    <a:schemeClr val="bg1"/>
                  </a:solidFill>
                  <a:latin typeface="Trebuchet MS" pitchFamily="34" charset="0"/>
                </a:rPr>
                <a:t>QUICK START (cont.)</a:t>
              </a:r>
            </a:p>
            <a:p>
              <a:pPr algn="ctr"/>
              <a:endParaRPr lang="en-US" sz="3600" b="1"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How to change the template color theme</a:t>
              </a:r>
            </a:p>
            <a:p>
              <a:pPr marL="0" marR="0" lvl="2" indent="0" algn="l" defTabSz="114300" rtl="0" eaLnBrk="1" fontAlgn="auto" latinLnBrk="0" hangingPunct="1">
                <a:lnSpc>
                  <a:spcPct val="100000"/>
                </a:lnSpc>
                <a:spcBef>
                  <a:spcPts val="0"/>
                </a:spcBef>
                <a:spcAft>
                  <a:spcPts val="0"/>
                </a:spcAft>
                <a:buClrTx/>
                <a:buSzTx/>
                <a:buFontTx/>
                <a:buNone/>
                <a:tabLst/>
                <a:defRPr/>
              </a:pPr>
              <a:r>
                <a:rPr lang="en-US" sz="2400" b="0" baseline="0" dirty="0">
                  <a:solidFill>
                    <a:schemeClr val="bg1">
                      <a:lumMod val="75000"/>
                    </a:schemeClr>
                  </a:solidFill>
                  <a:latin typeface="Trebuchet MS" pitchFamily="34" charset="0"/>
                </a:rPr>
                <a:t>You can easily change the color theme of your poster by going to the DESIGN menu, click on COLORS, and choose the color theme of your choice. You can </a:t>
              </a:r>
              <a:r>
                <a:rPr lang="en-US" sz="2400" b="0" spc="0" baseline="0" dirty="0">
                  <a:solidFill>
                    <a:schemeClr val="bg1">
                      <a:lumMod val="75000"/>
                    </a:schemeClr>
                  </a:solidFill>
                  <a:latin typeface="Trebuchet MS" pitchFamily="34" charset="0"/>
                </a:rPr>
                <a:t>also create your own color theme.</a:t>
              </a:r>
            </a:p>
            <a:p>
              <a:pPr marL="0" marR="0" lvl="2" indent="0" algn="l" defTabSz="114300" rtl="0" eaLnBrk="1" fontAlgn="auto" latinLnBrk="0" hangingPunct="1">
                <a:lnSpc>
                  <a:spcPct val="100000"/>
                </a:lnSpc>
                <a:spcBef>
                  <a:spcPts val="0"/>
                </a:spcBef>
                <a:spcAft>
                  <a:spcPts val="0"/>
                </a:spcAft>
                <a:buClrTx/>
                <a:buSzTx/>
                <a:buFontTx/>
                <a:buNone/>
                <a:tabLst/>
                <a:defRPr/>
              </a:pPr>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r>
                <a:rPr lang="en-US" sz="2400" b="0" baseline="0" dirty="0">
                  <a:solidFill>
                    <a:schemeClr val="bg1">
                      <a:lumMod val="75000"/>
                    </a:schemeClr>
                  </a:solidFill>
                  <a:latin typeface="Trebuchet MS" pitchFamily="34" charset="0"/>
                </a:rPr>
                <a:t>You can also manually change the color of your background by going to VIEW &gt; SLIDE MASTER.  After you finish working on the master be sure to go to VIEW &gt; NORMAL to continue working on your poster.</a:t>
              </a:r>
            </a:p>
            <a:p>
              <a:pPr marL="0" indent="0" algn="l" defTabSz="114300"/>
              <a:endParaRPr lang="en-US" sz="2400" b="0" baseline="0" dirty="0">
                <a:solidFill>
                  <a:schemeClr val="bg1">
                    <a:lumMod val="75000"/>
                  </a:schemeClr>
                </a:solidFill>
                <a:latin typeface="Trebuchet MS" pitchFamily="34" charset="0"/>
              </a:endParaRPr>
            </a:p>
            <a:p>
              <a:pPr algn="ctr"/>
              <a:r>
                <a:rPr lang="en-US" sz="3200" b="1" baseline="0" dirty="0">
                  <a:solidFill>
                    <a:srgbClr val="FFC000"/>
                  </a:solidFill>
                  <a:latin typeface="Trebuchet MS" pitchFamily="34" charset="0"/>
                </a:rPr>
                <a:t>How to add Text</a:t>
              </a:r>
            </a:p>
            <a:p>
              <a:pPr marL="3265488" lvl="2" indent="0" algn="l" defTabSz="114300"/>
              <a:r>
                <a:rPr lang="en-US" sz="2400" b="0" baseline="0" dirty="0">
                  <a:solidFill>
                    <a:schemeClr val="bg1">
                      <a:lumMod val="75000"/>
                    </a:schemeClr>
                  </a:solidFill>
                  <a:latin typeface="Trebuchet MS" pitchFamily="34" charset="0"/>
                </a:rPr>
                <a:t>The template comes with a number of pre-formatted placeholders for headers and text blocks. You can add more blocks by copying and pasting the existing ones or by adding a text box from the HOME menu. </a:t>
              </a:r>
            </a:p>
            <a:p>
              <a:pPr marL="1518341" lvl="2" indent="0" algn="l" defTabSz="114300"/>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lang="en-US" sz="2400" b="0" baseline="0" dirty="0">
                  <a:solidFill>
                    <a:schemeClr val="bg1">
                      <a:lumMod val="75000"/>
                    </a:schemeClr>
                  </a:solidFill>
                  <a:latin typeface="Trebuchet MS" pitchFamily="34" charset="0"/>
                </a:rPr>
                <a:t> </a:t>
              </a:r>
              <a:r>
                <a:rPr kumimoji="0" lang="en-US" sz="3200" b="1" i="0" u="none" strike="noStrike" kern="1200" cap="none" spc="0" normalizeH="0" baseline="0" noProof="0" dirty="0">
                  <a:ln>
                    <a:noFill/>
                  </a:ln>
                  <a:solidFill>
                    <a:srgbClr val="FFC000"/>
                  </a:solidFill>
                  <a:effectLst/>
                  <a:uLnTx/>
                  <a:uFillTx/>
                  <a:latin typeface="Trebuchet MS" pitchFamily="34" charset="0"/>
                </a:rPr>
                <a:t>Text size</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Adjust the size of your text based on how much content you have to present. The default template text offers a good starting point. Follow the conference requirements.</a:t>
              </a:r>
              <a:endParaRPr lang="en-US" sz="2400" b="0" baseline="0" dirty="0">
                <a:solidFill>
                  <a:schemeClr val="bg1">
                    <a:lumMod val="75000"/>
                  </a:schemeClr>
                </a:solidFill>
                <a:latin typeface="Trebuchet MS" pitchFamily="34" charset="0"/>
              </a:endParaRPr>
            </a:p>
            <a:p>
              <a:pPr marL="1518341" lvl="2" indent="0" algn="l" defTabSz="114300"/>
              <a:endParaRPr lang="en-US" sz="2400" b="0" baseline="0" dirty="0">
                <a:solidFill>
                  <a:schemeClr val="bg1">
                    <a:lumMod val="75000"/>
                  </a:schemeClr>
                </a:solidFill>
                <a:latin typeface="Trebuchet MS" pitchFamily="34" charset="0"/>
              </a:endParaRPr>
            </a:p>
            <a:p>
              <a:pPr algn="ctr"/>
              <a:r>
                <a:rPr lang="en-US" sz="3200" b="1" baseline="0" dirty="0">
                  <a:solidFill>
                    <a:srgbClr val="FFC000"/>
                  </a:solidFill>
                  <a:latin typeface="Trebuchet MS" pitchFamily="34" charset="0"/>
                </a:rPr>
                <a:t>How to add Tables</a:t>
              </a:r>
            </a:p>
            <a:p>
              <a:pPr marL="1730375" lvl="1" indent="0" algn="l" defTabSz="114300"/>
              <a:r>
                <a:rPr lang="en-US" sz="2400" b="0" baseline="0" dirty="0">
                  <a:solidFill>
                    <a:schemeClr val="bg1">
                      <a:lumMod val="75000"/>
                    </a:schemeClr>
                  </a:solidFill>
                  <a:latin typeface="Trebuchet MS" pitchFamily="34" charset="0"/>
                </a:rPr>
                <a:t>To add a table from scratch go to the INSERT menu and </a:t>
              </a:r>
              <a:br>
                <a:rPr lang="en-US" sz="2400" b="0" baseline="0" dirty="0">
                  <a:solidFill>
                    <a:schemeClr val="bg1">
                      <a:lumMod val="75000"/>
                    </a:schemeClr>
                  </a:solidFill>
                  <a:latin typeface="Trebuchet MS" pitchFamily="34" charset="0"/>
                </a:rPr>
              </a:br>
              <a:r>
                <a:rPr lang="en-US" sz="2400" b="0" baseline="0" dirty="0">
                  <a:solidFill>
                    <a:schemeClr val="bg1">
                      <a:lumMod val="75000"/>
                    </a:schemeClr>
                  </a:solidFill>
                  <a:latin typeface="Trebuchet MS" pitchFamily="34" charset="0"/>
                </a:rPr>
                <a:t>click on TABLE. A drop-down box will help you select rows and columns. </a:t>
              </a:r>
            </a:p>
            <a:p>
              <a:pPr marL="0" lvl="0" indent="0" algn="l" defTabSz="114300"/>
              <a:r>
                <a:rPr lang="en-US" sz="2400" b="0" baseline="0" dirty="0">
                  <a:solidFill>
                    <a:schemeClr val="bg1">
                      <a:lumMod val="75000"/>
                    </a:schemeClr>
                  </a:solidFill>
                  <a:latin typeface="Trebuchet MS" pitchFamily="34" charset="0"/>
                </a:rPr>
                <a:t>You can also copy and a paste a table from Word or another PowerPoint document. A pasted table may need to be re-formatted by RIGHT-CLICK &gt; FORMAT SHAPE, TEXT BOX, Margins.</a:t>
              </a:r>
            </a:p>
            <a:p>
              <a:pPr marL="0" lvl="0" indent="0" algn="l" defTabSz="114300"/>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Graphs / Charts</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You can simply copy and paste charts and graphs from Excel or Word. Some reformatting may be required depending on how the original document has been created.</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How to change the column configuration</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RIGHT-CLICK on the poster background and select LAYOUT to see the column options available for this template. The poster columns can also be customized on the Master. VIEW &gt; MASTER.</a:t>
              </a:r>
            </a:p>
            <a:p>
              <a:pPr marL="0" marR="0" lvl="0" indent="0" algn="ctr" defTabSz="1518341"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srgbClr val="FFC000"/>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How to remove the info bars</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If you are working in PowerPoint for Windows and have finished your poster, save as PDF and the bars will not be included. You can also delete them by going to VIEW &gt; MASTER. On the Mac adjust the Page-Setup to match the Page-Setup in PowerPoint before you create a PDF. You can also delete them from the Slide Master.</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Save your work</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Save your template as a PowerPoint document. For printing, save as PowerPoint or “Print-quality” PDF.</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When you are ready to have your poster printed go online to PosterPresentations.com and click on the “Order Your Poster” button. Choose the poster type the best suits your needs and submit your order. If you submit a PowerPoint document you will be receiving a PDF proof for your approval prior to printing. If your order is placed and paid for before noon, Pacific, Monday through Friday, your order will ship out that same day. Next day, Second day, Third day, and Free Ground services are offered. Go to PosterPresentations.com for more information.</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white">
                    <a:lumMod val="75000"/>
                  </a:prstClr>
                </a:solidFill>
                <a:effectLst/>
                <a:uLnTx/>
                <a:uFillTx/>
                <a:latin typeface="Trebuchet MS" pitchFamily="34" charset="0"/>
              </a:endParaRPr>
            </a:p>
          </p:txBody>
        </p:sp>
        <p:graphicFrame>
          <p:nvGraphicFramePr>
            <p:cNvPr id="56" name="Object 55"/>
            <p:cNvGraphicFramePr>
              <a:graphicFrameLocks noChangeAspect="1"/>
            </p:cNvGraphicFramePr>
            <p:nvPr userDrawn="1">
              <p:extLst>
                <p:ext uri="{D42A27DB-BD31-4B8C-83A1-F6EECF244321}">
                  <p14:modId xmlns:p14="http://schemas.microsoft.com/office/powerpoint/2010/main" val="262704017"/>
                </p:ext>
              </p:extLst>
            </p:nvPr>
          </p:nvGraphicFramePr>
          <p:xfrm>
            <a:off x="46915679" y="3349444"/>
            <a:ext cx="5586150" cy="2063772"/>
          </p:xfrm>
          <a:graphic>
            <a:graphicData uri="http://schemas.openxmlformats.org/presentationml/2006/ole">
              <mc:AlternateContent xmlns:mc="http://schemas.openxmlformats.org/markup-compatibility/2006">
                <mc:Choice xmlns:v="urn:schemas-microsoft-com:vml" Requires="v">
                  <p:oleObj name="Image" r:id="rId11" imgW="4571280" imgH="1688760" progId="Photoshop.Image.13">
                    <p:embed/>
                  </p:oleObj>
                </mc:Choice>
                <mc:Fallback>
                  <p:oleObj name="Image" r:id="rId11" imgW="4571280" imgH="1688760" progId="Photoshop.Image.13">
                    <p:embed/>
                    <p:pic>
                      <p:nvPicPr>
                        <p:cNvPr id="0" name=""/>
                        <p:cNvPicPr/>
                        <p:nvPr/>
                      </p:nvPicPr>
                      <p:blipFill>
                        <a:blip r:embed="rId12"/>
                        <a:stretch>
                          <a:fillRect/>
                        </a:stretch>
                      </p:blipFill>
                      <p:spPr>
                        <a:xfrm>
                          <a:off x="46915679" y="3349444"/>
                          <a:ext cx="5586150" cy="2063772"/>
                        </a:xfrm>
                        <a:prstGeom prst="rect">
                          <a:avLst/>
                        </a:prstGeom>
                      </p:spPr>
                    </p:pic>
                  </p:oleObj>
                </mc:Fallback>
              </mc:AlternateContent>
            </a:graphicData>
          </a:graphic>
        </p:graphicFrame>
        <p:pic>
          <p:nvPicPr>
            <p:cNvPr id="57" name="Picture 56"/>
            <p:cNvPicPr>
              <a:picLocks noChangeAspect="1"/>
            </p:cNvPicPr>
            <p:nvPr userDrawn="1"/>
          </p:nvPicPr>
          <p:blipFill>
            <a:blip r:embed="rId13"/>
            <a:stretch>
              <a:fillRect/>
            </a:stretch>
          </p:blipFill>
          <p:spPr>
            <a:xfrm>
              <a:off x="44621819" y="7740040"/>
              <a:ext cx="2969584" cy="1370577"/>
            </a:xfrm>
            <a:prstGeom prst="rect">
              <a:avLst/>
            </a:prstGeom>
            <a:ln>
              <a:noFill/>
            </a:ln>
          </p:spPr>
        </p:pic>
        <p:graphicFrame>
          <p:nvGraphicFramePr>
            <p:cNvPr id="58" name="Object 57"/>
            <p:cNvGraphicFramePr>
              <a:graphicFrameLocks noChangeAspect="1"/>
            </p:cNvGraphicFramePr>
            <p:nvPr userDrawn="1">
              <p:extLst>
                <p:ext uri="{D42A27DB-BD31-4B8C-83A1-F6EECF244321}">
                  <p14:modId xmlns:p14="http://schemas.microsoft.com/office/powerpoint/2010/main" val="2040245264"/>
                </p:ext>
              </p:extLst>
            </p:nvPr>
          </p:nvGraphicFramePr>
          <p:xfrm>
            <a:off x="44629619" y="12347263"/>
            <a:ext cx="1482266" cy="992162"/>
          </p:xfrm>
          <a:graphic>
            <a:graphicData uri="http://schemas.openxmlformats.org/presentationml/2006/ole">
              <mc:AlternateContent xmlns:mc="http://schemas.openxmlformats.org/markup-compatibility/2006">
                <mc:Choice xmlns:v="urn:schemas-microsoft-com:vml" Requires="v">
                  <p:oleObj name="Image" r:id="rId14" imgW="1574280" imgH="1053720" progId="Photoshop.Image.13">
                    <p:embed/>
                  </p:oleObj>
                </mc:Choice>
                <mc:Fallback>
                  <p:oleObj name="Image" r:id="rId14" imgW="1574280" imgH="1053720" progId="Photoshop.Image.13">
                    <p:embed/>
                    <p:pic>
                      <p:nvPicPr>
                        <p:cNvPr id="0" name=""/>
                        <p:cNvPicPr/>
                        <p:nvPr/>
                      </p:nvPicPr>
                      <p:blipFill>
                        <a:blip r:embed="rId15"/>
                        <a:stretch>
                          <a:fillRect/>
                        </a:stretch>
                      </p:blipFill>
                      <p:spPr>
                        <a:xfrm>
                          <a:off x="44629619" y="12347263"/>
                          <a:ext cx="1482266" cy="992162"/>
                        </a:xfrm>
                        <a:prstGeom prst="rect">
                          <a:avLst/>
                        </a:prstGeom>
                      </p:spPr>
                    </p:pic>
                  </p:oleObj>
                </mc:Fallback>
              </mc:AlternateContent>
            </a:graphicData>
          </a:graphic>
        </p:graphicFrame>
        <p:grpSp>
          <p:nvGrpSpPr>
            <p:cNvPr id="59" name="Group 58"/>
            <p:cNvGrpSpPr/>
            <p:nvPr userDrawn="1"/>
          </p:nvGrpSpPr>
          <p:grpSpPr>
            <a:xfrm>
              <a:off x="44487207" y="29414560"/>
              <a:ext cx="10354213" cy="1265612"/>
              <a:chOff x="44200453" y="28362386"/>
              <a:chExt cx="9771399" cy="1090622"/>
            </a:xfrm>
          </p:grpSpPr>
          <p:sp>
            <p:nvSpPr>
              <p:cNvPr id="61" name="Rounded Rectangle 60"/>
              <p:cNvSpPr/>
              <p:nvPr userDrawn="1"/>
            </p:nvSpPr>
            <p:spPr>
              <a:xfrm>
                <a:off x="44200453" y="28362386"/>
                <a:ext cx="9771398" cy="109062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2" name="Picture 7" descr="http://t2.gstatic.com/images?q=tbn:ANd9GcR4APHC6TT9w54M2zn_pvCiBxUNcspYPoVxirLRphBoJabfSvu7zw">
                <a:hlinkClick r:id="rId16"/>
              </p:cNvPr>
              <p:cNvPicPr>
                <a:picLocks noChangeAspect="1" noChangeArrowheads="1"/>
              </p:cNvPicPr>
              <p:nvPr userDrawn="1"/>
            </p:nvPicPr>
            <p:blipFill>
              <a:blip r:embed="rId17" cstate="print"/>
              <a:srcRect/>
              <a:stretch>
                <a:fillRect/>
              </a:stretch>
            </p:blipFill>
            <p:spPr bwMode="auto">
              <a:xfrm>
                <a:off x="44326393" y="28460718"/>
                <a:ext cx="914401" cy="914399"/>
              </a:xfrm>
              <a:prstGeom prst="rect">
                <a:avLst/>
              </a:prstGeom>
              <a:noFill/>
              <a:ln>
                <a:noFill/>
              </a:ln>
            </p:spPr>
          </p:pic>
          <p:sp>
            <p:nvSpPr>
              <p:cNvPr id="63" name="TextBox 62"/>
              <p:cNvSpPr txBox="1"/>
              <p:nvPr userDrawn="1"/>
            </p:nvSpPr>
            <p:spPr>
              <a:xfrm>
                <a:off x="45300663" y="28552305"/>
                <a:ext cx="8671189" cy="716099"/>
              </a:xfrm>
              <a:prstGeom prst="rect">
                <a:avLst/>
              </a:prstGeom>
              <a:noFill/>
              <a:ln>
                <a:noFill/>
              </a:ln>
            </p:spPr>
            <p:txBody>
              <a:bodyPr wrap="square" rtlCol="0">
                <a:spAutoFit/>
              </a:bodyPr>
              <a:lstStyle/>
              <a:p>
                <a:r>
                  <a:rPr lang="en-US" sz="2400" dirty="0">
                    <a:solidFill>
                      <a:schemeClr val="tx2"/>
                    </a:solidFill>
                    <a:latin typeface="Trebuchet MS" pitchFamily="34" charset="0"/>
                  </a:rPr>
                  <a:t>Student</a:t>
                </a:r>
                <a:r>
                  <a:rPr lang="en-US" sz="2400" baseline="0" dirty="0">
                    <a:solidFill>
                      <a:schemeClr val="tx2"/>
                    </a:solidFill>
                    <a:latin typeface="Trebuchet MS" pitchFamily="34" charset="0"/>
                  </a:rPr>
                  <a:t> discounts are available on our </a:t>
                </a:r>
                <a:r>
                  <a:rPr lang="en-US" sz="2400" baseline="0" dirty="0" err="1">
                    <a:solidFill>
                      <a:schemeClr val="tx2"/>
                    </a:solidFill>
                    <a:latin typeface="Trebuchet MS" pitchFamily="34" charset="0"/>
                  </a:rPr>
                  <a:t>Facebook</a:t>
                </a:r>
                <a:r>
                  <a:rPr lang="en-US" sz="2400" baseline="0" dirty="0">
                    <a:solidFill>
                      <a:schemeClr val="tx2"/>
                    </a:solidFill>
                    <a:latin typeface="Trebuchet MS" pitchFamily="34" charset="0"/>
                  </a:rPr>
                  <a:t> page.</a:t>
                </a:r>
                <a:br>
                  <a:rPr lang="en-US" sz="2400" baseline="0" dirty="0">
                    <a:solidFill>
                      <a:schemeClr val="tx2"/>
                    </a:solidFill>
                    <a:latin typeface="Trebuchet MS" pitchFamily="34" charset="0"/>
                  </a:rPr>
                </a:br>
                <a:r>
                  <a:rPr lang="en-US" sz="2400" baseline="0" dirty="0">
                    <a:solidFill>
                      <a:schemeClr val="tx2"/>
                    </a:solidFill>
                    <a:latin typeface="Trebuchet MS" pitchFamily="34" charset="0"/>
                  </a:rPr>
                  <a:t>Go to </a:t>
                </a:r>
                <a:r>
                  <a:rPr lang="en-US" sz="2400" u="sng" baseline="0" dirty="0">
                    <a:solidFill>
                      <a:schemeClr val="tx2"/>
                    </a:solidFill>
                    <a:latin typeface="Trebuchet MS" pitchFamily="34" charset="0"/>
                  </a:rPr>
                  <a:t>PosterPresentations.com</a:t>
                </a:r>
                <a:r>
                  <a:rPr lang="en-US" sz="2400" baseline="0" dirty="0">
                    <a:solidFill>
                      <a:schemeClr val="tx2"/>
                    </a:solidFill>
                    <a:latin typeface="Trebuchet MS" pitchFamily="34" charset="0"/>
                  </a:rPr>
                  <a:t> and click on the FB icon. </a:t>
                </a:r>
                <a:endParaRPr lang="en-US" sz="2400" dirty="0">
                  <a:solidFill>
                    <a:schemeClr val="tx2"/>
                  </a:solidFill>
                  <a:latin typeface="Trebuchet MS" pitchFamily="34" charset="0"/>
                </a:endParaRPr>
              </a:p>
            </p:txBody>
          </p:sp>
        </p:grpSp>
        <p:sp>
          <p:nvSpPr>
            <p:cNvPr id="60" name="TextBox 59"/>
            <p:cNvSpPr txBox="1"/>
            <p:nvPr userDrawn="1"/>
          </p:nvSpPr>
          <p:spPr>
            <a:xfrm>
              <a:off x="44262808" y="31169782"/>
              <a:ext cx="6870215" cy="1399638"/>
            </a:xfrm>
            <a:prstGeom prst="rect">
              <a:avLst/>
            </a:prstGeom>
            <a:noFill/>
          </p:spPr>
          <p:txBody>
            <a:bodyPr wrap="square" lIns="65304" tIns="32651" rIns="65304" bIns="32651" rtlCol="0">
              <a:spAutoFit/>
            </a:bodyPr>
            <a:lstStyle/>
            <a:p>
              <a:pPr>
                <a:lnSpc>
                  <a:spcPts val="2600"/>
                </a:lnSpc>
              </a:pPr>
              <a:r>
                <a:rPr lang="en-US" sz="2800" dirty="0">
                  <a:solidFill>
                    <a:schemeClr val="bg1"/>
                  </a:solidFill>
                </a:rPr>
                <a:t>© 2015</a:t>
              </a:r>
              <a:r>
                <a:rPr lang="en-US" sz="2800" baseline="0" dirty="0">
                  <a:solidFill>
                    <a:schemeClr val="bg1"/>
                  </a:solidFill>
                </a:rPr>
                <a:t> </a:t>
              </a:r>
              <a:r>
                <a:rPr lang="en-US" sz="2800" dirty="0">
                  <a:solidFill>
                    <a:schemeClr val="bg1"/>
                  </a:solidFill>
                </a:rPr>
                <a:t>PosterPresentations.com</a:t>
              </a:r>
              <a:br>
                <a:rPr lang="en-US" sz="2800" dirty="0">
                  <a:solidFill>
                    <a:schemeClr val="bg1"/>
                  </a:solidFill>
                </a:rPr>
              </a:br>
              <a:r>
                <a:rPr lang="en-US" sz="2800" dirty="0">
                  <a:solidFill>
                    <a:schemeClr val="bg1"/>
                  </a:solidFill>
                </a:rPr>
                <a:t>    </a:t>
              </a:r>
              <a:r>
                <a:rPr lang="en-US" sz="2400" dirty="0">
                  <a:solidFill>
                    <a:schemeClr val="bg1"/>
                  </a:solidFill>
                </a:rPr>
                <a:t>2117 Fourth Street ,</a:t>
              </a:r>
              <a:r>
                <a:rPr lang="en-US" sz="2400" baseline="0" dirty="0">
                  <a:solidFill>
                    <a:schemeClr val="bg1"/>
                  </a:solidFill>
                </a:rPr>
                <a:t> Unit C        </a:t>
              </a:r>
            </a:p>
            <a:p>
              <a:pPr>
                <a:lnSpc>
                  <a:spcPts val="2600"/>
                </a:lnSpc>
              </a:pPr>
              <a:r>
                <a:rPr lang="en-US" sz="2400" baseline="0" dirty="0">
                  <a:solidFill>
                    <a:schemeClr val="bg1"/>
                  </a:solidFill>
                </a:rPr>
                <a:t>     Berkeley CA </a:t>
              </a:r>
              <a:r>
                <a:rPr lang="en-US" sz="2000" baseline="0" dirty="0">
                  <a:solidFill>
                    <a:schemeClr val="bg1"/>
                  </a:solidFill>
                </a:rPr>
                <a:t>94710</a:t>
              </a:r>
              <a:br>
                <a:rPr lang="en-US" sz="2400" baseline="0" dirty="0">
                  <a:solidFill>
                    <a:schemeClr val="bg1"/>
                  </a:solidFill>
                </a:rPr>
              </a:br>
              <a:r>
                <a:rPr lang="en-US" sz="2400" baseline="0" dirty="0">
                  <a:solidFill>
                    <a:schemeClr val="bg1"/>
                  </a:solidFill>
                </a:rPr>
                <a:t>    </a:t>
              </a:r>
              <a:r>
                <a:rPr lang="en-US" sz="2400" b="1" baseline="0" dirty="0">
                  <a:solidFill>
                    <a:srgbClr val="FFFF00"/>
                  </a:solidFill>
                </a:rPr>
                <a:t>posterpresenter@gmail.com</a:t>
              </a:r>
              <a:endParaRPr lang="en-US" sz="2800" b="1" dirty="0">
                <a:solidFill>
                  <a:srgbClr val="FFFF00"/>
                </a:solidFill>
              </a:endParaRPr>
            </a:p>
          </p:txBody>
        </p:sp>
      </p:grpSp>
    </p:spTree>
  </p:cSld>
  <p:clrMap bg1="lt1" tx1="dk1" bg2="lt2" tx2="dk2" accent1="accent1" accent2="accent2" accent3="accent3" accent4="accent4" accent5="accent5" accent6="accent6" hlink="hlink" folHlink="folHlink"/>
  <p:sldLayoutIdLst>
    <p:sldLayoutId id="2147483652"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5">
                <a:lumMod val="50000"/>
              </a:schemeClr>
            </a:gs>
            <a:gs pos="34000">
              <a:schemeClr val="tx2">
                <a:lumMod val="40000"/>
                <a:lumOff val="60000"/>
              </a:schemeClr>
            </a:gs>
            <a:gs pos="100000">
              <a:schemeClr val="accent5">
                <a:lumMod val="20000"/>
                <a:lumOff val="80000"/>
              </a:schemeClr>
            </a:gs>
          </a:gsLst>
          <a:lin ang="16200000" scaled="1"/>
          <a:tileRect/>
        </a:gradFill>
        <a:effectLst/>
      </p:bgPr>
    </p:bg>
    <p:spTree>
      <p:nvGrpSpPr>
        <p:cNvPr id="1" name=""/>
        <p:cNvGrpSpPr/>
        <p:nvPr/>
      </p:nvGrpSpPr>
      <p:grpSpPr>
        <a:xfrm>
          <a:off x="0" y="0"/>
          <a:ext cx="0" cy="0"/>
          <a:chOff x="0" y="0"/>
          <a:chExt cx="0" cy="0"/>
        </a:xfrm>
      </p:grpSpPr>
      <p:sp>
        <p:nvSpPr>
          <p:cNvPr id="7" name="Rectangle 36"/>
          <p:cNvSpPr>
            <a:spLocks noChangeArrowheads="1"/>
          </p:cNvSpPr>
          <p:nvPr/>
        </p:nvSpPr>
        <p:spPr bwMode="auto">
          <a:xfrm>
            <a:off x="0" y="0"/>
            <a:ext cx="43891200" cy="4800600"/>
          </a:xfrm>
          <a:prstGeom prst="rect">
            <a:avLst/>
          </a:prstGeom>
          <a:solidFill>
            <a:schemeClr val="accent5">
              <a:lumMod val="75000"/>
            </a:schemeClr>
          </a:solidFill>
          <a:ln w="9525">
            <a:solidFill>
              <a:schemeClr val="tx1"/>
            </a:solidFill>
            <a:miter lim="800000"/>
            <a:headEnd/>
            <a:tailEnd/>
          </a:ln>
          <a:effectLst/>
        </p:spPr>
        <p:txBody>
          <a:bodyPr wrap="none" lIns="91436" tIns="45717" rIns="91436" bIns="45717" anchor="ctr"/>
          <a:lstStyle/>
          <a:p>
            <a:pPr>
              <a:defRPr/>
            </a:pPr>
            <a:endParaRPr lang="en-US" dirty="0"/>
          </a:p>
        </p:txBody>
      </p:sp>
      <p:sp>
        <p:nvSpPr>
          <p:cNvPr id="9" name="Rectangle 9"/>
          <p:cNvSpPr>
            <a:spLocks noChangeArrowheads="1"/>
          </p:cNvSpPr>
          <p:nvPr/>
        </p:nvSpPr>
        <p:spPr bwMode="auto">
          <a:xfrm>
            <a:off x="0" y="4805363"/>
            <a:ext cx="43891200" cy="152400"/>
          </a:xfrm>
          <a:prstGeom prst="rect">
            <a:avLst/>
          </a:prstGeom>
          <a:solidFill>
            <a:schemeClr val="accent5">
              <a:lumMod val="50000"/>
            </a:schemeClr>
          </a:solidFill>
          <a:ln w="152400">
            <a:noFill/>
            <a:miter lim="800000"/>
            <a:headEnd/>
            <a:tailEnd/>
          </a:ln>
          <a:effectLst/>
        </p:spPr>
        <p:txBody>
          <a:bodyPr wrap="none" lIns="91436" tIns="45717" rIns="91436" bIns="45717" anchor="ctr"/>
          <a:lstStyle/>
          <a:p>
            <a:pPr>
              <a:defRPr/>
            </a:pPr>
            <a:endParaRPr lang="en-US" dirty="0"/>
          </a:p>
        </p:txBody>
      </p:sp>
      <p:cxnSp>
        <p:nvCxnSpPr>
          <p:cNvPr id="38" name="Straight Connector 37"/>
          <p:cNvCxnSpPr/>
          <p:nvPr/>
        </p:nvCxnSpPr>
        <p:spPr>
          <a:xfrm flipV="1">
            <a:off x="-13946601" y="11526118"/>
            <a:ext cx="13577436" cy="818"/>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21" name="Rounded Rectangle 20"/>
          <p:cNvSpPr/>
          <p:nvPr userDrawn="1"/>
        </p:nvSpPr>
        <p:spPr>
          <a:xfrm>
            <a:off x="922338" y="5392017"/>
            <a:ext cx="13577436" cy="26736675"/>
          </a:xfrm>
          <a:prstGeom prst="roundRect">
            <a:avLst>
              <a:gd name="adj" fmla="val 3290"/>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ounded Rectangle 21"/>
          <p:cNvSpPr/>
          <p:nvPr userDrawn="1"/>
        </p:nvSpPr>
        <p:spPr>
          <a:xfrm>
            <a:off x="15154504" y="5392017"/>
            <a:ext cx="13577436" cy="26736675"/>
          </a:xfrm>
          <a:prstGeom prst="roundRect">
            <a:avLst>
              <a:gd name="adj" fmla="val 3524"/>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 Rectangle 22"/>
          <p:cNvSpPr/>
          <p:nvPr userDrawn="1"/>
        </p:nvSpPr>
        <p:spPr>
          <a:xfrm>
            <a:off x="29386670" y="5392017"/>
            <a:ext cx="13577436" cy="26736675"/>
          </a:xfrm>
          <a:prstGeom prst="roundRect">
            <a:avLst>
              <a:gd name="adj" fmla="val 3290"/>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4" name="Group 43"/>
          <p:cNvGrpSpPr/>
          <p:nvPr userDrawn="1"/>
        </p:nvGrpSpPr>
        <p:grpSpPr>
          <a:xfrm>
            <a:off x="44157839" y="-55065"/>
            <a:ext cx="11062139" cy="32973465"/>
            <a:chOff x="44157839" y="-55065"/>
            <a:chExt cx="11062139" cy="32973465"/>
          </a:xfrm>
        </p:grpSpPr>
        <p:sp>
          <p:nvSpPr>
            <p:cNvPr id="45" name="Rectangle 44"/>
            <p:cNvSpPr/>
            <p:nvPr userDrawn="1"/>
          </p:nvSpPr>
          <p:spPr>
            <a:xfrm>
              <a:off x="44157839" y="-55065"/>
              <a:ext cx="11062139" cy="32973465"/>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algn="ctr"/>
              <a:r>
                <a:rPr lang="en-US" sz="4000" b="1" spc="600" dirty="0">
                  <a:solidFill>
                    <a:schemeClr val="bg1"/>
                  </a:solidFill>
                  <a:latin typeface="Trebuchet MS" pitchFamily="34" charset="0"/>
                </a:rPr>
                <a:t>QUICK START (cont.)</a:t>
              </a:r>
            </a:p>
            <a:p>
              <a:pPr algn="ctr"/>
              <a:endParaRPr lang="en-US" sz="3600" b="1"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How to change the template color theme</a:t>
              </a:r>
            </a:p>
            <a:p>
              <a:pPr marL="0" marR="0" lvl="2" indent="0" algn="l" defTabSz="114300" rtl="0" eaLnBrk="1" fontAlgn="auto" latinLnBrk="0" hangingPunct="1">
                <a:lnSpc>
                  <a:spcPct val="100000"/>
                </a:lnSpc>
                <a:spcBef>
                  <a:spcPts val="0"/>
                </a:spcBef>
                <a:spcAft>
                  <a:spcPts val="0"/>
                </a:spcAft>
                <a:buClrTx/>
                <a:buSzTx/>
                <a:buFontTx/>
                <a:buNone/>
                <a:tabLst/>
                <a:defRPr/>
              </a:pPr>
              <a:r>
                <a:rPr lang="en-US" sz="2400" b="0" baseline="0" dirty="0">
                  <a:solidFill>
                    <a:schemeClr val="bg1">
                      <a:lumMod val="75000"/>
                    </a:schemeClr>
                  </a:solidFill>
                  <a:latin typeface="Trebuchet MS" pitchFamily="34" charset="0"/>
                </a:rPr>
                <a:t>You can easily change the color theme of your poster by going to the DESIGN menu, click on COLORS, and choose the color theme of your choice. You can </a:t>
              </a:r>
              <a:r>
                <a:rPr lang="en-US" sz="2400" b="0" spc="0" baseline="0" dirty="0">
                  <a:solidFill>
                    <a:schemeClr val="bg1">
                      <a:lumMod val="75000"/>
                    </a:schemeClr>
                  </a:solidFill>
                  <a:latin typeface="Trebuchet MS" pitchFamily="34" charset="0"/>
                </a:rPr>
                <a:t>also create your own color theme.</a:t>
              </a:r>
            </a:p>
            <a:p>
              <a:pPr marL="0" marR="0" lvl="2" indent="0" algn="l" defTabSz="114300" rtl="0" eaLnBrk="1" fontAlgn="auto" latinLnBrk="0" hangingPunct="1">
                <a:lnSpc>
                  <a:spcPct val="100000"/>
                </a:lnSpc>
                <a:spcBef>
                  <a:spcPts val="0"/>
                </a:spcBef>
                <a:spcAft>
                  <a:spcPts val="0"/>
                </a:spcAft>
                <a:buClrTx/>
                <a:buSzTx/>
                <a:buFontTx/>
                <a:buNone/>
                <a:tabLst/>
                <a:defRPr/>
              </a:pPr>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r>
                <a:rPr lang="en-US" sz="2400" b="0" baseline="0" dirty="0">
                  <a:solidFill>
                    <a:schemeClr val="bg1">
                      <a:lumMod val="75000"/>
                    </a:schemeClr>
                  </a:solidFill>
                  <a:latin typeface="Trebuchet MS" pitchFamily="34" charset="0"/>
                </a:rPr>
                <a:t>You can also manually change the color of your background by going to VIEW &gt; SLIDE MASTER.  After you finish working on the master be sure to go to VIEW &gt; NORMAL to continue working on your poster.</a:t>
              </a:r>
            </a:p>
            <a:p>
              <a:pPr marL="0" indent="0" algn="l" defTabSz="114300"/>
              <a:endParaRPr lang="en-US" sz="2400" b="0" baseline="0" dirty="0">
                <a:solidFill>
                  <a:schemeClr val="bg1">
                    <a:lumMod val="75000"/>
                  </a:schemeClr>
                </a:solidFill>
                <a:latin typeface="Trebuchet MS" pitchFamily="34" charset="0"/>
              </a:endParaRPr>
            </a:p>
            <a:p>
              <a:pPr algn="ctr"/>
              <a:r>
                <a:rPr lang="en-US" sz="3200" b="1" baseline="0" dirty="0">
                  <a:solidFill>
                    <a:srgbClr val="FFC000"/>
                  </a:solidFill>
                  <a:latin typeface="Trebuchet MS" pitchFamily="34" charset="0"/>
                </a:rPr>
                <a:t>How to add Text</a:t>
              </a:r>
            </a:p>
            <a:p>
              <a:pPr marL="3265488" lvl="2" indent="0" algn="l" defTabSz="114300"/>
              <a:r>
                <a:rPr lang="en-US" sz="2400" b="0" baseline="0" dirty="0">
                  <a:solidFill>
                    <a:schemeClr val="bg1">
                      <a:lumMod val="75000"/>
                    </a:schemeClr>
                  </a:solidFill>
                  <a:latin typeface="Trebuchet MS" pitchFamily="34" charset="0"/>
                </a:rPr>
                <a:t>The template comes with a number of pre-formatted placeholders for headers and text blocks. You can add more blocks by copying and pasting the existing ones or by adding a text box from the HOME menu. </a:t>
              </a:r>
            </a:p>
            <a:p>
              <a:pPr marL="1518341" lvl="2" indent="0" algn="l" defTabSz="114300"/>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lang="en-US" sz="2400" b="0" baseline="0" dirty="0">
                  <a:solidFill>
                    <a:schemeClr val="bg1">
                      <a:lumMod val="75000"/>
                    </a:schemeClr>
                  </a:solidFill>
                  <a:latin typeface="Trebuchet MS" pitchFamily="34" charset="0"/>
                </a:rPr>
                <a:t> </a:t>
              </a:r>
              <a:r>
                <a:rPr kumimoji="0" lang="en-US" sz="3200" b="1" i="0" u="none" strike="noStrike" kern="1200" cap="none" spc="0" normalizeH="0" baseline="0" noProof="0" dirty="0">
                  <a:ln>
                    <a:noFill/>
                  </a:ln>
                  <a:solidFill>
                    <a:srgbClr val="FFC000"/>
                  </a:solidFill>
                  <a:effectLst/>
                  <a:uLnTx/>
                  <a:uFillTx/>
                  <a:latin typeface="Trebuchet MS" pitchFamily="34" charset="0"/>
                </a:rPr>
                <a:t>Text size</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Adjust the size of your text based on how much content you have to present. The default template text offers a good starting point. Follow the conference requirements.</a:t>
              </a:r>
              <a:endParaRPr lang="en-US" sz="2400" b="0" baseline="0" dirty="0">
                <a:solidFill>
                  <a:schemeClr val="bg1">
                    <a:lumMod val="75000"/>
                  </a:schemeClr>
                </a:solidFill>
                <a:latin typeface="Trebuchet MS" pitchFamily="34" charset="0"/>
              </a:endParaRPr>
            </a:p>
            <a:p>
              <a:pPr marL="1518341" lvl="2" indent="0" algn="l" defTabSz="114300"/>
              <a:endParaRPr lang="en-US" sz="2400" b="0" baseline="0" dirty="0">
                <a:solidFill>
                  <a:schemeClr val="bg1">
                    <a:lumMod val="75000"/>
                  </a:schemeClr>
                </a:solidFill>
                <a:latin typeface="Trebuchet MS" pitchFamily="34" charset="0"/>
              </a:endParaRPr>
            </a:p>
            <a:p>
              <a:pPr algn="ctr"/>
              <a:r>
                <a:rPr lang="en-US" sz="3200" b="1" baseline="0" dirty="0">
                  <a:solidFill>
                    <a:srgbClr val="FFC000"/>
                  </a:solidFill>
                  <a:latin typeface="Trebuchet MS" pitchFamily="34" charset="0"/>
                </a:rPr>
                <a:t>How to add Tables</a:t>
              </a:r>
            </a:p>
            <a:p>
              <a:pPr marL="1730375" lvl="1" indent="0" algn="l" defTabSz="114300"/>
              <a:r>
                <a:rPr lang="en-US" sz="2400" b="0" baseline="0" dirty="0">
                  <a:solidFill>
                    <a:schemeClr val="bg1">
                      <a:lumMod val="75000"/>
                    </a:schemeClr>
                  </a:solidFill>
                  <a:latin typeface="Trebuchet MS" pitchFamily="34" charset="0"/>
                </a:rPr>
                <a:t>To add a table from scratch go to the INSERT menu and </a:t>
              </a:r>
              <a:br>
                <a:rPr lang="en-US" sz="2400" b="0" baseline="0" dirty="0">
                  <a:solidFill>
                    <a:schemeClr val="bg1">
                      <a:lumMod val="75000"/>
                    </a:schemeClr>
                  </a:solidFill>
                  <a:latin typeface="Trebuchet MS" pitchFamily="34" charset="0"/>
                </a:rPr>
              </a:br>
              <a:r>
                <a:rPr lang="en-US" sz="2400" b="0" baseline="0" dirty="0">
                  <a:solidFill>
                    <a:schemeClr val="bg1">
                      <a:lumMod val="75000"/>
                    </a:schemeClr>
                  </a:solidFill>
                  <a:latin typeface="Trebuchet MS" pitchFamily="34" charset="0"/>
                </a:rPr>
                <a:t>click on TABLE. A drop-down box will help you select rows and columns. </a:t>
              </a:r>
            </a:p>
            <a:p>
              <a:pPr marL="0" lvl="0" indent="0" algn="l" defTabSz="114300"/>
              <a:r>
                <a:rPr lang="en-US" sz="2400" b="0" baseline="0" dirty="0">
                  <a:solidFill>
                    <a:schemeClr val="bg1">
                      <a:lumMod val="75000"/>
                    </a:schemeClr>
                  </a:solidFill>
                  <a:latin typeface="Trebuchet MS" pitchFamily="34" charset="0"/>
                </a:rPr>
                <a:t>You can also copy and a paste a table from Word or another PowerPoint document. A pasted table may need to be re-formatted by RIGHT-CLICK &gt; FORMAT SHAPE, TEXT BOX, Margins.</a:t>
              </a:r>
            </a:p>
            <a:p>
              <a:pPr marL="0" lvl="0" indent="0" algn="l" defTabSz="114300"/>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Graphs / Charts</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You can simply copy and paste charts and graphs from Excel or Word. Some reformatting may be required depending on how the original document has been created.</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How to change the column configuration</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RIGHT-CLICK on the poster background and select LAYOUT to see the column options available for this template. The poster columns can also be customized on the Master. VIEW &gt; MASTER.</a:t>
              </a:r>
            </a:p>
            <a:p>
              <a:pPr marL="0" marR="0" lvl="0" indent="0" algn="ctr" defTabSz="1518341"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srgbClr val="FFC000"/>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How to remove the info bars</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If you are working in PowerPoint for Windows and have finished your poster, save as PDF and the bars will not be included. You can also delete them by going to VIEW &gt; MASTER. On the Mac adjust the Page-Setup to match the Page-Setup in PowerPoint before you create a PDF. You can also delete them from the Slide Master.</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Save your work</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Save your template as a PowerPoint document. For printing, save as PowerPoint or “Print-quality” PDF.</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When you are ready to have your poster printed go online to PosterPresentations.com and click on the “Order Your Poster” button. Choose the poster type the best suits your needs and submit your order. If you submit a PowerPoint document you will be receiving a PDF proof for your approval prior to printing. If your order is placed and paid for before noon, Pacific, Monday through Friday, your order will ship out that same day. Next day, Second day, Third day, and Free Ground services are offered. Go to PosterPresentations.com for more information.</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white">
                    <a:lumMod val="75000"/>
                  </a:prstClr>
                </a:solidFill>
                <a:effectLst/>
                <a:uLnTx/>
                <a:uFillTx/>
                <a:latin typeface="Trebuchet MS" pitchFamily="34" charset="0"/>
              </a:endParaRPr>
            </a:p>
          </p:txBody>
        </p:sp>
        <p:graphicFrame>
          <p:nvGraphicFramePr>
            <p:cNvPr id="46" name="Object 45"/>
            <p:cNvGraphicFramePr>
              <a:graphicFrameLocks noChangeAspect="1"/>
            </p:cNvGraphicFramePr>
            <p:nvPr userDrawn="1">
              <p:extLst>
                <p:ext uri="{D42A27DB-BD31-4B8C-83A1-F6EECF244321}">
                  <p14:modId xmlns:p14="http://schemas.microsoft.com/office/powerpoint/2010/main" val="262704017"/>
                </p:ext>
              </p:extLst>
            </p:nvPr>
          </p:nvGraphicFramePr>
          <p:xfrm>
            <a:off x="46915679" y="3349444"/>
            <a:ext cx="5586150" cy="2063772"/>
          </p:xfrm>
          <a:graphic>
            <a:graphicData uri="http://schemas.openxmlformats.org/presentationml/2006/ole">
              <mc:AlternateContent xmlns:mc="http://schemas.openxmlformats.org/markup-compatibility/2006">
                <mc:Choice xmlns:v="urn:schemas-microsoft-com:vml" Requires="v">
                  <p:oleObj name="Image" r:id="rId3" imgW="4571280" imgH="1688760" progId="Photoshop.Image.13">
                    <p:embed/>
                  </p:oleObj>
                </mc:Choice>
                <mc:Fallback>
                  <p:oleObj name="Image" r:id="rId3" imgW="4571280" imgH="1688760" progId="Photoshop.Image.13">
                    <p:embed/>
                    <p:pic>
                      <p:nvPicPr>
                        <p:cNvPr id="0" name=""/>
                        <p:cNvPicPr/>
                        <p:nvPr/>
                      </p:nvPicPr>
                      <p:blipFill>
                        <a:blip r:embed="rId4"/>
                        <a:stretch>
                          <a:fillRect/>
                        </a:stretch>
                      </p:blipFill>
                      <p:spPr>
                        <a:xfrm>
                          <a:off x="46915679" y="3349444"/>
                          <a:ext cx="5586150" cy="2063772"/>
                        </a:xfrm>
                        <a:prstGeom prst="rect">
                          <a:avLst/>
                        </a:prstGeom>
                      </p:spPr>
                    </p:pic>
                  </p:oleObj>
                </mc:Fallback>
              </mc:AlternateContent>
            </a:graphicData>
          </a:graphic>
        </p:graphicFrame>
        <p:pic>
          <p:nvPicPr>
            <p:cNvPr id="47" name="Picture 46"/>
            <p:cNvPicPr>
              <a:picLocks noChangeAspect="1"/>
            </p:cNvPicPr>
            <p:nvPr userDrawn="1"/>
          </p:nvPicPr>
          <p:blipFill>
            <a:blip r:embed="rId5"/>
            <a:stretch>
              <a:fillRect/>
            </a:stretch>
          </p:blipFill>
          <p:spPr>
            <a:xfrm>
              <a:off x="44621819" y="7740040"/>
              <a:ext cx="2969584" cy="1370577"/>
            </a:xfrm>
            <a:prstGeom prst="rect">
              <a:avLst/>
            </a:prstGeom>
            <a:ln>
              <a:noFill/>
            </a:ln>
          </p:spPr>
        </p:pic>
        <p:graphicFrame>
          <p:nvGraphicFramePr>
            <p:cNvPr id="48" name="Object 47"/>
            <p:cNvGraphicFramePr>
              <a:graphicFrameLocks noChangeAspect="1"/>
            </p:cNvGraphicFramePr>
            <p:nvPr userDrawn="1">
              <p:extLst>
                <p:ext uri="{D42A27DB-BD31-4B8C-83A1-F6EECF244321}">
                  <p14:modId xmlns:p14="http://schemas.microsoft.com/office/powerpoint/2010/main" val="2040245264"/>
                </p:ext>
              </p:extLst>
            </p:nvPr>
          </p:nvGraphicFramePr>
          <p:xfrm>
            <a:off x="44629619" y="12347263"/>
            <a:ext cx="1482266" cy="992162"/>
          </p:xfrm>
          <a:graphic>
            <a:graphicData uri="http://schemas.openxmlformats.org/presentationml/2006/ole">
              <mc:AlternateContent xmlns:mc="http://schemas.openxmlformats.org/markup-compatibility/2006">
                <mc:Choice xmlns:v="urn:schemas-microsoft-com:vml" Requires="v">
                  <p:oleObj name="Image" r:id="rId6" imgW="1574280" imgH="1053720" progId="Photoshop.Image.13">
                    <p:embed/>
                  </p:oleObj>
                </mc:Choice>
                <mc:Fallback>
                  <p:oleObj name="Image" r:id="rId6" imgW="1574280" imgH="1053720" progId="Photoshop.Image.13">
                    <p:embed/>
                    <p:pic>
                      <p:nvPicPr>
                        <p:cNvPr id="0" name=""/>
                        <p:cNvPicPr/>
                        <p:nvPr/>
                      </p:nvPicPr>
                      <p:blipFill>
                        <a:blip r:embed="rId7"/>
                        <a:stretch>
                          <a:fillRect/>
                        </a:stretch>
                      </p:blipFill>
                      <p:spPr>
                        <a:xfrm>
                          <a:off x="44629619" y="12347263"/>
                          <a:ext cx="1482266" cy="992162"/>
                        </a:xfrm>
                        <a:prstGeom prst="rect">
                          <a:avLst/>
                        </a:prstGeom>
                      </p:spPr>
                    </p:pic>
                  </p:oleObj>
                </mc:Fallback>
              </mc:AlternateContent>
            </a:graphicData>
          </a:graphic>
        </p:graphicFrame>
        <p:grpSp>
          <p:nvGrpSpPr>
            <p:cNvPr id="49" name="Group 48"/>
            <p:cNvGrpSpPr/>
            <p:nvPr userDrawn="1"/>
          </p:nvGrpSpPr>
          <p:grpSpPr>
            <a:xfrm>
              <a:off x="44487207" y="29414560"/>
              <a:ext cx="10354213" cy="1265612"/>
              <a:chOff x="44200453" y="28362386"/>
              <a:chExt cx="9771399" cy="1090622"/>
            </a:xfrm>
          </p:grpSpPr>
          <p:sp>
            <p:nvSpPr>
              <p:cNvPr id="51" name="Rounded Rectangle 50"/>
              <p:cNvSpPr/>
              <p:nvPr userDrawn="1"/>
            </p:nvSpPr>
            <p:spPr>
              <a:xfrm>
                <a:off x="44200453" y="28362386"/>
                <a:ext cx="9771398" cy="109062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2" name="Picture 7" descr="http://t2.gstatic.com/images?q=tbn:ANd9GcR4APHC6TT9w54M2zn_pvCiBxUNcspYPoVxirLRphBoJabfSvu7zw">
                <a:hlinkClick r:id="rId8"/>
              </p:cNvPr>
              <p:cNvPicPr>
                <a:picLocks noChangeAspect="1" noChangeArrowheads="1"/>
              </p:cNvPicPr>
              <p:nvPr userDrawn="1"/>
            </p:nvPicPr>
            <p:blipFill>
              <a:blip r:embed="rId9" cstate="print"/>
              <a:srcRect/>
              <a:stretch>
                <a:fillRect/>
              </a:stretch>
            </p:blipFill>
            <p:spPr bwMode="auto">
              <a:xfrm>
                <a:off x="44326393" y="28460718"/>
                <a:ext cx="914401" cy="914399"/>
              </a:xfrm>
              <a:prstGeom prst="rect">
                <a:avLst/>
              </a:prstGeom>
              <a:noFill/>
              <a:ln>
                <a:noFill/>
              </a:ln>
            </p:spPr>
          </p:pic>
          <p:sp>
            <p:nvSpPr>
              <p:cNvPr id="53" name="TextBox 52"/>
              <p:cNvSpPr txBox="1"/>
              <p:nvPr userDrawn="1"/>
            </p:nvSpPr>
            <p:spPr>
              <a:xfrm>
                <a:off x="45300663" y="28552305"/>
                <a:ext cx="8671189" cy="716099"/>
              </a:xfrm>
              <a:prstGeom prst="rect">
                <a:avLst/>
              </a:prstGeom>
              <a:noFill/>
              <a:ln>
                <a:noFill/>
              </a:ln>
            </p:spPr>
            <p:txBody>
              <a:bodyPr wrap="square" rtlCol="0">
                <a:spAutoFit/>
              </a:bodyPr>
              <a:lstStyle/>
              <a:p>
                <a:r>
                  <a:rPr lang="en-US" sz="2400" dirty="0">
                    <a:solidFill>
                      <a:schemeClr val="tx2"/>
                    </a:solidFill>
                    <a:latin typeface="Trebuchet MS" pitchFamily="34" charset="0"/>
                  </a:rPr>
                  <a:t>Student</a:t>
                </a:r>
                <a:r>
                  <a:rPr lang="en-US" sz="2400" baseline="0" dirty="0">
                    <a:solidFill>
                      <a:schemeClr val="tx2"/>
                    </a:solidFill>
                    <a:latin typeface="Trebuchet MS" pitchFamily="34" charset="0"/>
                  </a:rPr>
                  <a:t> discounts are available on our </a:t>
                </a:r>
                <a:r>
                  <a:rPr lang="en-US" sz="2400" baseline="0" dirty="0" err="1">
                    <a:solidFill>
                      <a:schemeClr val="tx2"/>
                    </a:solidFill>
                    <a:latin typeface="Trebuchet MS" pitchFamily="34" charset="0"/>
                  </a:rPr>
                  <a:t>Facebook</a:t>
                </a:r>
                <a:r>
                  <a:rPr lang="en-US" sz="2400" baseline="0" dirty="0">
                    <a:solidFill>
                      <a:schemeClr val="tx2"/>
                    </a:solidFill>
                    <a:latin typeface="Trebuchet MS" pitchFamily="34" charset="0"/>
                  </a:rPr>
                  <a:t> page.</a:t>
                </a:r>
                <a:br>
                  <a:rPr lang="en-US" sz="2400" baseline="0" dirty="0">
                    <a:solidFill>
                      <a:schemeClr val="tx2"/>
                    </a:solidFill>
                    <a:latin typeface="Trebuchet MS" pitchFamily="34" charset="0"/>
                  </a:rPr>
                </a:br>
                <a:r>
                  <a:rPr lang="en-US" sz="2400" baseline="0" dirty="0">
                    <a:solidFill>
                      <a:schemeClr val="tx2"/>
                    </a:solidFill>
                    <a:latin typeface="Trebuchet MS" pitchFamily="34" charset="0"/>
                  </a:rPr>
                  <a:t>Go to </a:t>
                </a:r>
                <a:r>
                  <a:rPr lang="en-US" sz="2400" u="sng" baseline="0" dirty="0">
                    <a:solidFill>
                      <a:schemeClr val="tx2"/>
                    </a:solidFill>
                    <a:latin typeface="Trebuchet MS" pitchFamily="34" charset="0"/>
                  </a:rPr>
                  <a:t>PosterPresentations.com</a:t>
                </a:r>
                <a:r>
                  <a:rPr lang="en-US" sz="2400" baseline="0" dirty="0">
                    <a:solidFill>
                      <a:schemeClr val="tx2"/>
                    </a:solidFill>
                    <a:latin typeface="Trebuchet MS" pitchFamily="34" charset="0"/>
                  </a:rPr>
                  <a:t> and click on the FB icon. </a:t>
                </a:r>
                <a:endParaRPr lang="en-US" sz="2400" dirty="0">
                  <a:solidFill>
                    <a:schemeClr val="tx2"/>
                  </a:solidFill>
                  <a:latin typeface="Trebuchet MS" pitchFamily="34" charset="0"/>
                </a:endParaRPr>
              </a:p>
            </p:txBody>
          </p:sp>
        </p:grpSp>
        <p:sp>
          <p:nvSpPr>
            <p:cNvPr id="50" name="TextBox 49"/>
            <p:cNvSpPr txBox="1"/>
            <p:nvPr userDrawn="1"/>
          </p:nvSpPr>
          <p:spPr>
            <a:xfrm>
              <a:off x="44262808" y="31169782"/>
              <a:ext cx="6870215" cy="1399638"/>
            </a:xfrm>
            <a:prstGeom prst="rect">
              <a:avLst/>
            </a:prstGeom>
            <a:noFill/>
          </p:spPr>
          <p:txBody>
            <a:bodyPr wrap="square" lIns="65304" tIns="32651" rIns="65304" bIns="32651" rtlCol="0">
              <a:spAutoFit/>
            </a:bodyPr>
            <a:lstStyle/>
            <a:p>
              <a:pPr>
                <a:lnSpc>
                  <a:spcPts val="2600"/>
                </a:lnSpc>
              </a:pPr>
              <a:r>
                <a:rPr lang="en-US" sz="2800" dirty="0">
                  <a:solidFill>
                    <a:schemeClr val="bg1"/>
                  </a:solidFill>
                </a:rPr>
                <a:t>© 2015</a:t>
              </a:r>
              <a:r>
                <a:rPr lang="en-US" sz="2800" baseline="0" dirty="0">
                  <a:solidFill>
                    <a:schemeClr val="bg1"/>
                  </a:solidFill>
                </a:rPr>
                <a:t> </a:t>
              </a:r>
              <a:r>
                <a:rPr lang="en-US" sz="2800" dirty="0">
                  <a:solidFill>
                    <a:schemeClr val="bg1"/>
                  </a:solidFill>
                </a:rPr>
                <a:t>PosterPresentations.com</a:t>
              </a:r>
              <a:br>
                <a:rPr lang="en-US" sz="2800" dirty="0">
                  <a:solidFill>
                    <a:schemeClr val="bg1"/>
                  </a:solidFill>
                </a:rPr>
              </a:br>
              <a:r>
                <a:rPr lang="en-US" sz="2800" dirty="0">
                  <a:solidFill>
                    <a:schemeClr val="bg1"/>
                  </a:solidFill>
                </a:rPr>
                <a:t>    </a:t>
              </a:r>
              <a:r>
                <a:rPr lang="en-US" sz="2400" dirty="0">
                  <a:solidFill>
                    <a:schemeClr val="bg1"/>
                  </a:solidFill>
                </a:rPr>
                <a:t>2117 Fourth Street ,</a:t>
              </a:r>
              <a:r>
                <a:rPr lang="en-US" sz="2400" baseline="0" dirty="0">
                  <a:solidFill>
                    <a:schemeClr val="bg1"/>
                  </a:solidFill>
                </a:rPr>
                <a:t> Unit C        </a:t>
              </a:r>
            </a:p>
            <a:p>
              <a:pPr>
                <a:lnSpc>
                  <a:spcPts val="2600"/>
                </a:lnSpc>
              </a:pPr>
              <a:r>
                <a:rPr lang="en-US" sz="2400" baseline="0" dirty="0">
                  <a:solidFill>
                    <a:schemeClr val="bg1"/>
                  </a:solidFill>
                </a:rPr>
                <a:t>     Berkeley CA </a:t>
              </a:r>
              <a:r>
                <a:rPr lang="en-US" sz="2000" baseline="0" dirty="0">
                  <a:solidFill>
                    <a:schemeClr val="bg1"/>
                  </a:solidFill>
                </a:rPr>
                <a:t>94710</a:t>
              </a:r>
              <a:br>
                <a:rPr lang="en-US" sz="2400" baseline="0" dirty="0">
                  <a:solidFill>
                    <a:schemeClr val="bg1"/>
                  </a:solidFill>
                </a:rPr>
              </a:br>
              <a:r>
                <a:rPr lang="en-US" sz="2400" baseline="0" dirty="0">
                  <a:solidFill>
                    <a:schemeClr val="bg1"/>
                  </a:solidFill>
                </a:rPr>
                <a:t>    </a:t>
              </a:r>
              <a:r>
                <a:rPr lang="en-US" sz="2400" b="1" baseline="0" dirty="0">
                  <a:solidFill>
                    <a:srgbClr val="FFFF00"/>
                  </a:solidFill>
                </a:rPr>
                <a:t>posterpresenter@gmail.com</a:t>
              </a:r>
              <a:endParaRPr lang="en-US" sz="2800" b="1" dirty="0">
                <a:solidFill>
                  <a:srgbClr val="FFFF00"/>
                </a:solidFill>
              </a:endParaRPr>
            </a:p>
          </p:txBody>
        </p:sp>
      </p:grpSp>
      <p:grpSp>
        <p:nvGrpSpPr>
          <p:cNvPr id="54" name="Group 53"/>
          <p:cNvGrpSpPr/>
          <p:nvPr userDrawn="1"/>
        </p:nvGrpSpPr>
        <p:grpSpPr>
          <a:xfrm>
            <a:off x="-11225189" y="-1"/>
            <a:ext cx="11018865" cy="32918401"/>
            <a:chOff x="-11225189" y="-1"/>
            <a:chExt cx="11018865" cy="32918401"/>
          </a:xfrm>
        </p:grpSpPr>
        <p:sp>
          <p:nvSpPr>
            <p:cNvPr id="55" name="Rectangle 54"/>
            <p:cNvSpPr/>
            <p:nvPr/>
          </p:nvSpPr>
          <p:spPr>
            <a:xfrm>
              <a:off x="-11216136" y="-1"/>
              <a:ext cx="11009812" cy="3291840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marL="0" marR="0" indent="0" algn="ctr" defTabSz="1518341" rtl="0" eaLnBrk="1" fontAlgn="auto" latinLnBrk="0" hangingPunct="1">
                <a:lnSpc>
                  <a:spcPct val="100000"/>
                </a:lnSpc>
                <a:spcBef>
                  <a:spcPts val="0"/>
                </a:spcBef>
                <a:spcAft>
                  <a:spcPts val="0"/>
                </a:spcAft>
                <a:buClrTx/>
                <a:buSzTx/>
                <a:buFontTx/>
                <a:buNone/>
                <a:tabLst/>
                <a:defRPr/>
              </a:pPr>
              <a:r>
                <a:rPr lang="en-US" sz="3200" b="1" spc="0" dirty="0">
                  <a:solidFill>
                    <a:srgbClr val="FF0000"/>
                  </a:solidFill>
                  <a:latin typeface="Trebuchet MS" pitchFamily="34" charset="0"/>
                </a:rPr>
                <a:t>(—THIS SIDEBAR DOES NOT PRINT—)</a:t>
              </a:r>
              <a:endParaRPr lang="en-US" sz="3200" b="1" spc="600" dirty="0">
                <a:solidFill>
                  <a:schemeClr val="bg1"/>
                </a:solidFill>
                <a:latin typeface="Trebuchet MS" pitchFamily="34" charset="0"/>
              </a:endParaRPr>
            </a:p>
            <a:p>
              <a:pPr algn="ctr"/>
              <a:r>
                <a:rPr lang="en-US" sz="4000" b="1" spc="600" dirty="0">
                  <a:solidFill>
                    <a:schemeClr val="bg1"/>
                  </a:solidFill>
                  <a:latin typeface="Trebuchet MS" pitchFamily="34" charset="0"/>
                </a:rPr>
                <a:t>DESIGN</a:t>
              </a:r>
              <a:r>
                <a:rPr lang="en-US" sz="4000" b="1" spc="600" baseline="0" dirty="0">
                  <a:solidFill>
                    <a:schemeClr val="bg1"/>
                  </a:solidFill>
                  <a:latin typeface="Trebuchet MS" pitchFamily="34" charset="0"/>
                </a:rPr>
                <a:t> </a:t>
              </a:r>
              <a:r>
                <a:rPr lang="en-US" sz="4000" b="1" spc="600" dirty="0">
                  <a:solidFill>
                    <a:schemeClr val="bg1"/>
                  </a:solidFill>
                  <a:latin typeface="Trebuchet MS" pitchFamily="34" charset="0"/>
                </a:rPr>
                <a:t>GUIDE</a:t>
              </a:r>
            </a:p>
            <a:p>
              <a:pPr algn="ctr"/>
              <a:endParaRPr lang="en-US" sz="2800" b="1" dirty="0">
                <a:latin typeface="Trebuchet MS" pitchFamily="34" charset="0"/>
              </a:endParaRPr>
            </a:p>
            <a:p>
              <a:pPr defTabSz="3765639"/>
              <a:r>
                <a:rPr lang="en-US" sz="2800" i="0" dirty="0">
                  <a:latin typeface="Trebuchet MS" pitchFamily="34" charset="0"/>
                </a:rPr>
                <a:t>This PowerPoint</a:t>
              </a:r>
              <a:r>
                <a:rPr lang="en-US" sz="2800" i="0" baseline="0" dirty="0">
                  <a:latin typeface="Trebuchet MS" pitchFamily="34" charset="0"/>
                </a:rPr>
                <a:t> </a:t>
              </a:r>
              <a:r>
                <a:rPr lang="en-US" sz="2800" i="0" dirty="0">
                  <a:latin typeface="Trebuchet MS" pitchFamily="34" charset="0"/>
                </a:rPr>
                <a:t>2007 template produces</a:t>
              </a:r>
              <a:r>
                <a:rPr lang="en-US" sz="2800" i="0" baseline="0" dirty="0">
                  <a:latin typeface="Trebuchet MS" pitchFamily="34" charset="0"/>
                </a:rPr>
                <a:t> </a:t>
              </a:r>
              <a:r>
                <a:rPr lang="en-US" sz="2800" i="0" dirty="0">
                  <a:latin typeface="Trebuchet MS" pitchFamily="34" charset="0"/>
                </a:rPr>
                <a:t>a 36”x48” presentation poster. </a:t>
              </a:r>
              <a:r>
                <a:rPr lang="en-US" sz="2800" dirty="0">
                  <a:latin typeface="Trebuchet MS" pitchFamily="34" charset="0"/>
                </a:rPr>
                <a:t>You</a:t>
              </a:r>
              <a:r>
                <a:rPr lang="en-US" sz="2800" baseline="0" dirty="0">
                  <a:latin typeface="Trebuchet MS" pitchFamily="34" charset="0"/>
                </a:rPr>
                <a:t> can u</a:t>
              </a:r>
              <a:r>
                <a:rPr lang="en-US" sz="2800" dirty="0">
                  <a:latin typeface="Trebuchet MS" pitchFamily="34" charset="0"/>
                </a:rPr>
                <a:t>se</a:t>
              </a:r>
              <a:r>
                <a:rPr lang="en-US" sz="2800" baseline="0" dirty="0">
                  <a:latin typeface="Trebuchet MS" pitchFamily="34" charset="0"/>
                </a:rPr>
                <a:t> it to create your research poster and </a:t>
              </a:r>
              <a:r>
                <a:rPr lang="en-US" sz="2800" dirty="0">
                  <a:latin typeface="Trebuchet MS" pitchFamily="34" charset="0"/>
                </a:rPr>
                <a:t>save valuable time placing titles, subtitles,</a:t>
              </a:r>
              <a:r>
                <a:rPr lang="en-US" sz="2800" baseline="0" dirty="0">
                  <a:latin typeface="Trebuchet MS" pitchFamily="34" charset="0"/>
                </a:rPr>
                <a:t> text, and graphics</a:t>
              </a:r>
              <a:r>
                <a:rPr lang="en-US" sz="2800" dirty="0">
                  <a:latin typeface="Trebuchet MS" pitchFamily="34" charset="0"/>
                </a:rPr>
                <a:t>. </a:t>
              </a:r>
            </a:p>
            <a:p>
              <a:pPr defTabSz="3765639"/>
              <a:endParaRPr lang="en-US" sz="2800" dirty="0">
                <a:latin typeface="Trebuchet MS" pitchFamily="34" charset="0"/>
              </a:endParaRPr>
            </a:p>
            <a:p>
              <a:pPr defTabSz="4389219"/>
              <a:r>
                <a:rPr lang="en-US" sz="2800" dirty="0">
                  <a:latin typeface="Trebuchet MS" pitchFamily="34" charset="0"/>
                </a:rPr>
                <a:t>We provide a series of online tutorials that will guide you through the poster design process and answer your poster production questions. To view our template tutorials, go online to </a:t>
              </a:r>
              <a:r>
                <a:rPr lang="en-US" sz="2800" b="1" dirty="0">
                  <a:solidFill>
                    <a:srgbClr val="FFC000"/>
                  </a:solidFill>
                  <a:latin typeface="Trebuchet MS" pitchFamily="34" charset="0"/>
                </a:rPr>
                <a:t>PosterPresentations.com</a:t>
              </a:r>
              <a:r>
                <a:rPr lang="en-US" sz="2800" b="1" dirty="0">
                  <a:solidFill>
                    <a:schemeClr val="bg1"/>
                  </a:solidFill>
                  <a:latin typeface="Trebuchet MS" pitchFamily="34" charset="0"/>
                </a:rPr>
                <a:t> </a:t>
              </a:r>
              <a:r>
                <a:rPr lang="en-US" sz="2800" dirty="0">
                  <a:solidFill>
                    <a:schemeClr val="bg1"/>
                  </a:solidFill>
                  <a:latin typeface="Trebuchet MS" pitchFamily="34" charset="0"/>
                </a:rPr>
                <a:t>and click on HELP DESK.</a:t>
              </a:r>
            </a:p>
            <a:p>
              <a:pPr defTabSz="4389219"/>
              <a:endParaRPr lang="en-US" sz="2800" dirty="0">
                <a:latin typeface="Trebuchet MS" pitchFamily="34" charset="0"/>
              </a:endParaRPr>
            </a:p>
            <a:p>
              <a:pPr defTabSz="4389219"/>
              <a:r>
                <a:rPr lang="en-US" sz="2800" dirty="0">
                  <a:solidFill>
                    <a:schemeClr val="bg1"/>
                  </a:solidFill>
                  <a:latin typeface="Trebuchet MS" pitchFamily="34" charset="0"/>
                </a:rPr>
                <a:t>When</a:t>
              </a:r>
              <a:r>
                <a:rPr lang="en-US" sz="2800" baseline="0" dirty="0">
                  <a:solidFill>
                    <a:schemeClr val="bg1"/>
                  </a:solidFill>
                  <a:latin typeface="Trebuchet MS" pitchFamily="34" charset="0"/>
                </a:rPr>
                <a:t> you are ready to print your poster</a:t>
              </a:r>
              <a:r>
                <a:rPr lang="en-US" sz="2800" dirty="0">
                  <a:solidFill>
                    <a:schemeClr val="bg1"/>
                  </a:solidFill>
                  <a:latin typeface="Trebuchet MS" pitchFamily="34" charset="0"/>
                </a:rPr>
                <a:t>,</a:t>
              </a:r>
              <a:r>
                <a:rPr lang="en-US" sz="2800" baseline="0" dirty="0">
                  <a:solidFill>
                    <a:schemeClr val="bg1"/>
                  </a:solidFill>
                  <a:latin typeface="Trebuchet MS" pitchFamily="34" charset="0"/>
                </a:rPr>
                <a:t> go online to </a:t>
              </a:r>
              <a:r>
                <a:rPr lang="en-US" sz="2800" b="0" dirty="0">
                  <a:solidFill>
                    <a:schemeClr val="bg1"/>
                  </a:solidFill>
                  <a:latin typeface="Trebuchet MS" pitchFamily="34" charset="0"/>
                </a:rPr>
                <a:t>PosterPresentations.com</a:t>
              </a:r>
              <a:br>
                <a:rPr lang="en-US" sz="2800" dirty="0">
                  <a:solidFill>
                    <a:schemeClr val="bg1"/>
                  </a:solidFill>
                  <a:latin typeface="Trebuchet MS" pitchFamily="34" charset="0"/>
                </a:rPr>
              </a:br>
              <a:endParaRPr lang="en-US" sz="2800" dirty="0">
                <a:solidFill>
                  <a:schemeClr val="bg1"/>
                </a:solidFill>
                <a:latin typeface="Trebuchet MS" pitchFamily="34" charset="0"/>
              </a:endParaRPr>
            </a:p>
            <a:p>
              <a:pPr algn="l" defTabSz="3765639"/>
              <a:r>
                <a:rPr lang="en-US" sz="2800" b="0" dirty="0">
                  <a:solidFill>
                    <a:schemeClr val="bg1"/>
                  </a:solidFill>
                  <a:latin typeface="Trebuchet MS" pitchFamily="34" charset="0"/>
                </a:rPr>
                <a:t>Need</a:t>
              </a:r>
              <a:r>
                <a:rPr lang="en-US" sz="2800" b="0" baseline="0" dirty="0">
                  <a:solidFill>
                    <a:schemeClr val="bg1"/>
                  </a:solidFill>
                  <a:latin typeface="Trebuchet MS" pitchFamily="34" charset="0"/>
                </a:rPr>
                <a:t> assistance? Call us at </a:t>
              </a:r>
              <a:r>
                <a:rPr lang="en-US" sz="2800" b="0" dirty="0">
                  <a:solidFill>
                    <a:srgbClr val="FFC000"/>
                  </a:solidFill>
                  <a:latin typeface="Trebuchet MS" pitchFamily="34" charset="0"/>
                </a:rPr>
                <a:t>1.510.649.3001</a:t>
              </a:r>
            </a:p>
            <a:p>
              <a:pPr algn="l" defTabSz="3765639"/>
              <a:endParaRPr lang="en-US" sz="3600" b="1" dirty="0">
                <a:solidFill>
                  <a:srgbClr val="FFFF00"/>
                </a:solidFill>
                <a:latin typeface="Trebuchet MS" pitchFamily="34" charset="0"/>
              </a:endParaRPr>
            </a:p>
            <a:p>
              <a:pPr algn="ctr"/>
              <a:endParaRPr lang="en-US" sz="2400" b="1" dirty="0">
                <a:solidFill>
                  <a:schemeClr val="bg1"/>
                </a:solidFill>
                <a:latin typeface="Trebuchet MS" pitchFamily="34" charset="0"/>
              </a:endParaRPr>
            </a:p>
            <a:p>
              <a:pPr algn="ctr"/>
              <a:r>
                <a:rPr lang="en-US" sz="4000" b="1" spc="600" dirty="0">
                  <a:solidFill>
                    <a:schemeClr val="bg1"/>
                  </a:solidFill>
                  <a:latin typeface="Trebuchet MS" pitchFamily="34" charset="0"/>
                </a:rPr>
                <a:t>QUICK START</a:t>
              </a:r>
            </a:p>
            <a:p>
              <a:pPr algn="ctr"/>
              <a:endParaRPr lang="en-US" sz="3200" b="1"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Zoom in and out</a:t>
              </a:r>
            </a:p>
            <a:p>
              <a:pPr marL="1892300" indent="-1892300" algn="l" defTabSz="850900"/>
              <a:r>
                <a:rPr lang="en-US" sz="2400" b="0" baseline="0" dirty="0">
                  <a:solidFill>
                    <a:schemeClr val="bg1"/>
                  </a:solidFill>
                  <a:latin typeface="Trebuchet MS" pitchFamily="34" charset="0"/>
                </a:rPr>
                <a:t>	</a:t>
              </a:r>
              <a:r>
                <a:rPr lang="en-US" sz="2400" b="0" baseline="0" dirty="0">
                  <a:solidFill>
                    <a:schemeClr val="bg1">
                      <a:lumMod val="75000"/>
                    </a:schemeClr>
                  </a:solidFill>
                  <a:latin typeface="Trebuchet MS" pitchFamily="34" charset="0"/>
                </a:rPr>
                <a:t>As you work on your poster zoom in and out to the level that is more comfortable to you. </a:t>
              </a:r>
            </a:p>
            <a:p>
              <a:pPr marL="1892300" indent="-1892300" algn="l" defTabSz="850900"/>
              <a:r>
                <a:rPr lang="en-US" sz="2400" b="1" baseline="0" dirty="0">
                  <a:solidFill>
                    <a:schemeClr val="bg1">
                      <a:lumMod val="75000"/>
                    </a:schemeClr>
                  </a:solidFill>
                  <a:latin typeface="Trebuchet MS" pitchFamily="34" charset="0"/>
                </a:rPr>
                <a:t>	</a:t>
              </a:r>
              <a:r>
                <a:rPr lang="en-US" sz="2400" b="0" baseline="0" dirty="0">
                  <a:solidFill>
                    <a:schemeClr val="bg1">
                      <a:lumMod val="75000"/>
                    </a:schemeClr>
                  </a:solidFill>
                  <a:latin typeface="Trebuchet MS" pitchFamily="34" charset="0"/>
                </a:rPr>
                <a:t>Go to VIEW &gt; ZOOM.</a:t>
              </a:r>
            </a:p>
            <a:p>
              <a:pPr algn="l"/>
              <a:endParaRPr lang="en-US" sz="2800" b="0"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Title, Authors, and Affiliations</a:t>
              </a:r>
            </a:p>
            <a:p>
              <a:pPr algn="l"/>
              <a:r>
                <a:rPr lang="en-US" sz="2400" b="0" baseline="0" dirty="0">
                  <a:solidFill>
                    <a:schemeClr val="bg1">
                      <a:lumMod val="75000"/>
                    </a:schemeClr>
                  </a:solidFill>
                  <a:latin typeface="Trebuchet MS" pitchFamily="34" charset="0"/>
                </a:rPr>
                <a:t>Start designing your poster by adding the title, the names of the authors, and the affiliated institutions. </a:t>
              </a:r>
              <a:r>
                <a:rPr lang="en-US" sz="2400" b="0" spc="0" baseline="0" dirty="0">
                  <a:solidFill>
                    <a:schemeClr val="bg1">
                      <a:lumMod val="75000"/>
                    </a:schemeClr>
                  </a:solidFill>
                  <a:latin typeface="Trebuchet MS" pitchFamily="34" charset="0"/>
                </a:rPr>
                <a:t>You can type or paste text into the provided boxes. The template will automatically adjust the size of your text to fit the title box. You can manually override this feature and change the size of your text. </a:t>
              </a:r>
            </a:p>
            <a:p>
              <a:pPr algn="l"/>
              <a:endParaRPr lang="en-US" sz="2400" b="0" spc="0" baseline="0" dirty="0">
                <a:solidFill>
                  <a:schemeClr val="bg1">
                    <a:lumMod val="75000"/>
                  </a:schemeClr>
                </a:solidFill>
                <a:latin typeface="Trebuchet MS" pitchFamily="34" charset="0"/>
              </a:endParaRPr>
            </a:p>
            <a:p>
              <a:pPr algn="l"/>
              <a:r>
                <a:rPr lang="en-US" sz="2400" b="1" spc="300" baseline="0" dirty="0">
                  <a:solidFill>
                    <a:srgbClr val="FFC000"/>
                  </a:solidFill>
                  <a:latin typeface="Trebuchet MS" pitchFamily="34" charset="0"/>
                </a:rPr>
                <a:t>TIP</a:t>
              </a:r>
              <a:r>
                <a:rPr lang="en-US" sz="2400" b="1" baseline="0" dirty="0">
                  <a:solidFill>
                    <a:srgbClr val="FFC000"/>
                  </a:solidFill>
                  <a:latin typeface="Trebuchet MS" pitchFamily="34" charset="0"/>
                </a:rPr>
                <a:t>: </a:t>
              </a:r>
              <a:r>
                <a:rPr lang="en-US" sz="2400" b="0" baseline="0" dirty="0">
                  <a:solidFill>
                    <a:schemeClr val="bg1">
                      <a:lumMod val="75000"/>
                    </a:schemeClr>
                  </a:solidFill>
                  <a:latin typeface="Trebuchet MS" pitchFamily="34" charset="0"/>
                </a:rPr>
                <a:t>The font size of your title should be bigger than your name(s) and institution name(s).</a:t>
              </a:r>
            </a:p>
            <a:p>
              <a:pPr algn="l"/>
              <a:br>
                <a:rPr lang="en-US" sz="2800" b="1" baseline="0" dirty="0">
                  <a:solidFill>
                    <a:schemeClr val="bg1"/>
                  </a:solidFill>
                  <a:latin typeface="Trebuchet MS" pitchFamily="34" charset="0"/>
                </a:rPr>
              </a:br>
              <a:endParaRPr lang="en-US" sz="2800" b="1" dirty="0">
                <a:solidFill>
                  <a:schemeClr val="bg1"/>
                </a:solidFill>
                <a:latin typeface="Trebuchet MS" pitchFamily="34" charset="0"/>
              </a:endParaRPr>
            </a:p>
            <a:p>
              <a:pPr algn="ctr"/>
              <a:endParaRPr lang="en-US" sz="2800" b="1" dirty="0">
                <a:solidFill>
                  <a:srgbClr val="FFC000"/>
                </a:solidFill>
                <a:latin typeface="Trebuchet MS" pitchFamily="34" charset="0"/>
              </a:endParaRPr>
            </a:p>
            <a:p>
              <a:pPr algn="ctr"/>
              <a:endParaRPr lang="en-US" sz="2800" b="1" dirty="0">
                <a:solidFill>
                  <a:srgbClr val="FFC000"/>
                </a:solidFill>
                <a:latin typeface="Trebuchet MS" pitchFamily="34" charset="0"/>
              </a:endParaRPr>
            </a:p>
            <a:p>
              <a:pPr algn="ctr"/>
              <a:r>
                <a:rPr lang="en-US" sz="3200" b="1" dirty="0">
                  <a:solidFill>
                    <a:srgbClr val="FFC000"/>
                  </a:solidFill>
                  <a:latin typeface="Trebuchet MS" pitchFamily="34" charset="0"/>
                </a:rPr>
                <a:t>Adding Logos</a:t>
              </a:r>
              <a:r>
                <a:rPr lang="en-US" sz="3200" b="1" baseline="0" dirty="0">
                  <a:solidFill>
                    <a:srgbClr val="FFC000"/>
                  </a:solidFill>
                  <a:latin typeface="Trebuchet MS" pitchFamily="34" charset="0"/>
                </a:rPr>
                <a:t> / Seals</a:t>
              </a:r>
            </a:p>
            <a:p>
              <a:pPr algn="l"/>
              <a:r>
                <a:rPr lang="en-US" sz="2400" b="0" baseline="0" dirty="0">
                  <a:solidFill>
                    <a:schemeClr val="bg1">
                      <a:lumMod val="75000"/>
                    </a:schemeClr>
                  </a:solidFill>
                  <a:latin typeface="Trebuchet MS" pitchFamily="34" charset="0"/>
                </a:rPr>
                <a:t>Most often, logos are added on each side of the title. You can insert a logo by dragging and dropping it from your desktop, copy and paste or by going to INSERT &gt; PICTURES. Logos taken from web sites are likely to be low quality when printed. Zoom it at 100% to see what the logo will look like on the final poster and make any necessary adjustments.  </a:t>
              </a:r>
            </a:p>
            <a:p>
              <a:pPr algn="l"/>
              <a:endParaRPr lang="en-US" sz="2400" b="0" spc="300" baseline="0" dirty="0">
                <a:solidFill>
                  <a:schemeClr val="bg1">
                    <a:lumMod val="75000"/>
                  </a:schemeClr>
                </a:solidFill>
                <a:latin typeface="Trebuchet MS" pitchFamily="34" charset="0"/>
              </a:endParaRPr>
            </a:p>
            <a:p>
              <a:pPr algn="l"/>
              <a:r>
                <a:rPr lang="en-US" sz="2400" b="1" spc="300" baseline="0" dirty="0">
                  <a:solidFill>
                    <a:srgbClr val="FFC000"/>
                  </a:solidFill>
                  <a:latin typeface="Trebuchet MS" pitchFamily="34" charset="0"/>
                </a:rPr>
                <a:t>TIP:</a:t>
              </a:r>
              <a:r>
                <a:rPr lang="en-US" sz="2400" b="1" spc="0" baseline="0" dirty="0">
                  <a:solidFill>
                    <a:srgbClr val="FFC000"/>
                  </a:solidFill>
                  <a:latin typeface="Trebuchet MS" pitchFamily="34" charset="0"/>
                </a:rPr>
                <a:t> </a:t>
              </a:r>
              <a:r>
                <a:rPr lang="en-US" sz="2400" b="0" baseline="0" dirty="0">
                  <a:solidFill>
                    <a:schemeClr val="bg1">
                      <a:lumMod val="75000"/>
                    </a:schemeClr>
                  </a:solidFill>
                  <a:latin typeface="Trebuchet MS" pitchFamily="34" charset="0"/>
                </a:rPr>
                <a:t>See if your school’s logo is available on our free poster templates page.</a:t>
              </a:r>
            </a:p>
            <a:p>
              <a:pPr algn="l"/>
              <a:endParaRPr lang="en-US" sz="2400" b="0" baseline="0" dirty="0">
                <a:latin typeface="Trebuchet MS" pitchFamily="34" charset="0"/>
              </a:endParaRPr>
            </a:p>
            <a:p>
              <a:pPr algn="ctr"/>
              <a:r>
                <a:rPr lang="en-US" sz="3200" b="1" baseline="0" dirty="0">
                  <a:solidFill>
                    <a:srgbClr val="FFC000"/>
                  </a:solidFill>
                  <a:latin typeface="Trebuchet MS" pitchFamily="34" charset="0"/>
                </a:rPr>
                <a:t>Photographs / Graphics</a:t>
              </a:r>
            </a:p>
            <a:p>
              <a:pPr algn="l" defTabSz="977900"/>
              <a:r>
                <a:rPr lang="en-US" sz="2400" b="0" baseline="0" dirty="0">
                  <a:solidFill>
                    <a:schemeClr val="bg1">
                      <a:lumMod val="75000"/>
                    </a:schemeClr>
                  </a:solidFill>
                  <a:latin typeface="Trebuchet MS" pitchFamily="34" charset="0"/>
                </a:rPr>
                <a:t>You can add images by dragging and dropping from your desktop, copy and paste, or by going to INSERT &gt; PICTURES. Resize images proportionally by holding down the SHIFT key and dragging one of the corner handles. For a professional-looking poster, do not distort your images by enlarging them </a:t>
              </a:r>
              <a:r>
                <a:rPr lang="en-US" sz="2400" b="0" spc="0" baseline="0" dirty="0">
                  <a:solidFill>
                    <a:schemeClr val="bg1">
                      <a:lumMod val="75000"/>
                    </a:schemeClr>
                  </a:solidFill>
                  <a:latin typeface="Trebuchet MS" pitchFamily="34" charset="0"/>
                </a:rPr>
                <a:t>disproportionally.</a:t>
              </a:r>
            </a:p>
            <a:p>
              <a:pPr algn="l" defTabSz="977900"/>
              <a:endParaRPr lang="en-US" sz="2400" b="0" baseline="0" dirty="0">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r>
                <a:rPr lang="en-US" sz="3200" b="1" baseline="0" dirty="0">
                  <a:solidFill>
                    <a:srgbClr val="FFC000"/>
                  </a:solidFill>
                  <a:latin typeface="Trebuchet MS" pitchFamily="34" charset="0"/>
                </a:rPr>
                <a:t>Image Quality Check</a:t>
              </a:r>
            </a:p>
            <a:p>
              <a:pPr lvl="0" algn="l" defTabSz="977900"/>
              <a:r>
                <a:rPr lang="en-US" sz="2400" b="0" baseline="0" dirty="0">
                  <a:solidFill>
                    <a:schemeClr val="bg1">
                      <a:lumMod val="75000"/>
                    </a:schemeClr>
                  </a:solidFill>
                  <a:latin typeface="Trebuchet MS" pitchFamily="34" charset="0"/>
                </a:rPr>
                <a:t>Zoom in and look at your images at 100% magnification. If they look good they will print well. </a:t>
              </a:r>
              <a:endParaRPr lang="en-US" sz="2800" b="0" dirty="0">
                <a:latin typeface="Trebuchet MS" pitchFamily="34" charset="0"/>
              </a:endParaRPr>
            </a:p>
          </p:txBody>
        </p:sp>
        <p:cxnSp>
          <p:nvCxnSpPr>
            <p:cNvPr id="56" name="Straight Connector 55"/>
            <p:cNvCxnSpPr/>
            <p:nvPr/>
          </p:nvCxnSpPr>
          <p:spPr>
            <a:xfrm>
              <a:off x="-11225189" y="8422500"/>
              <a:ext cx="10999746" cy="3341"/>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pic>
          <p:nvPicPr>
            <p:cNvPr id="57" name="Picture 56"/>
            <p:cNvPicPr>
              <a:picLocks noChangeAspect="1"/>
            </p:cNvPicPr>
            <p:nvPr userDrawn="1"/>
          </p:nvPicPr>
          <p:blipFill>
            <a:blip r:embed="rId10"/>
            <a:stretch>
              <a:fillRect/>
            </a:stretch>
          </p:blipFill>
          <p:spPr>
            <a:xfrm>
              <a:off x="-10740740" y="10261718"/>
              <a:ext cx="1597666" cy="1201935"/>
            </a:xfrm>
            <a:prstGeom prst="rect">
              <a:avLst/>
            </a:prstGeom>
          </p:spPr>
        </p:pic>
        <p:pic>
          <p:nvPicPr>
            <p:cNvPr id="58" name="Picture 57"/>
            <p:cNvPicPr>
              <a:picLocks noChangeAspect="1"/>
            </p:cNvPicPr>
            <p:nvPr userDrawn="1"/>
          </p:nvPicPr>
          <p:blipFill>
            <a:blip r:embed="rId11"/>
            <a:stretch>
              <a:fillRect/>
            </a:stretch>
          </p:blipFill>
          <p:spPr>
            <a:xfrm>
              <a:off x="-10732765" y="15696927"/>
              <a:ext cx="9986808" cy="1053596"/>
            </a:xfrm>
            <a:prstGeom prst="rect">
              <a:avLst/>
            </a:prstGeom>
          </p:spPr>
        </p:pic>
        <p:grpSp>
          <p:nvGrpSpPr>
            <p:cNvPr id="59" name="Group 58"/>
            <p:cNvGrpSpPr/>
            <p:nvPr userDrawn="1"/>
          </p:nvGrpSpPr>
          <p:grpSpPr>
            <a:xfrm>
              <a:off x="-9744993" y="23540957"/>
              <a:ext cx="7531182" cy="2120439"/>
              <a:chOff x="-4470427" y="11016658"/>
              <a:chExt cx="3470785" cy="974220"/>
            </a:xfrm>
          </p:grpSpPr>
          <p:grpSp>
            <p:nvGrpSpPr>
              <p:cNvPr id="65" name="Group 64"/>
              <p:cNvGrpSpPr/>
              <p:nvPr userDrawn="1"/>
            </p:nvGrpSpPr>
            <p:grpSpPr>
              <a:xfrm>
                <a:off x="-2783495" y="11060886"/>
                <a:ext cx="624431" cy="893535"/>
                <a:chOff x="-3958697" y="11117435"/>
                <a:chExt cx="779338" cy="1280430"/>
              </a:xfrm>
            </p:grpSpPr>
            <p:pic>
              <p:nvPicPr>
                <p:cNvPr id="71" name="Picture 70"/>
                <p:cNvPicPr>
                  <a:picLocks noChangeAspect="1"/>
                </p:cNvPicPr>
                <p:nvPr userDrawn="1"/>
              </p:nvPicPr>
              <p:blipFill>
                <a:blip r:embed="rId12"/>
                <a:stretch>
                  <a:fillRect/>
                </a:stretch>
              </p:blipFill>
              <p:spPr>
                <a:xfrm>
                  <a:off x="-3948160" y="11117435"/>
                  <a:ext cx="768801" cy="1090857"/>
                </a:xfrm>
                <a:prstGeom prst="rect">
                  <a:avLst/>
                </a:prstGeom>
              </p:spPr>
            </p:pic>
            <p:sp>
              <p:nvSpPr>
                <p:cNvPr id="72" name="TextBox 71"/>
                <p:cNvSpPr txBox="1"/>
                <p:nvPr userDrawn="1"/>
              </p:nvSpPr>
              <p:spPr>
                <a:xfrm>
                  <a:off x="-3958697" y="12114178"/>
                  <a:ext cx="779337" cy="283687"/>
                </a:xfrm>
                <a:prstGeom prst="rect">
                  <a:avLst/>
                </a:prstGeom>
                <a:solidFill>
                  <a:schemeClr val="accent1"/>
                </a:solidFill>
                <a:ln>
                  <a:noFill/>
                </a:ln>
              </p:spPr>
              <p:txBody>
                <a:bodyPr wrap="square" lIns="91440" tIns="91440" rIns="91440" bIns="91440" rtlCol="0">
                  <a:spAutoFit/>
                </a:bodyPr>
                <a:lstStyle/>
                <a:p>
                  <a:pPr algn="ctr"/>
                  <a:r>
                    <a:rPr lang="en-US" sz="1600" b="1" dirty="0">
                      <a:solidFill>
                        <a:schemeClr val="tx1"/>
                      </a:solidFill>
                    </a:rPr>
                    <a:t>ORIGINAL</a:t>
                  </a:r>
                </a:p>
              </p:txBody>
            </p:sp>
          </p:grpSp>
          <p:grpSp>
            <p:nvGrpSpPr>
              <p:cNvPr id="66" name="Group 65"/>
              <p:cNvGrpSpPr/>
              <p:nvPr userDrawn="1"/>
            </p:nvGrpSpPr>
            <p:grpSpPr>
              <a:xfrm>
                <a:off x="-2033159" y="11060889"/>
                <a:ext cx="1033517" cy="893529"/>
                <a:chOff x="-2921738" y="11200127"/>
                <a:chExt cx="1420279" cy="1227904"/>
              </a:xfrm>
            </p:grpSpPr>
            <p:pic>
              <p:nvPicPr>
                <p:cNvPr id="69" name="Picture 68"/>
                <p:cNvPicPr>
                  <a:picLocks noChangeAspect="1"/>
                </p:cNvPicPr>
                <p:nvPr userDrawn="1"/>
              </p:nvPicPr>
              <p:blipFill>
                <a:blip r:embed="rId12"/>
                <a:stretch>
                  <a:fillRect/>
                </a:stretch>
              </p:blipFill>
              <p:spPr>
                <a:xfrm>
                  <a:off x="-2921738" y="11200127"/>
                  <a:ext cx="1420279" cy="1029694"/>
                </a:xfrm>
                <a:prstGeom prst="rect">
                  <a:avLst/>
                </a:prstGeom>
              </p:spPr>
            </p:pic>
            <p:sp>
              <p:nvSpPr>
                <p:cNvPr id="70" name="TextBox 69"/>
                <p:cNvSpPr txBox="1"/>
                <p:nvPr userDrawn="1"/>
              </p:nvSpPr>
              <p:spPr>
                <a:xfrm>
                  <a:off x="-2918991" y="12175418"/>
                  <a:ext cx="1417532" cy="252613"/>
                </a:xfrm>
                <a:prstGeom prst="rect">
                  <a:avLst/>
                </a:prstGeom>
                <a:solidFill>
                  <a:srgbClr val="FF0000"/>
                </a:solidFill>
              </p:spPr>
              <p:txBody>
                <a:bodyPr wrap="square" lIns="457200" tIns="91440" rIns="457200" bIns="91440" rtlCol="0">
                  <a:spAutoFit/>
                </a:bodyPr>
                <a:lstStyle/>
                <a:p>
                  <a:pPr algn="ctr"/>
                  <a:r>
                    <a:rPr lang="en-US" sz="1400" b="1" dirty="0">
                      <a:solidFill>
                        <a:schemeClr val="bg1"/>
                      </a:solidFill>
                    </a:rPr>
                    <a:t>DISTORTED</a:t>
                  </a:r>
                  <a:endParaRPr lang="en-US" sz="700" b="1" dirty="0">
                    <a:solidFill>
                      <a:schemeClr val="bg1"/>
                    </a:solidFill>
                  </a:endParaRPr>
                </a:p>
              </p:txBody>
            </p:sp>
          </p:grpSp>
          <p:pic>
            <p:nvPicPr>
              <p:cNvPr id="67" name="Picture 66"/>
              <p:cNvPicPr>
                <a:picLocks noChangeAspect="1"/>
              </p:cNvPicPr>
              <p:nvPr userDrawn="1"/>
            </p:nvPicPr>
            <p:blipFill>
              <a:blip r:embed="rId13"/>
              <a:stretch>
                <a:fillRect/>
              </a:stretch>
            </p:blipFill>
            <p:spPr>
              <a:xfrm>
                <a:off x="-4470427" y="11016658"/>
                <a:ext cx="1098742" cy="847761"/>
              </a:xfrm>
              <a:prstGeom prst="rect">
                <a:avLst/>
              </a:prstGeom>
            </p:spPr>
          </p:pic>
          <p:sp>
            <p:nvSpPr>
              <p:cNvPr id="68" name="TextBox 67"/>
              <p:cNvSpPr txBox="1"/>
              <p:nvPr userDrawn="1"/>
            </p:nvSpPr>
            <p:spPr>
              <a:xfrm>
                <a:off x="-4440600" y="11665645"/>
                <a:ext cx="1035685" cy="325233"/>
              </a:xfrm>
              <a:prstGeom prst="rect">
                <a:avLst/>
              </a:prstGeom>
              <a:noFill/>
            </p:spPr>
            <p:txBody>
              <a:bodyPr wrap="square" lIns="457200" tIns="457200" rIns="457200" bIns="0" rtlCol="0">
                <a:spAutoFit/>
              </a:bodyPr>
              <a:lstStyle/>
              <a:p>
                <a:pPr algn="ctr"/>
                <a:r>
                  <a:rPr lang="en-US" sz="1600" dirty="0">
                    <a:solidFill>
                      <a:schemeClr val="bg1"/>
                    </a:solidFill>
                  </a:rPr>
                  <a:t>Corner</a:t>
                </a:r>
                <a:r>
                  <a:rPr lang="en-US" sz="1600" baseline="0" dirty="0">
                    <a:solidFill>
                      <a:schemeClr val="bg1"/>
                    </a:solidFill>
                  </a:rPr>
                  <a:t> handles</a:t>
                </a:r>
                <a:endParaRPr lang="en-US" sz="1600" dirty="0">
                  <a:solidFill>
                    <a:schemeClr val="bg1"/>
                  </a:solidFill>
                </a:endParaRPr>
              </a:p>
            </p:txBody>
          </p:sp>
        </p:grpSp>
        <p:grpSp>
          <p:nvGrpSpPr>
            <p:cNvPr id="60" name="Group 59"/>
            <p:cNvGrpSpPr/>
            <p:nvPr userDrawn="1"/>
          </p:nvGrpSpPr>
          <p:grpSpPr>
            <a:xfrm>
              <a:off x="-10398793" y="27751410"/>
              <a:ext cx="9323012" cy="2453251"/>
              <a:chOff x="-4754996" y="12734136"/>
              <a:chExt cx="4296559" cy="1127128"/>
            </a:xfrm>
          </p:grpSpPr>
          <p:graphicFrame>
            <p:nvGraphicFramePr>
              <p:cNvPr id="61" name="Object 60"/>
              <p:cNvGraphicFramePr>
                <a:graphicFrameLocks noChangeAspect="1"/>
              </p:cNvGraphicFramePr>
              <p:nvPr userDrawn="1">
                <p:extLst>
                  <p:ext uri="{D42A27DB-BD31-4B8C-83A1-F6EECF244321}">
                    <p14:modId xmlns:p14="http://schemas.microsoft.com/office/powerpoint/2010/main" val="1199812768"/>
                  </p:ext>
                </p:extLst>
              </p:nvPr>
            </p:nvGraphicFramePr>
            <p:xfrm>
              <a:off x="-4533347" y="12734142"/>
              <a:ext cx="1828800" cy="1117600"/>
            </p:xfrm>
            <a:graphic>
              <a:graphicData uri="http://schemas.openxmlformats.org/presentationml/2006/ole">
                <mc:AlternateContent xmlns:mc="http://schemas.openxmlformats.org/markup-compatibility/2006">
                  <mc:Choice xmlns:v="urn:schemas-microsoft-com:vml" Requires="v">
                    <p:oleObj name="Image" r:id="rId14" imgW="1828440" imgH="1117440" progId="Photoshop.Image.13">
                      <p:embed/>
                    </p:oleObj>
                  </mc:Choice>
                  <mc:Fallback>
                    <p:oleObj name="Image" r:id="rId14" imgW="1828440" imgH="1117440" progId="Photoshop.Image.13">
                      <p:embed/>
                      <p:pic>
                        <p:nvPicPr>
                          <p:cNvPr id="0" name=""/>
                          <p:cNvPicPr/>
                          <p:nvPr/>
                        </p:nvPicPr>
                        <p:blipFill>
                          <a:blip r:embed="rId15"/>
                          <a:stretch>
                            <a:fillRect/>
                          </a:stretch>
                        </p:blipFill>
                        <p:spPr>
                          <a:xfrm>
                            <a:off x="-4533347" y="12734142"/>
                            <a:ext cx="1828800" cy="1117600"/>
                          </a:xfrm>
                          <a:prstGeom prst="rect">
                            <a:avLst/>
                          </a:prstGeom>
                        </p:spPr>
                      </p:pic>
                    </p:oleObj>
                  </mc:Fallback>
                </mc:AlternateContent>
              </a:graphicData>
            </a:graphic>
          </p:graphicFrame>
          <p:graphicFrame>
            <p:nvGraphicFramePr>
              <p:cNvPr id="62" name="Object 61"/>
              <p:cNvGraphicFramePr>
                <a:graphicFrameLocks noChangeAspect="1"/>
              </p:cNvGraphicFramePr>
              <p:nvPr userDrawn="1">
                <p:extLst>
                  <p:ext uri="{D42A27DB-BD31-4B8C-83A1-F6EECF244321}">
                    <p14:modId xmlns:p14="http://schemas.microsoft.com/office/powerpoint/2010/main" val="4096349677"/>
                  </p:ext>
                </p:extLst>
              </p:nvPr>
            </p:nvGraphicFramePr>
            <p:xfrm>
              <a:off x="-2456641" y="12737835"/>
              <a:ext cx="1828800" cy="1117600"/>
            </p:xfrm>
            <a:graphic>
              <a:graphicData uri="http://schemas.openxmlformats.org/presentationml/2006/ole">
                <mc:AlternateContent xmlns:mc="http://schemas.openxmlformats.org/markup-compatibility/2006">
                  <mc:Choice xmlns:v="urn:schemas-microsoft-com:vml" Requires="v">
                    <p:oleObj name="Image" r:id="rId16" imgW="1828440" imgH="1117440" progId="Photoshop.Image.13">
                      <p:embed/>
                    </p:oleObj>
                  </mc:Choice>
                  <mc:Fallback>
                    <p:oleObj name="Image" r:id="rId16" imgW="1828440" imgH="1117440" progId="Photoshop.Image.13">
                      <p:embed/>
                      <p:pic>
                        <p:nvPicPr>
                          <p:cNvPr id="0" name=""/>
                          <p:cNvPicPr/>
                          <p:nvPr/>
                        </p:nvPicPr>
                        <p:blipFill>
                          <a:blip r:embed="rId17"/>
                          <a:stretch>
                            <a:fillRect/>
                          </a:stretch>
                        </p:blipFill>
                        <p:spPr>
                          <a:xfrm>
                            <a:off x="-2456641" y="12737835"/>
                            <a:ext cx="1828800" cy="1117600"/>
                          </a:xfrm>
                          <a:prstGeom prst="rect">
                            <a:avLst/>
                          </a:prstGeom>
                        </p:spPr>
                      </p:pic>
                    </p:oleObj>
                  </mc:Fallback>
                </mc:AlternateContent>
              </a:graphicData>
            </a:graphic>
          </p:graphicFrame>
          <p:sp>
            <p:nvSpPr>
              <p:cNvPr id="63" name="TextBox 62"/>
              <p:cNvSpPr txBox="1"/>
              <p:nvPr userDrawn="1"/>
            </p:nvSpPr>
            <p:spPr>
              <a:xfrm rot="16200000">
                <a:off x="-5235785" y="13214925"/>
                <a:ext cx="1117601" cy="156024"/>
              </a:xfrm>
              <a:prstGeom prst="rect">
                <a:avLst/>
              </a:prstGeom>
              <a:noFill/>
            </p:spPr>
            <p:txBody>
              <a:bodyPr wrap="square" lIns="91440" tIns="91440" rIns="91440" bIns="0" rtlCol="0">
                <a:spAutoFit/>
              </a:bodyPr>
              <a:lstStyle/>
              <a:p>
                <a:pPr algn="ctr"/>
                <a:r>
                  <a:rPr lang="en-US" sz="1600" dirty="0">
                    <a:solidFill>
                      <a:srgbClr val="92D050"/>
                    </a:solidFill>
                  </a:rPr>
                  <a:t>Good</a:t>
                </a:r>
                <a:r>
                  <a:rPr lang="en-US" sz="1600" baseline="0" dirty="0">
                    <a:solidFill>
                      <a:srgbClr val="92D050"/>
                    </a:solidFill>
                  </a:rPr>
                  <a:t> </a:t>
                </a:r>
                <a:r>
                  <a:rPr lang="en-US" sz="1600" baseline="0" dirty="0">
                    <a:solidFill>
                      <a:schemeClr val="bg1"/>
                    </a:solidFill>
                  </a:rPr>
                  <a:t>printing quality</a:t>
                </a:r>
                <a:endParaRPr lang="en-US" sz="1600" dirty="0">
                  <a:solidFill>
                    <a:schemeClr val="bg1"/>
                  </a:solidFill>
                </a:endParaRPr>
              </a:p>
            </p:txBody>
          </p:sp>
          <p:sp>
            <p:nvSpPr>
              <p:cNvPr id="64" name="TextBox 63"/>
              <p:cNvSpPr txBox="1"/>
              <p:nvPr userDrawn="1"/>
            </p:nvSpPr>
            <p:spPr>
              <a:xfrm rot="16200000">
                <a:off x="-1095250" y="13224452"/>
                <a:ext cx="1117601" cy="156024"/>
              </a:xfrm>
              <a:prstGeom prst="rect">
                <a:avLst/>
              </a:prstGeom>
              <a:noFill/>
            </p:spPr>
            <p:txBody>
              <a:bodyPr wrap="square" lIns="91440" tIns="91440" rIns="91440" bIns="0" rtlCol="0">
                <a:spAutoFit/>
              </a:bodyPr>
              <a:lstStyle/>
              <a:p>
                <a:pPr algn="ctr"/>
                <a:r>
                  <a:rPr lang="en-US" sz="1600" dirty="0">
                    <a:solidFill>
                      <a:srgbClr val="FF0000"/>
                    </a:solidFill>
                  </a:rPr>
                  <a:t>Bad </a:t>
                </a:r>
                <a:r>
                  <a:rPr lang="en-US" sz="1600" dirty="0">
                    <a:solidFill>
                      <a:schemeClr val="bg1"/>
                    </a:solidFill>
                  </a:rPr>
                  <a:t>printing quality</a:t>
                </a:r>
              </a:p>
            </p:txBody>
          </p:sp>
        </p:grpSp>
      </p:grpSp>
      <p:sp>
        <p:nvSpPr>
          <p:cNvPr id="40" name="Text Box 14"/>
          <p:cNvSpPr txBox="1">
            <a:spLocks noChangeArrowheads="1"/>
          </p:cNvSpPr>
          <p:nvPr userDrawn="1"/>
        </p:nvSpPr>
        <p:spPr bwMode="auto">
          <a:xfrm>
            <a:off x="1567305" y="32315729"/>
            <a:ext cx="2514600" cy="336819"/>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2015</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spTree>
  </p:cSld>
  <p:clrMap bg1="lt1" tx1="dk1" bg2="lt2" tx2="dk2" accent1="accent1" accent2="accent2" accent3="accent3" accent4="accent4" accent5="accent5" accent6="accent6" hlink="hlink" folHlink="folHlink"/>
  <p:sldLayoutIdLst>
    <p:sldLayoutId id="2147483658"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5">
                <a:lumMod val="50000"/>
              </a:schemeClr>
            </a:gs>
            <a:gs pos="34000">
              <a:schemeClr val="tx2">
                <a:lumMod val="40000"/>
                <a:lumOff val="60000"/>
              </a:schemeClr>
            </a:gs>
            <a:gs pos="100000">
              <a:schemeClr val="accent5">
                <a:lumMod val="20000"/>
                <a:lumOff val="80000"/>
              </a:schemeClr>
            </a:gs>
          </a:gsLst>
          <a:lin ang="16200000" scaled="1"/>
          <a:tileRect/>
        </a:gradFill>
        <a:effectLst/>
      </p:bgPr>
    </p:bg>
    <p:spTree>
      <p:nvGrpSpPr>
        <p:cNvPr id="1" name=""/>
        <p:cNvGrpSpPr/>
        <p:nvPr/>
      </p:nvGrpSpPr>
      <p:grpSpPr>
        <a:xfrm>
          <a:off x="0" y="0"/>
          <a:ext cx="0" cy="0"/>
          <a:chOff x="0" y="0"/>
          <a:chExt cx="0" cy="0"/>
        </a:xfrm>
      </p:grpSpPr>
      <p:sp>
        <p:nvSpPr>
          <p:cNvPr id="7" name="Rectangle 36"/>
          <p:cNvSpPr>
            <a:spLocks noChangeArrowheads="1"/>
          </p:cNvSpPr>
          <p:nvPr/>
        </p:nvSpPr>
        <p:spPr bwMode="auto">
          <a:xfrm>
            <a:off x="0" y="0"/>
            <a:ext cx="43891200" cy="4800600"/>
          </a:xfrm>
          <a:prstGeom prst="rect">
            <a:avLst/>
          </a:prstGeom>
          <a:solidFill>
            <a:schemeClr val="accent5">
              <a:lumMod val="75000"/>
            </a:schemeClr>
          </a:solidFill>
          <a:ln w="9525">
            <a:solidFill>
              <a:schemeClr val="tx1"/>
            </a:solidFill>
            <a:miter lim="800000"/>
            <a:headEnd/>
            <a:tailEnd/>
          </a:ln>
          <a:effectLst/>
        </p:spPr>
        <p:txBody>
          <a:bodyPr wrap="none" lIns="91436" tIns="45717" rIns="91436" bIns="45717" anchor="ctr"/>
          <a:lstStyle/>
          <a:p>
            <a:pPr>
              <a:defRPr/>
            </a:pPr>
            <a:endParaRPr lang="en-US" dirty="0"/>
          </a:p>
        </p:txBody>
      </p:sp>
      <p:sp>
        <p:nvSpPr>
          <p:cNvPr id="9" name="Rectangle 9"/>
          <p:cNvSpPr>
            <a:spLocks noChangeArrowheads="1"/>
          </p:cNvSpPr>
          <p:nvPr/>
        </p:nvSpPr>
        <p:spPr bwMode="auto">
          <a:xfrm>
            <a:off x="0" y="4805363"/>
            <a:ext cx="43891200" cy="152400"/>
          </a:xfrm>
          <a:prstGeom prst="rect">
            <a:avLst/>
          </a:prstGeom>
          <a:solidFill>
            <a:schemeClr val="accent5">
              <a:lumMod val="50000"/>
            </a:schemeClr>
          </a:solidFill>
          <a:ln w="152400">
            <a:noFill/>
            <a:miter lim="800000"/>
            <a:headEnd/>
            <a:tailEnd/>
          </a:ln>
          <a:effectLst/>
        </p:spPr>
        <p:txBody>
          <a:bodyPr wrap="none" lIns="91436" tIns="45717" rIns="91436" bIns="45717" anchor="ctr"/>
          <a:lstStyle/>
          <a:p>
            <a:pPr>
              <a:defRPr/>
            </a:pPr>
            <a:endParaRPr lang="en-US" dirty="0"/>
          </a:p>
        </p:txBody>
      </p:sp>
      <p:sp>
        <p:nvSpPr>
          <p:cNvPr id="21" name="Rounded Rectangle 20"/>
          <p:cNvSpPr/>
          <p:nvPr userDrawn="1"/>
        </p:nvSpPr>
        <p:spPr>
          <a:xfrm>
            <a:off x="922338" y="5257800"/>
            <a:ext cx="10050462" cy="26736675"/>
          </a:xfrm>
          <a:prstGeom prst="roundRect">
            <a:avLst>
              <a:gd name="adj" fmla="val 5862"/>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ounded Rectangle 21"/>
          <p:cNvSpPr/>
          <p:nvPr userDrawn="1"/>
        </p:nvSpPr>
        <p:spPr>
          <a:xfrm>
            <a:off x="32918400" y="5257800"/>
            <a:ext cx="10050462" cy="26736675"/>
          </a:xfrm>
          <a:prstGeom prst="roundRect">
            <a:avLst>
              <a:gd name="adj" fmla="val 5862"/>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 Rectangle 22"/>
          <p:cNvSpPr/>
          <p:nvPr userDrawn="1"/>
        </p:nvSpPr>
        <p:spPr>
          <a:xfrm>
            <a:off x="11583194" y="5267325"/>
            <a:ext cx="20724813" cy="26736675"/>
          </a:xfrm>
          <a:prstGeom prst="roundRect">
            <a:avLst>
              <a:gd name="adj" fmla="val 2853"/>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3" name="Group 42"/>
          <p:cNvGrpSpPr/>
          <p:nvPr userDrawn="1"/>
        </p:nvGrpSpPr>
        <p:grpSpPr>
          <a:xfrm>
            <a:off x="44157839" y="-55065"/>
            <a:ext cx="11062139" cy="32973465"/>
            <a:chOff x="44157839" y="-55065"/>
            <a:chExt cx="11062139" cy="32973465"/>
          </a:xfrm>
        </p:grpSpPr>
        <p:sp>
          <p:nvSpPr>
            <p:cNvPr id="44" name="Rectangle 43"/>
            <p:cNvSpPr/>
            <p:nvPr userDrawn="1"/>
          </p:nvSpPr>
          <p:spPr>
            <a:xfrm>
              <a:off x="44157839" y="-55065"/>
              <a:ext cx="11062139" cy="32973465"/>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algn="ctr"/>
              <a:r>
                <a:rPr lang="en-US" sz="4000" b="1" spc="600" dirty="0">
                  <a:solidFill>
                    <a:schemeClr val="bg1"/>
                  </a:solidFill>
                  <a:latin typeface="Trebuchet MS" pitchFamily="34" charset="0"/>
                </a:rPr>
                <a:t>QUICK START (cont.)</a:t>
              </a:r>
            </a:p>
            <a:p>
              <a:pPr algn="ctr"/>
              <a:endParaRPr lang="en-US" sz="3600" b="1"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How to change the template color theme</a:t>
              </a:r>
            </a:p>
            <a:p>
              <a:pPr marL="0" marR="0" lvl="2" indent="0" algn="l" defTabSz="114300" rtl="0" eaLnBrk="1" fontAlgn="auto" latinLnBrk="0" hangingPunct="1">
                <a:lnSpc>
                  <a:spcPct val="100000"/>
                </a:lnSpc>
                <a:spcBef>
                  <a:spcPts val="0"/>
                </a:spcBef>
                <a:spcAft>
                  <a:spcPts val="0"/>
                </a:spcAft>
                <a:buClrTx/>
                <a:buSzTx/>
                <a:buFontTx/>
                <a:buNone/>
                <a:tabLst/>
                <a:defRPr/>
              </a:pPr>
              <a:r>
                <a:rPr lang="en-US" sz="2400" b="0" baseline="0" dirty="0">
                  <a:solidFill>
                    <a:schemeClr val="bg1">
                      <a:lumMod val="75000"/>
                    </a:schemeClr>
                  </a:solidFill>
                  <a:latin typeface="Trebuchet MS" pitchFamily="34" charset="0"/>
                </a:rPr>
                <a:t>You can easily change the color theme of your poster by going to the DESIGN menu, click on COLORS, and choose the color theme of your choice. You can </a:t>
              </a:r>
              <a:r>
                <a:rPr lang="en-US" sz="2400" b="0" spc="0" baseline="0" dirty="0">
                  <a:solidFill>
                    <a:schemeClr val="bg1">
                      <a:lumMod val="75000"/>
                    </a:schemeClr>
                  </a:solidFill>
                  <a:latin typeface="Trebuchet MS" pitchFamily="34" charset="0"/>
                </a:rPr>
                <a:t>also create your own color theme.</a:t>
              </a:r>
            </a:p>
            <a:p>
              <a:pPr marL="0" marR="0" lvl="2" indent="0" algn="l" defTabSz="114300" rtl="0" eaLnBrk="1" fontAlgn="auto" latinLnBrk="0" hangingPunct="1">
                <a:lnSpc>
                  <a:spcPct val="100000"/>
                </a:lnSpc>
                <a:spcBef>
                  <a:spcPts val="0"/>
                </a:spcBef>
                <a:spcAft>
                  <a:spcPts val="0"/>
                </a:spcAft>
                <a:buClrTx/>
                <a:buSzTx/>
                <a:buFontTx/>
                <a:buNone/>
                <a:tabLst/>
                <a:defRPr/>
              </a:pPr>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r>
                <a:rPr lang="en-US" sz="2400" b="0" baseline="0" dirty="0">
                  <a:solidFill>
                    <a:schemeClr val="bg1">
                      <a:lumMod val="75000"/>
                    </a:schemeClr>
                  </a:solidFill>
                  <a:latin typeface="Trebuchet MS" pitchFamily="34" charset="0"/>
                </a:rPr>
                <a:t>You can also manually change the color of your background by going to VIEW &gt; SLIDE MASTER.  After you finish working on the master be sure to go to VIEW &gt; NORMAL to continue working on your poster.</a:t>
              </a:r>
            </a:p>
            <a:p>
              <a:pPr marL="0" indent="0" algn="l" defTabSz="114300"/>
              <a:endParaRPr lang="en-US" sz="2400" b="0" baseline="0" dirty="0">
                <a:solidFill>
                  <a:schemeClr val="bg1">
                    <a:lumMod val="75000"/>
                  </a:schemeClr>
                </a:solidFill>
                <a:latin typeface="Trebuchet MS" pitchFamily="34" charset="0"/>
              </a:endParaRPr>
            </a:p>
            <a:p>
              <a:pPr algn="ctr"/>
              <a:r>
                <a:rPr lang="en-US" sz="3200" b="1" baseline="0" dirty="0">
                  <a:solidFill>
                    <a:srgbClr val="FFC000"/>
                  </a:solidFill>
                  <a:latin typeface="Trebuchet MS" pitchFamily="34" charset="0"/>
                </a:rPr>
                <a:t>How to add Text</a:t>
              </a:r>
            </a:p>
            <a:p>
              <a:pPr marL="3265488" lvl="2" indent="0" algn="l" defTabSz="114300"/>
              <a:r>
                <a:rPr lang="en-US" sz="2400" b="0" baseline="0" dirty="0">
                  <a:solidFill>
                    <a:schemeClr val="bg1">
                      <a:lumMod val="75000"/>
                    </a:schemeClr>
                  </a:solidFill>
                  <a:latin typeface="Trebuchet MS" pitchFamily="34" charset="0"/>
                </a:rPr>
                <a:t>The template comes with a number of pre-formatted placeholders for headers and text blocks. You can add more blocks by copying and pasting the existing ones or by adding a text box from the HOME menu. </a:t>
              </a:r>
            </a:p>
            <a:p>
              <a:pPr marL="1518341" lvl="2" indent="0" algn="l" defTabSz="114300"/>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lang="en-US" sz="2400" b="0" baseline="0" dirty="0">
                  <a:solidFill>
                    <a:schemeClr val="bg1">
                      <a:lumMod val="75000"/>
                    </a:schemeClr>
                  </a:solidFill>
                  <a:latin typeface="Trebuchet MS" pitchFamily="34" charset="0"/>
                </a:rPr>
                <a:t> </a:t>
              </a:r>
              <a:r>
                <a:rPr kumimoji="0" lang="en-US" sz="3200" b="1" i="0" u="none" strike="noStrike" kern="1200" cap="none" spc="0" normalizeH="0" baseline="0" noProof="0" dirty="0">
                  <a:ln>
                    <a:noFill/>
                  </a:ln>
                  <a:solidFill>
                    <a:srgbClr val="FFC000"/>
                  </a:solidFill>
                  <a:effectLst/>
                  <a:uLnTx/>
                  <a:uFillTx/>
                  <a:latin typeface="Trebuchet MS" pitchFamily="34" charset="0"/>
                </a:rPr>
                <a:t>Text size</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Adjust the size of your text based on how much content you have to present. The default template text offers a good starting point. Follow the conference requirements.</a:t>
              </a:r>
              <a:endParaRPr lang="en-US" sz="2400" b="0" baseline="0" dirty="0">
                <a:solidFill>
                  <a:schemeClr val="bg1">
                    <a:lumMod val="75000"/>
                  </a:schemeClr>
                </a:solidFill>
                <a:latin typeface="Trebuchet MS" pitchFamily="34" charset="0"/>
              </a:endParaRPr>
            </a:p>
            <a:p>
              <a:pPr marL="1518341" lvl="2" indent="0" algn="l" defTabSz="114300"/>
              <a:endParaRPr lang="en-US" sz="2400" b="0" baseline="0" dirty="0">
                <a:solidFill>
                  <a:schemeClr val="bg1">
                    <a:lumMod val="75000"/>
                  </a:schemeClr>
                </a:solidFill>
                <a:latin typeface="Trebuchet MS" pitchFamily="34" charset="0"/>
              </a:endParaRPr>
            </a:p>
            <a:p>
              <a:pPr algn="ctr"/>
              <a:r>
                <a:rPr lang="en-US" sz="3200" b="1" baseline="0" dirty="0">
                  <a:solidFill>
                    <a:srgbClr val="FFC000"/>
                  </a:solidFill>
                  <a:latin typeface="Trebuchet MS" pitchFamily="34" charset="0"/>
                </a:rPr>
                <a:t>How to add Tables</a:t>
              </a:r>
            </a:p>
            <a:p>
              <a:pPr marL="1730375" lvl="1" indent="0" algn="l" defTabSz="114300"/>
              <a:r>
                <a:rPr lang="en-US" sz="2400" b="0" baseline="0" dirty="0">
                  <a:solidFill>
                    <a:schemeClr val="bg1">
                      <a:lumMod val="75000"/>
                    </a:schemeClr>
                  </a:solidFill>
                  <a:latin typeface="Trebuchet MS" pitchFamily="34" charset="0"/>
                </a:rPr>
                <a:t>To add a table from scratch go to the INSERT menu and </a:t>
              </a:r>
              <a:br>
                <a:rPr lang="en-US" sz="2400" b="0" baseline="0" dirty="0">
                  <a:solidFill>
                    <a:schemeClr val="bg1">
                      <a:lumMod val="75000"/>
                    </a:schemeClr>
                  </a:solidFill>
                  <a:latin typeface="Trebuchet MS" pitchFamily="34" charset="0"/>
                </a:rPr>
              </a:br>
              <a:r>
                <a:rPr lang="en-US" sz="2400" b="0" baseline="0" dirty="0">
                  <a:solidFill>
                    <a:schemeClr val="bg1">
                      <a:lumMod val="75000"/>
                    </a:schemeClr>
                  </a:solidFill>
                  <a:latin typeface="Trebuchet MS" pitchFamily="34" charset="0"/>
                </a:rPr>
                <a:t>click on TABLE. A drop-down box will help you select rows and columns. </a:t>
              </a:r>
            </a:p>
            <a:p>
              <a:pPr marL="0" lvl="0" indent="0" algn="l" defTabSz="114300"/>
              <a:r>
                <a:rPr lang="en-US" sz="2400" b="0" baseline="0" dirty="0">
                  <a:solidFill>
                    <a:schemeClr val="bg1">
                      <a:lumMod val="75000"/>
                    </a:schemeClr>
                  </a:solidFill>
                  <a:latin typeface="Trebuchet MS" pitchFamily="34" charset="0"/>
                </a:rPr>
                <a:t>You can also copy and a paste a table from Word or another PowerPoint document. A pasted table may need to be re-formatted by RIGHT-CLICK &gt; FORMAT SHAPE, TEXT BOX, Margins.</a:t>
              </a:r>
            </a:p>
            <a:p>
              <a:pPr marL="0" lvl="0" indent="0" algn="l" defTabSz="114300"/>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Graphs / Charts</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You can simply copy and paste charts and graphs from Excel or Word. Some reformatting may be required depending on how the original document has been created.</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How to change the column configuration</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RIGHT-CLICK on the poster background and select LAYOUT to see the column options available for this template. The poster columns can also be customized on the Master. VIEW &gt; MASTER.</a:t>
              </a:r>
            </a:p>
            <a:p>
              <a:pPr marL="0" marR="0" lvl="0" indent="0" algn="ctr" defTabSz="1518341"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srgbClr val="FFC000"/>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How to remove the info bars</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If you are working in PowerPoint for Windows and have finished your poster, save as PDF and the bars will not be included. You can also delete them by going to VIEW &gt; MASTER. On the Mac adjust the Page-Setup to match the Page-Setup in PowerPoint before you create a PDF. You can also delete them from the Slide Master.</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Save your work</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Save your template as a PowerPoint document. For printing, save as PowerPoint or “Print-quality” PDF.</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When you are ready to have your poster printed go online to PosterPresentations.com and click on the “Order Your Poster” button. Choose the poster type the best suits your needs and submit your order. If you submit a PowerPoint document you will be receiving a PDF proof for your approval prior to printing. If your order is placed and paid for before noon, Pacific, Monday through Friday, your order will ship out that same day. Next day, Second day, Third day, and Free Ground services are offered. Go to PosterPresentations.com for more information.</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white">
                    <a:lumMod val="75000"/>
                  </a:prstClr>
                </a:solidFill>
                <a:effectLst/>
                <a:uLnTx/>
                <a:uFillTx/>
                <a:latin typeface="Trebuchet MS" pitchFamily="34" charset="0"/>
              </a:endParaRPr>
            </a:p>
          </p:txBody>
        </p:sp>
        <p:graphicFrame>
          <p:nvGraphicFramePr>
            <p:cNvPr id="45" name="Object 44"/>
            <p:cNvGraphicFramePr>
              <a:graphicFrameLocks noChangeAspect="1"/>
            </p:cNvGraphicFramePr>
            <p:nvPr userDrawn="1">
              <p:extLst>
                <p:ext uri="{D42A27DB-BD31-4B8C-83A1-F6EECF244321}">
                  <p14:modId xmlns:p14="http://schemas.microsoft.com/office/powerpoint/2010/main" val="262704017"/>
                </p:ext>
              </p:extLst>
            </p:nvPr>
          </p:nvGraphicFramePr>
          <p:xfrm>
            <a:off x="46915679" y="3349444"/>
            <a:ext cx="5586150" cy="2063772"/>
          </p:xfrm>
          <a:graphic>
            <a:graphicData uri="http://schemas.openxmlformats.org/presentationml/2006/ole">
              <mc:AlternateContent xmlns:mc="http://schemas.openxmlformats.org/markup-compatibility/2006">
                <mc:Choice xmlns:v="urn:schemas-microsoft-com:vml" Requires="v">
                  <p:oleObj name="Image" r:id="rId3" imgW="4571280" imgH="1688760" progId="Photoshop.Image.13">
                    <p:embed/>
                  </p:oleObj>
                </mc:Choice>
                <mc:Fallback>
                  <p:oleObj name="Image" r:id="rId3" imgW="4571280" imgH="1688760" progId="Photoshop.Image.13">
                    <p:embed/>
                    <p:pic>
                      <p:nvPicPr>
                        <p:cNvPr id="0" name=""/>
                        <p:cNvPicPr/>
                        <p:nvPr/>
                      </p:nvPicPr>
                      <p:blipFill>
                        <a:blip r:embed="rId4"/>
                        <a:stretch>
                          <a:fillRect/>
                        </a:stretch>
                      </p:blipFill>
                      <p:spPr>
                        <a:xfrm>
                          <a:off x="46915679" y="3349444"/>
                          <a:ext cx="5586150" cy="2063772"/>
                        </a:xfrm>
                        <a:prstGeom prst="rect">
                          <a:avLst/>
                        </a:prstGeom>
                      </p:spPr>
                    </p:pic>
                  </p:oleObj>
                </mc:Fallback>
              </mc:AlternateContent>
            </a:graphicData>
          </a:graphic>
        </p:graphicFrame>
        <p:pic>
          <p:nvPicPr>
            <p:cNvPr id="46" name="Picture 45"/>
            <p:cNvPicPr>
              <a:picLocks noChangeAspect="1"/>
            </p:cNvPicPr>
            <p:nvPr userDrawn="1"/>
          </p:nvPicPr>
          <p:blipFill>
            <a:blip r:embed="rId5"/>
            <a:stretch>
              <a:fillRect/>
            </a:stretch>
          </p:blipFill>
          <p:spPr>
            <a:xfrm>
              <a:off x="44621819" y="7740040"/>
              <a:ext cx="2969584" cy="1370577"/>
            </a:xfrm>
            <a:prstGeom prst="rect">
              <a:avLst/>
            </a:prstGeom>
            <a:ln>
              <a:noFill/>
            </a:ln>
          </p:spPr>
        </p:pic>
        <p:graphicFrame>
          <p:nvGraphicFramePr>
            <p:cNvPr id="47" name="Object 46"/>
            <p:cNvGraphicFramePr>
              <a:graphicFrameLocks noChangeAspect="1"/>
            </p:cNvGraphicFramePr>
            <p:nvPr userDrawn="1">
              <p:extLst>
                <p:ext uri="{D42A27DB-BD31-4B8C-83A1-F6EECF244321}">
                  <p14:modId xmlns:p14="http://schemas.microsoft.com/office/powerpoint/2010/main" val="2040245264"/>
                </p:ext>
              </p:extLst>
            </p:nvPr>
          </p:nvGraphicFramePr>
          <p:xfrm>
            <a:off x="44629619" y="12347263"/>
            <a:ext cx="1482266" cy="992162"/>
          </p:xfrm>
          <a:graphic>
            <a:graphicData uri="http://schemas.openxmlformats.org/presentationml/2006/ole">
              <mc:AlternateContent xmlns:mc="http://schemas.openxmlformats.org/markup-compatibility/2006">
                <mc:Choice xmlns:v="urn:schemas-microsoft-com:vml" Requires="v">
                  <p:oleObj name="Image" r:id="rId6" imgW="1574280" imgH="1053720" progId="Photoshop.Image.13">
                    <p:embed/>
                  </p:oleObj>
                </mc:Choice>
                <mc:Fallback>
                  <p:oleObj name="Image" r:id="rId6" imgW="1574280" imgH="1053720" progId="Photoshop.Image.13">
                    <p:embed/>
                    <p:pic>
                      <p:nvPicPr>
                        <p:cNvPr id="0" name=""/>
                        <p:cNvPicPr/>
                        <p:nvPr/>
                      </p:nvPicPr>
                      <p:blipFill>
                        <a:blip r:embed="rId7"/>
                        <a:stretch>
                          <a:fillRect/>
                        </a:stretch>
                      </p:blipFill>
                      <p:spPr>
                        <a:xfrm>
                          <a:off x="44629619" y="12347263"/>
                          <a:ext cx="1482266" cy="992162"/>
                        </a:xfrm>
                        <a:prstGeom prst="rect">
                          <a:avLst/>
                        </a:prstGeom>
                      </p:spPr>
                    </p:pic>
                  </p:oleObj>
                </mc:Fallback>
              </mc:AlternateContent>
            </a:graphicData>
          </a:graphic>
        </p:graphicFrame>
        <p:grpSp>
          <p:nvGrpSpPr>
            <p:cNvPr id="48" name="Group 47"/>
            <p:cNvGrpSpPr/>
            <p:nvPr userDrawn="1"/>
          </p:nvGrpSpPr>
          <p:grpSpPr>
            <a:xfrm>
              <a:off x="44487207" y="29414560"/>
              <a:ext cx="10354213" cy="1265612"/>
              <a:chOff x="44200453" y="28362386"/>
              <a:chExt cx="9771399" cy="1090622"/>
            </a:xfrm>
          </p:grpSpPr>
          <p:sp>
            <p:nvSpPr>
              <p:cNvPr id="50" name="Rounded Rectangle 49"/>
              <p:cNvSpPr/>
              <p:nvPr userDrawn="1"/>
            </p:nvSpPr>
            <p:spPr>
              <a:xfrm>
                <a:off x="44200453" y="28362386"/>
                <a:ext cx="9771398" cy="109062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 name="Picture 7" descr="http://t2.gstatic.com/images?q=tbn:ANd9GcR4APHC6TT9w54M2zn_pvCiBxUNcspYPoVxirLRphBoJabfSvu7zw">
                <a:hlinkClick r:id="rId8"/>
              </p:cNvPr>
              <p:cNvPicPr>
                <a:picLocks noChangeAspect="1" noChangeArrowheads="1"/>
              </p:cNvPicPr>
              <p:nvPr userDrawn="1"/>
            </p:nvPicPr>
            <p:blipFill>
              <a:blip r:embed="rId9" cstate="print"/>
              <a:srcRect/>
              <a:stretch>
                <a:fillRect/>
              </a:stretch>
            </p:blipFill>
            <p:spPr bwMode="auto">
              <a:xfrm>
                <a:off x="44326393" y="28460718"/>
                <a:ext cx="914401" cy="914399"/>
              </a:xfrm>
              <a:prstGeom prst="rect">
                <a:avLst/>
              </a:prstGeom>
              <a:noFill/>
              <a:ln>
                <a:noFill/>
              </a:ln>
            </p:spPr>
          </p:pic>
          <p:sp>
            <p:nvSpPr>
              <p:cNvPr id="52" name="TextBox 51"/>
              <p:cNvSpPr txBox="1"/>
              <p:nvPr userDrawn="1"/>
            </p:nvSpPr>
            <p:spPr>
              <a:xfrm>
                <a:off x="45300663" y="28552305"/>
                <a:ext cx="8671189" cy="716099"/>
              </a:xfrm>
              <a:prstGeom prst="rect">
                <a:avLst/>
              </a:prstGeom>
              <a:noFill/>
              <a:ln>
                <a:noFill/>
              </a:ln>
            </p:spPr>
            <p:txBody>
              <a:bodyPr wrap="square" rtlCol="0">
                <a:spAutoFit/>
              </a:bodyPr>
              <a:lstStyle/>
              <a:p>
                <a:r>
                  <a:rPr lang="en-US" sz="2400" dirty="0">
                    <a:solidFill>
                      <a:schemeClr val="tx2"/>
                    </a:solidFill>
                    <a:latin typeface="Trebuchet MS" pitchFamily="34" charset="0"/>
                  </a:rPr>
                  <a:t>Student</a:t>
                </a:r>
                <a:r>
                  <a:rPr lang="en-US" sz="2400" baseline="0" dirty="0">
                    <a:solidFill>
                      <a:schemeClr val="tx2"/>
                    </a:solidFill>
                    <a:latin typeface="Trebuchet MS" pitchFamily="34" charset="0"/>
                  </a:rPr>
                  <a:t> discounts are available on our </a:t>
                </a:r>
                <a:r>
                  <a:rPr lang="en-US" sz="2400" baseline="0" dirty="0" err="1">
                    <a:solidFill>
                      <a:schemeClr val="tx2"/>
                    </a:solidFill>
                    <a:latin typeface="Trebuchet MS" pitchFamily="34" charset="0"/>
                  </a:rPr>
                  <a:t>Facebook</a:t>
                </a:r>
                <a:r>
                  <a:rPr lang="en-US" sz="2400" baseline="0" dirty="0">
                    <a:solidFill>
                      <a:schemeClr val="tx2"/>
                    </a:solidFill>
                    <a:latin typeface="Trebuchet MS" pitchFamily="34" charset="0"/>
                  </a:rPr>
                  <a:t> page.</a:t>
                </a:r>
                <a:br>
                  <a:rPr lang="en-US" sz="2400" baseline="0" dirty="0">
                    <a:solidFill>
                      <a:schemeClr val="tx2"/>
                    </a:solidFill>
                    <a:latin typeface="Trebuchet MS" pitchFamily="34" charset="0"/>
                  </a:rPr>
                </a:br>
                <a:r>
                  <a:rPr lang="en-US" sz="2400" baseline="0" dirty="0">
                    <a:solidFill>
                      <a:schemeClr val="tx2"/>
                    </a:solidFill>
                    <a:latin typeface="Trebuchet MS" pitchFamily="34" charset="0"/>
                  </a:rPr>
                  <a:t>Go to </a:t>
                </a:r>
                <a:r>
                  <a:rPr lang="en-US" sz="2400" u="sng" baseline="0" dirty="0">
                    <a:solidFill>
                      <a:schemeClr val="tx2"/>
                    </a:solidFill>
                    <a:latin typeface="Trebuchet MS" pitchFamily="34" charset="0"/>
                  </a:rPr>
                  <a:t>PosterPresentations.com</a:t>
                </a:r>
                <a:r>
                  <a:rPr lang="en-US" sz="2400" baseline="0" dirty="0">
                    <a:solidFill>
                      <a:schemeClr val="tx2"/>
                    </a:solidFill>
                    <a:latin typeface="Trebuchet MS" pitchFamily="34" charset="0"/>
                  </a:rPr>
                  <a:t> and click on the FB icon. </a:t>
                </a:r>
                <a:endParaRPr lang="en-US" sz="2400" dirty="0">
                  <a:solidFill>
                    <a:schemeClr val="tx2"/>
                  </a:solidFill>
                  <a:latin typeface="Trebuchet MS" pitchFamily="34" charset="0"/>
                </a:endParaRPr>
              </a:p>
            </p:txBody>
          </p:sp>
        </p:grpSp>
        <p:sp>
          <p:nvSpPr>
            <p:cNvPr id="49" name="TextBox 48"/>
            <p:cNvSpPr txBox="1"/>
            <p:nvPr userDrawn="1"/>
          </p:nvSpPr>
          <p:spPr>
            <a:xfrm>
              <a:off x="44262808" y="31169782"/>
              <a:ext cx="6870215" cy="1399638"/>
            </a:xfrm>
            <a:prstGeom prst="rect">
              <a:avLst/>
            </a:prstGeom>
            <a:noFill/>
          </p:spPr>
          <p:txBody>
            <a:bodyPr wrap="square" lIns="65304" tIns="32651" rIns="65304" bIns="32651" rtlCol="0">
              <a:spAutoFit/>
            </a:bodyPr>
            <a:lstStyle/>
            <a:p>
              <a:pPr>
                <a:lnSpc>
                  <a:spcPts val="2600"/>
                </a:lnSpc>
              </a:pPr>
              <a:r>
                <a:rPr lang="en-US" sz="2800" dirty="0">
                  <a:solidFill>
                    <a:schemeClr val="bg1"/>
                  </a:solidFill>
                </a:rPr>
                <a:t>© 2015</a:t>
              </a:r>
              <a:r>
                <a:rPr lang="en-US" sz="2800" baseline="0" dirty="0">
                  <a:solidFill>
                    <a:schemeClr val="bg1"/>
                  </a:solidFill>
                </a:rPr>
                <a:t> </a:t>
              </a:r>
              <a:r>
                <a:rPr lang="en-US" sz="2800" dirty="0">
                  <a:solidFill>
                    <a:schemeClr val="bg1"/>
                  </a:solidFill>
                </a:rPr>
                <a:t>PosterPresentations.com</a:t>
              </a:r>
              <a:br>
                <a:rPr lang="en-US" sz="2800" dirty="0">
                  <a:solidFill>
                    <a:schemeClr val="bg1"/>
                  </a:solidFill>
                </a:rPr>
              </a:br>
              <a:r>
                <a:rPr lang="en-US" sz="2800" dirty="0">
                  <a:solidFill>
                    <a:schemeClr val="bg1"/>
                  </a:solidFill>
                </a:rPr>
                <a:t>    </a:t>
              </a:r>
              <a:r>
                <a:rPr lang="en-US" sz="2400" dirty="0">
                  <a:solidFill>
                    <a:schemeClr val="bg1"/>
                  </a:solidFill>
                </a:rPr>
                <a:t>2117 Fourth Street ,</a:t>
              </a:r>
              <a:r>
                <a:rPr lang="en-US" sz="2400" baseline="0" dirty="0">
                  <a:solidFill>
                    <a:schemeClr val="bg1"/>
                  </a:solidFill>
                </a:rPr>
                <a:t> Unit C        </a:t>
              </a:r>
            </a:p>
            <a:p>
              <a:pPr>
                <a:lnSpc>
                  <a:spcPts val="2600"/>
                </a:lnSpc>
              </a:pPr>
              <a:r>
                <a:rPr lang="en-US" sz="2400" baseline="0" dirty="0">
                  <a:solidFill>
                    <a:schemeClr val="bg1"/>
                  </a:solidFill>
                </a:rPr>
                <a:t>     Berkeley CA </a:t>
              </a:r>
              <a:r>
                <a:rPr lang="en-US" sz="2000" baseline="0" dirty="0">
                  <a:solidFill>
                    <a:schemeClr val="bg1"/>
                  </a:solidFill>
                </a:rPr>
                <a:t>94710</a:t>
              </a:r>
              <a:br>
                <a:rPr lang="en-US" sz="2400" baseline="0" dirty="0">
                  <a:solidFill>
                    <a:schemeClr val="bg1"/>
                  </a:solidFill>
                </a:rPr>
              </a:br>
              <a:r>
                <a:rPr lang="en-US" sz="2400" baseline="0" dirty="0">
                  <a:solidFill>
                    <a:schemeClr val="bg1"/>
                  </a:solidFill>
                </a:rPr>
                <a:t>    </a:t>
              </a:r>
              <a:r>
                <a:rPr lang="en-US" sz="2400" b="1" baseline="0" dirty="0">
                  <a:solidFill>
                    <a:srgbClr val="FFFF00"/>
                  </a:solidFill>
                </a:rPr>
                <a:t>posterpresenter@gmail.com</a:t>
              </a:r>
              <a:endParaRPr lang="en-US" sz="2800" b="1" dirty="0">
                <a:solidFill>
                  <a:srgbClr val="FFFF00"/>
                </a:solidFill>
              </a:endParaRPr>
            </a:p>
          </p:txBody>
        </p:sp>
      </p:grpSp>
      <p:grpSp>
        <p:nvGrpSpPr>
          <p:cNvPr id="53" name="Group 52"/>
          <p:cNvGrpSpPr/>
          <p:nvPr userDrawn="1"/>
        </p:nvGrpSpPr>
        <p:grpSpPr>
          <a:xfrm>
            <a:off x="-11225189" y="-1"/>
            <a:ext cx="11018865" cy="32918401"/>
            <a:chOff x="-11225189" y="-1"/>
            <a:chExt cx="11018865" cy="32918401"/>
          </a:xfrm>
        </p:grpSpPr>
        <p:sp>
          <p:nvSpPr>
            <p:cNvPr id="54" name="Rectangle 53"/>
            <p:cNvSpPr/>
            <p:nvPr/>
          </p:nvSpPr>
          <p:spPr>
            <a:xfrm>
              <a:off x="-11216136" y="-1"/>
              <a:ext cx="11009812" cy="3291840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marL="0" marR="0" indent="0" algn="ctr" defTabSz="1518341" rtl="0" eaLnBrk="1" fontAlgn="auto" latinLnBrk="0" hangingPunct="1">
                <a:lnSpc>
                  <a:spcPct val="100000"/>
                </a:lnSpc>
                <a:spcBef>
                  <a:spcPts val="0"/>
                </a:spcBef>
                <a:spcAft>
                  <a:spcPts val="0"/>
                </a:spcAft>
                <a:buClrTx/>
                <a:buSzTx/>
                <a:buFontTx/>
                <a:buNone/>
                <a:tabLst/>
                <a:defRPr/>
              </a:pPr>
              <a:r>
                <a:rPr lang="en-US" sz="3200" b="1" spc="0" dirty="0">
                  <a:solidFill>
                    <a:srgbClr val="FF0000"/>
                  </a:solidFill>
                  <a:latin typeface="Trebuchet MS" pitchFamily="34" charset="0"/>
                </a:rPr>
                <a:t>(—THIS SIDEBAR DOES NOT PRINT—)</a:t>
              </a:r>
              <a:endParaRPr lang="en-US" sz="3200" b="1" spc="600" dirty="0">
                <a:solidFill>
                  <a:schemeClr val="bg1"/>
                </a:solidFill>
                <a:latin typeface="Trebuchet MS" pitchFamily="34" charset="0"/>
              </a:endParaRPr>
            </a:p>
            <a:p>
              <a:pPr algn="ctr"/>
              <a:r>
                <a:rPr lang="en-US" sz="4000" b="1" spc="600" dirty="0">
                  <a:solidFill>
                    <a:schemeClr val="bg1"/>
                  </a:solidFill>
                  <a:latin typeface="Trebuchet MS" pitchFamily="34" charset="0"/>
                </a:rPr>
                <a:t>DESIGN</a:t>
              </a:r>
              <a:r>
                <a:rPr lang="en-US" sz="4000" b="1" spc="600" baseline="0" dirty="0">
                  <a:solidFill>
                    <a:schemeClr val="bg1"/>
                  </a:solidFill>
                  <a:latin typeface="Trebuchet MS" pitchFamily="34" charset="0"/>
                </a:rPr>
                <a:t> </a:t>
              </a:r>
              <a:r>
                <a:rPr lang="en-US" sz="4000" b="1" spc="600" dirty="0">
                  <a:solidFill>
                    <a:schemeClr val="bg1"/>
                  </a:solidFill>
                  <a:latin typeface="Trebuchet MS" pitchFamily="34" charset="0"/>
                </a:rPr>
                <a:t>GUIDE</a:t>
              </a:r>
            </a:p>
            <a:p>
              <a:pPr algn="ctr"/>
              <a:endParaRPr lang="en-US" sz="2800" b="1" dirty="0">
                <a:latin typeface="Trebuchet MS" pitchFamily="34" charset="0"/>
              </a:endParaRPr>
            </a:p>
            <a:p>
              <a:pPr defTabSz="3765639"/>
              <a:r>
                <a:rPr lang="en-US" sz="2800" i="0" dirty="0">
                  <a:latin typeface="Trebuchet MS" pitchFamily="34" charset="0"/>
                </a:rPr>
                <a:t>This PowerPoint</a:t>
              </a:r>
              <a:r>
                <a:rPr lang="en-US" sz="2800" i="0" baseline="0" dirty="0">
                  <a:latin typeface="Trebuchet MS" pitchFamily="34" charset="0"/>
                </a:rPr>
                <a:t> </a:t>
              </a:r>
              <a:r>
                <a:rPr lang="en-US" sz="2800" i="0" dirty="0">
                  <a:latin typeface="Trebuchet MS" pitchFamily="34" charset="0"/>
                </a:rPr>
                <a:t>2007 template produces</a:t>
              </a:r>
              <a:r>
                <a:rPr lang="en-US" sz="2800" i="0" baseline="0" dirty="0">
                  <a:latin typeface="Trebuchet MS" pitchFamily="34" charset="0"/>
                </a:rPr>
                <a:t> </a:t>
              </a:r>
              <a:r>
                <a:rPr lang="en-US" sz="2800" i="0" dirty="0">
                  <a:latin typeface="Trebuchet MS" pitchFamily="34" charset="0"/>
                </a:rPr>
                <a:t>a 36”x48” presentation poster. </a:t>
              </a:r>
              <a:r>
                <a:rPr lang="en-US" sz="2800" dirty="0">
                  <a:latin typeface="Trebuchet MS" pitchFamily="34" charset="0"/>
                </a:rPr>
                <a:t>You</a:t>
              </a:r>
              <a:r>
                <a:rPr lang="en-US" sz="2800" baseline="0" dirty="0">
                  <a:latin typeface="Trebuchet MS" pitchFamily="34" charset="0"/>
                </a:rPr>
                <a:t> can u</a:t>
              </a:r>
              <a:r>
                <a:rPr lang="en-US" sz="2800" dirty="0">
                  <a:latin typeface="Trebuchet MS" pitchFamily="34" charset="0"/>
                </a:rPr>
                <a:t>se</a:t>
              </a:r>
              <a:r>
                <a:rPr lang="en-US" sz="2800" baseline="0" dirty="0">
                  <a:latin typeface="Trebuchet MS" pitchFamily="34" charset="0"/>
                </a:rPr>
                <a:t> it to create your research poster and </a:t>
              </a:r>
              <a:r>
                <a:rPr lang="en-US" sz="2800" dirty="0">
                  <a:latin typeface="Trebuchet MS" pitchFamily="34" charset="0"/>
                </a:rPr>
                <a:t>save valuable time placing titles, subtitles,</a:t>
              </a:r>
              <a:r>
                <a:rPr lang="en-US" sz="2800" baseline="0" dirty="0">
                  <a:latin typeface="Trebuchet MS" pitchFamily="34" charset="0"/>
                </a:rPr>
                <a:t> text, and graphics</a:t>
              </a:r>
              <a:r>
                <a:rPr lang="en-US" sz="2800" dirty="0">
                  <a:latin typeface="Trebuchet MS" pitchFamily="34" charset="0"/>
                </a:rPr>
                <a:t>. </a:t>
              </a:r>
            </a:p>
            <a:p>
              <a:pPr defTabSz="3765639"/>
              <a:endParaRPr lang="en-US" sz="2800" dirty="0">
                <a:latin typeface="Trebuchet MS" pitchFamily="34" charset="0"/>
              </a:endParaRPr>
            </a:p>
            <a:p>
              <a:pPr defTabSz="4389219"/>
              <a:r>
                <a:rPr lang="en-US" sz="2800" dirty="0">
                  <a:latin typeface="Trebuchet MS" pitchFamily="34" charset="0"/>
                </a:rPr>
                <a:t>We provide a series of online tutorials that will guide you through the poster design process and answer your poster production questions. To view our template tutorials, go online to </a:t>
              </a:r>
              <a:r>
                <a:rPr lang="en-US" sz="2800" b="1" dirty="0">
                  <a:solidFill>
                    <a:srgbClr val="FFC000"/>
                  </a:solidFill>
                  <a:latin typeface="Trebuchet MS" pitchFamily="34" charset="0"/>
                </a:rPr>
                <a:t>PosterPresentations.com</a:t>
              </a:r>
              <a:r>
                <a:rPr lang="en-US" sz="2800" b="1" dirty="0">
                  <a:solidFill>
                    <a:schemeClr val="bg1"/>
                  </a:solidFill>
                  <a:latin typeface="Trebuchet MS" pitchFamily="34" charset="0"/>
                </a:rPr>
                <a:t> </a:t>
              </a:r>
              <a:r>
                <a:rPr lang="en-US" sz="2800" dirty="0">
                  <a:solidFill>
                    <a:schemeClr val="bg1"/>
                  </a:solidFill>
                  <a:latin typeface="Trebuchet MS" pitchFamily="34" charset="0"/>
                </a:rPr>
                <a:t>and click on HELP DESK.</a:t>
              </a:r>
            </a:p>
            <a:p>
              <a:pPr defTabSz="4389219"/>
              <a:endParaRPr lang="en-US" sz="2800" dirty="0">
                <a:latin typeface="Trebuchet MS" pitchFamily="34" charset="0"/>
              </a:endParaRPr>
            </a:p>
            <a:p>
              <a:pPr defTabSz="4389219"/>
              <a:r>
                <a:rPr lang="en-US" sz="2800" dirty="0">
                  <a:solidFill>
                    <a:schemeClr val="bg1"/>
                  </a:solidFill>
                  <a:latin typeface="Trebuchet MS" pitchFamily="34" charset="0"/>
                </a:rPr>
                <a:t>When</a:t>
              </a:r>
              <a:r>
                <a:rPr lang="en-US" sz="2800" baseline="0" dirty="0">
                  <a:solidFill>
                    <a:schemeClr val="bg1"/>
                  </a:solidFill>
                  <a:latin typeface="Trebuchet MS" pitchFamily="34" charset="0"/>
                </a:rPr>
                <a:t> you are ready to print your poster</a:t>
              </a:r>
              <a:r>
                <a:rPr lang="en-US" sz="2800" dirty="0">
                  <a:solidFill>
                    <a:schemeClr val="bg1"/>
                  </a:solidFill>
                  <a:latin typeface="Trebuchet MS" pitchFamily="34" charset="0"/>
                </a:rPr>
                <a:t>,</a:t>
              </a:r>
              <a:r>
                <a:rPr lang="en-US" sz="2800" baseline="0" dirty="0">
                  <a:solidFill>
                    <a:schemeClr val="bg1"/>
                  </a:solidFill>
                  <a:latin typeface="Trebuchet MS" pitchFamily="34" charset="0"/>
                </a:rPr>
                <a:t> go online to </a:t>
              </a:r>
              <a:r>
                <a:rPr lang="en-US" sz="2800" b="0" dirty="0">
                  <a:solidFill>
                    <a:schemeClr val="bg1"/>
                  </a:solidFill>
                  <a:latin typeface="Trebuchet MS" pitchFamily="34" charset="0"/>
                </a:rPr>
                <a:t>PosterPresentations.com</a:t>
              </a:r>
              <a:br>
                <a:rPr lang="en-US" sz="2800" dirty="0">
                  <a:solidFill>
                    <a:schemeClr val="bg1"/>
                  </a:solidFill>
                  <a:latin typeface="Trebuchet MS" pitchFamily="34" charset="0"/>
                </a:rPr>
              </a:br>
              <a:endParaRPr lang="en-US" sz="2800" dirty="0">
                <a:solidFill>
                  <a:schemeClr val="bg1"/>
                </a:solidFill>
                <a:latin typeface="Trebuchet MS" pitchFamily="34" charset="0"/>
              </a:endParaRPr>
            </a:p>
            <a:p>
              <a:pPr algn="l" defTabSz="3765639"/>
              <a:r>
                <a:rPr lang="en-US" sz="2800" b="0" dirty="0">
                  <a:solidFill>
                    <a:schemeClr val="bg1"/>
                  </a:solidFill>
                  <a:latin typeface="Trebuchet MS" pitchFamily="34" charset="0"/>
                </a:rPr>
                <a:t>Need</a:t>
              </a:r>
              <a:r>
                <a:rPr lang="en-US" sz="2800" b="0" baseline="0" dirty="0">
                  <a:solidFill>
                    <a:schemeClr val="bg1"/>
                  </a:solidFill>
                  <a:latin typeface="Trebuchet MS" pitchFamily="34" charset="0"/>
                </a:rPr>
                <a:t> assistance? Call us at </a:t>
              </a:r>
              <a:r>
                <a:rPr lang="en-US" sz="2800" b="0" dirty="0">
                  <a:solidFill>
                    <a:srgbClr val="FFC000"/>
                  </a:solidFill>
                  <a:latin typeface="Trebuchet MS" pitchFamily="34" charset="0"/>
                </a:rPr>
                <a:t>1.510.649.3001</a:t>
              </a:r>
            </a:p>
            <a:p>
              <a:pPr algn="l" defTabSz="3765639"/>
              <a:endParaRPr lang="en-US" sz="3600" b="1" dirty="0">
                <a:solidFill>
                  <a:srgbClr val="FFFF00"/>
                </a:solidFill>
                <a:latin typeface="Trebuchet MS" pitchFamily="34" charset="0"/>
              </a:endParaRPr>
            </a:p>
            <a:p>
              <a:pPr algn="ctr"/>
              <a:endParaRPr lang="en-US" sz="2400" b="1" dirty="0">
                <a:solidFill>
                  <a:schemeClr val="bg1"/>
                </a:solidFill>
                <a:latin typeface="Trebuchet MS" pitchFamily="34" charset="0"/>
              </a:endParaRPr>
            </a:p>
            <a:p>
              <a:pPr algn="ctr"/>
              <a:r>
                <a:rPr lang="en-US" sz="4000" b="1" spc="600" dirty="0">
                  <a:solidFill>
                    <a:schemeClr val="bg1"/>
                  </a:solidFill>
                  <a:latin typeface="Trebuchet MS" pitchFamily="34" charset="0"/>
                </a:rPr>
                <a:t>QUICK START</a:t>
              </a:r>
            </a:p>
            <a:p>
              <a:pPr algn="ctr"/>
              <a:endParaRPr lang="en-US" sz="3200" b="1"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Zoom in and out</a:t>
              </a:r>
            </a:p>
            <a:p>
              <a:pPr marL="1892300" indent="-1892300" algn="l" defTabSz="850900"/>
              <a:r>
                <a:rPr lang="en-US" sz="2400" b="0" baseline="0" dirty="0">
                  <a:solidFill>
                    <a:schemeClr val="bg1"/>
                  </a:solidFill>
                  <a:latin typeface="Trebuchet MS" pitchFamily="34" charset="0"/>
                </a:rPr>
                <a:t>	</a:t>
              </a:r>
              <a:r>
                <a:rPr lang="en-US" sz="2400" b="0" baseline="0" dirty="0">
                  <a:solidFill>
                    <a:schemeClr val="bg1">
                      <a:lumMod val="75000"/>
                    </a:schemeClr>
                  </a:solidFill>
                  <a:latin typeface="Trebuchet MS" pitchFamily="34" charset="0"/>
                </a:rPr>
                <a:t>As you work on your poster zoom in and out to the level that is more comfortable to you. </a:t>
              </a:r>
            </a:p>
            <a:p>
              <a:pPr marL="1892300" indent="-1892300" algn="l" defTabSz="850900"/>
              <a:r>
                <a:rPr lang="en-US" sz="2400" b="1" baseline="0" dirty="0">
                  <a:solidFill>
                    <a:schemeClr val="bg1">
                      <a:lumMod val="75000"/>
                    </a:schemeClr>
                  </a:solidFill>
                  <a:latin typeface="Trebuchet MS" pitchFamily="34" charset="0"/>
                </a:rPr>
                <a:t>	</a:t>
              </a:r>
              <a:r>
                <a:rPr lang="en-US" sz="2400" b="0" baseline="0" dirty="0">
                  <a:solidFill>
                    <a:schemeClr val="bg1">
                      <a:lumMod val="75000"/>
                    </a:schemeClr>
                  </a:solidFill>
                  <a:latin typeface="Trebuchet MS" pitchFamily="34" charset="0"/>
                </a:rPr>
                <a:t>Go to VIEW &gt; ZOOM.</a:t>
              </a:r>
            </a:p>
            <a:p>
              <a:pPr algn="l"/>
              <a:endParaRPr lang="en-US" sz="2800" b="0"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Title, Authors, and Affiliations</a:t>
              </a:r>
            </a:p>
            <a:p>
              <a:pPr algn="l"/>
              <a:r>
                <a:rPr lang="en-US" sz="2400" b="0" baseline="0" dirty="0">
                  <a:solidFill>
                    <a:schemeClr val="bg1">
                      <a:lumMod val="75000"/>
                    </a:schemeClr>
                  </a:solidFill>
                  <a:latin typeface="Trebuchet MS" pitchFamily="34" charset="0"/>
                </a:rPr>
                <a:t>Start designing your poster by adding the title, the names of the authors, and the affiliated institutions. </a:t>
              </a:r>
              <a:r>
                <a:rPr lang="en-US" sz="2400" b="0" spc="0" baseline="0" dirty="0">
                  <a:solidFill>
                    <a:schemeClr val="bg1">
                      <a:lumMod val="75000"/>
                    </a:schemeClr>
                  </a:solidFill>
                  <a:latin typeface="Trebuchet MS" pitchFamily="34" charset="0"/>
                </a:rPr>
                <a:t>You can type or paste text into the provided boxes. The template will automatically adjust the size of your text to fit the title box. You can manually override this feature and change the size of your text. </a:t>
              </a:r>
            </a:p>
            <a:p>
              <a:pPr algn="l"/>
              <a:endParaRPr lang="en-US" sz="2400" b="0" spc="0" baseline="0" dirty="0">
                <a:solidFill>
                  <a:schemeClr val="bg1">
                    <a:lumMod val="75000"/>
                  </a:schemeClr>
                </a:solidFill>
                <a:latin typeface="Trebuchet MS" pitchFamily="34" charset="0"/>
              </a:endParaRPr>
            </a:p>
            <a:p>
              <a:pPr algn="l"/>
              <a:r>
                <a:rPr lang="en-US" sz="2400" b="1" spc="300" baseline="0" dirty="0">
                  <a:solidFill>
                    <a:srgbClr val="FFC000"/>
                  </a:solidFill>
                  <a:latin typeface="Trebuchet MS" pitchFamily="34" charset="0"/>
                </a:rPr>
                <a:t>TIP</a:t>
              </a:r>
              <a:r>
                <a:rPr lang="en-US" sz="2400" b="1" baseline="0" dirty="0">
                  <a:solidFill>
                    <a:srgbClr val="FFC000"/>
                  </a:solidFill>
                  <a:latin typeface="Trebuchet MS" pitchFamily="34" charset="0"/>
                </a:rPr>
                <a:t>: </a:t>
              </a:r>
              <a:r>
                <a:rPr lang="en-US" sz="2400" b="0" baseline="0" dirty="0">
                  <a:solidFill>
                    <a:schemeClr val="bg1">
                      <a:lumMod val="75000"/>
                    </a:schemeClr>
                  </a:solidFill>
                  <a:latin typeface="Trebuchet MS" pitchFamily="34" charset="0"/>
                </a:rPr>
                <a:t>The font size of your title should be bigger than your name(s) and institution name(s).</a:t>
              </a:r>
            </a:p>
            <a:p>
              <a:pPr algn="l"/>
              <a:br>
                <a:rPr lang="en-US" sz="2800" b="1" baseline="0" dirty="0">
                  <a:solidFill>
                    <a:schemeClr val="bg1"/>
                  </a:solidFill>
                  <a:latin typeface="Trebuchet MS" pitchFamily="34" charset="0"/>
                </a:rPr>
              </a:br>
              <a:endParaRPr lang="en-US" sz="2800" b="1" dirty="0">
                <a:solidFill>
                  <a:schemeClr val="bg1"/>
                </a:solidFill>
                <a:latin typeface="Trebuchet MS" pitchFamily="34" charset="0"/>
              </a:endParaRPr>
            </a:p>
            <a:p>
              <a:pPr algn="ctr"/>
              <a:endParaRPr lang="en-US" sz="2800" b="1" dirty="0">
                <a:solidFill>
                  <a:srgbClr val="FFC000"/>
                </a:solidFill>
                <a:latin typeface="Trebuchet MS" pitchFamily="34" charset="0"/>
              </a:endParaRPr>
            </a:p>
            <a:p>
              <a:pPr algn="ctr"/>
              <a:endParaRPr lang="en-US" sz="2800" b="1" dirty="0">
                <a:solidFill>
                  <a:srgbClr val="FFC000"/>
                </a:solidFill>
                <a:latin typeface="Trebuchet MS" pitchFamily="34" charset="0"/>
              </a:endParaRPr>
            </a:p>
            <a:p>
              <a:pPr algn="ctr"/>
              <a:r>
                <a:rPr lang="en-US" sz="3200" b="1" dirty="0">
                  <a:solidFill>
                    <a:srgbClr val="FFC000"/>
                  </a:solidFill>
                  <a:latin typeface="Trebuchet MS" pitchFamily="34" charset="0"/>
                </a:rPr>
                <a:t>Adding Logos</a:t>
              </a:r>
              <a:r>
                <a:rPr lang="en-US" sz="3200" b="1" baseline="0" dirty="0">
                  <a:solidFill>
                    <a:srgbClr val="FFC000"/>
                  </a:solidFill>
                  <a:latin typeface="Trebuchet MS" pitchFamily="34" charset="0"/>
                </a:rPr>
                <a:t> / Seals</a:t>
              </a:r>
            </a:p>
            <a:p>
              <a:pPr algn="l"/>
              <a:r>
                <a:rPr lang="en-US" sz="2400" b="0" baseline="0" dirty="0">
                  <a:solidFill>
                    <a:schemeClr val="bg1">
                      <a:lumMod val="75000"/>
                    </a:schemeClr>
                  </a:solidFill>
                  <a:latin typeface="Trebuchet MS" pitchFamily="34" charset="0"/>
                </a:rPr>
                <a:t>Most often, logos are added on each side of the title. You can insert a logo by dragging and dropping it from your desktop, copy and paste or by going to INSERT &gt; PICTURES. Logos taken from web sites are likely to be low quality when printed. Zoom it at 100% to see what the logo will look like on the final poster and make any necessary adjustments.  </a:t>
              </a:r>
            </a:p>
            <a:p>
              <a:pPr algn="l"/>
              <a:endParaRPr lang="en-US" sz="2400" b="0" spc="300" baseline="0" dirty="0">
                <a:solidFill>
                  <a:schemeClr val="bg1">
                    <a:lumMod val="75000"/>
                  </a:schemeClr>
                </a:solidFill>
                <a:latin typeface="Trebuchet MS" pitchFamily="34" charset="0"/>
              </a:endParaRPr>
            </a:p>
            <a:p>
              <a:pPr algn="l"/>
              <a:r>
                <a:rPr lang="en-US" sz="2400" b="1" spc="300" baseline="0" dirty="0">
                  <a:solidFill>
                    <a:srgbClr val="FFC000"/>
                  </a:solidFill>
                  <a:latin typeface="Trebuchet MS" pitchFamily="34" charset="0"/>
                </a:rPr>
                <a:t>TIP:</a:t>
              </a:r>
              <a:r>
                <a:rPr lang="en-US" sz="2400" b="1" spc="0" baseline="0" dirty="0">
                  <a:solidFill>
                    <a:srgbClr val="FFC000"/>
                  </a:solidFill>
                  <a:latin typeface="Trebuchet MS" pitchFamily="34" charset="0"/>
                </a:rPr>
                <a:t> </a:t>
              </a:r>
              <a:r>
                <a:rPr lang="en-US" sz="2400" b="0" baseline="0" dirty="0">
                  <a:solidFill>
                    <a:schemeClr val="bg1">
                      <a:lumMod val="75000"/>
                    </a:schemeClr>
                  </a:solidFill>
                  <a:latin typeface="Trebuchet MS" pitchFamily="34" charset="0"/>
                </a:rPr>
                <a:t>See if your school’s logo is available on our free poster templates page.</a:t>
              </a:r>
            </a:p>
            <a:p>
              <a:pPr algn="l"/>
              <a:endParaRPr lang="en-US" sz="2400" b="0" baseline="0" dirty="0">
                <a:latin typeface="Trebuchet MS" pitchFamily="34" charset="0"/>
              </a:endParaRPr>
            </a:p>
            <a:p>
              <a:pPr algn="ctr"/>
              <a:r>
                <a:rPr lang="en-US" sz="3200" b="1" baseline="0" dirty="0">
                  <a:solidFill>
                    <a:srgbClr val="FFC000"/>
                  </a:solidFill>
                  <a:latin typeface="Trebuchet MS" pitchFamily="34" charset="0"/>
                </a:rPr>
                <a:t>Photographs / Graphics</a:t>
              </a:r>
            </a:p>
            <a:p>
              <a:pPr algn="l" defTabSz="977900"/>
              <a:r>
                <a:rPr lang="en-US" sz="2400" b="0" baseline="0" dirty="0">
                  <a:solidFill>
                    <a:schemeClr val="bg1">
                      <a:lumMod val="75000"/>
                    </a:schemeClr>
                  </a:solidFill>
                  <a:latin typeface="Trebuchet MS" pitchFamily="34" charset="0"/>
                </a:rPr>
                <a:t>You can add images by dragging and dropping from your desktop, copy and paste, or by going to INSERT &gt; PICTURES. Resize images proportionally by holding down the SHIFT key and dragging one of the corner handles. For a professional-looking poster, do not distort your images by enlarging them </a:t>
              </a:r>
              <a:r>
                <a:rPr lang="en-US" sz="2400" b="0" spc="0" baseline="0" dirty="0">
                  <a:solidFill>
                    <a:schemeClr val="bg1">
                      <a:lumMod val="75000"/>
                    </a:schemeClr>
                  </a:solidFill>
                  <a:latin typeface="Trebuchet MS" pitchFamily="34" charset="0"/>
                </a:rPr>
                <a:t>disproportionally.</a:t>
              </a:r>
            </a:p>
            <a:p>
              <a:pPr algn="l" defTabSz="977900"/>
              <a:endParaRPr lang="en-US" sz="2400" b="0" baseline="0" dirty="0">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r>
                <a:rPr lang="en-US" sz="3200" b="1" baseline="0" dirty="0">
                  <a:solidFill>
                    <a:srgbClr val="FFC000"/>
                  </a:solidFill>
                  <a:latin typeface="Trebuchet MS" pitchFamily="34" charset="0"/>
                </a:rPr>
                <a:t>Image Quality Check</a:t>
              </a:r>
            </a:p>
            <a:p>
              <a:pPr lvl="0" algn="l" defTabSz="977900"/>
              <a:r>
                <a:rPr lang="en-US" sz="2400" b="0" baseline="0" dirty="0">
                  <a:solidFill>
                    <a:schemeClr val="bg1">
                      <a:lumMod val="75000"/>
                    </a:schemeClr>
                  </a:solidFill>
                  <a:latin typeface="Trebuchet MS" pitchFamily="34" charset="0"/>
                </a:rPr>
                <a:t>Zoom in and look at your images at 100% magnification. If they look good they will print well. </a:t>
              </a:r>
              <a:endParaRPr lang="en-US" sz="2800" b="0" dirty="0">
                <a:latin typeface="Trebuchet MS" pitchFamily="34" charset="0"/>
              </a:endParaRPr>
            </a:p>
          </p:txBody>
        </p:sp>
        <p:cxnSp>
          <p:nvCxnSpPr>
            <p:cNvPr id="55" name="Straight Connector 54"/>
            <p:cNvCxnSpPr/>
            <p:nvPr/>
          </p:nvCxnSpPr>
          <p:spPr>
            <a:xfrm>
              <a:off x="-11225189" y="8422500"/>
              <a:ext cx="10999746" cy="3341"/>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pic>
          <p:nvPicPr>
            <p:cNvPr id="56" name="Picture 55"/>
            <p:cNvPicPr>
              <a:picLocks noChangeAspect="1"/>
            </p:cNvPicPr>
            <p:nvPr userDrawn="1"/>
          </p:nvPicPr>
          <p:blipFill>
            <a:blip r:embed="rId10"/>
            <a:stretch>
              <a:fillRect/>
            </a:stretch>
          </p:blipFill>
          <p:spPr>
            <a:xfrm>
              <a:off x="-10740740" y="10261718"/>
              <a:ext cx="1597666" cy="1201935"/>
            </a:xfrm>
            <a:prstGeom prst="rect">
              <a:avLst/>
            </a:prstGeom>
          </p:spPr>
        </p:pic>
        <p:pic>
          <p:nvPicPr>
            <p:cNvPr id="57" name="Picture 56"/>
            <p:cNvPicPr>
              <a:picLocks noChangeAspect="1"/>
            </p:cNvPicPr>
            <p:nvPr userDrawn="1"/>
          </p:nvPicPr>
          <p:blipFill>
            <a:blip r:embed="rId11"/>
            <a:stretch>
              <a:fillRect/>
            </a:stretch>
          </p:blipFill>
          <p:spPr>
            <a:xfrm>
              <a:off x="-10732765" y="15696927"/>
              <a:ext cx="9986808" cy="1053596"/>
            </a:xfrm>
            <a:prstGeom prst="rect">
              <a:avLst/>
            </a:prstGeom>
          </p:spPr>
        </p:pic>
        <p:grpSp>
          <p:nvGrpSpPr>
            <p:cNvPr id="58" name="Group 57"/>
            <p:cNvGrpSpPr/>
            <p:nvPr userDrawn="1"/>
          </p:nvGrpSpPr>
          <p:grpSpPr>
            <a:xfrm>
              <a:off x="-9744993" y="23540957"/>
              <a:ext cx="7531182" cy="2120439"/>
              <a:chOff x="-4470427" y="11016658"/>
              <a:chExt cx="3470785" cy="974220"/>
            </a:xfrm>
          </p:grpSpPr>
          <p:grpSp>
            <p:nvGrpSpPr>
              <p:cNvPr id="64" name="Group 63"/>
              <p:cNvGrpSpPr/>
              <p:nvPr userDrawn="1"/>
            </p:nvGrpSpPr>
            <p:grpSpPr>
              <a:xfrm>
                <a:off x="-2783495" y="11060886"/>
                <a:ext cx="624431" cy="893535"/>
                <a:chOff x="-3958697" y="11117435"/>
                <a:chExt cx="779338" cy="1280430"/>
              </a:xfrm>
            </p:grpSpPr>
            <p:pic>
              <p:nvPicPr>
                <p:cNvPr id="70" name="Picture 69"/>
                <p:cNvPicPr>
                  <a:picLocks noChangeAspect="1"/>
                </p:cNvPicPr>
                <p:nvPr userDrawn="1"/>
              </p:nvPicPr>
              <p:blipFill>
                <a:blip r:embed="rId12"/>
                <a:stretch>
                  <a:fillRect/>
                </a:stretch>
              </p:blipFill>
              <p:spPr>
                <a:xfrm>
                  <a:off x="-3948160" y="11117435"/>
                  <a:ext cx="768801" cy="1090857"/>
                </a:xfrm>
                <a:prstGeom prst="rect">
                  <a:avLst/>
                </a:prstGeom>
              </p:spPr>
            </p:pic>
            <p:sp>
              <p:nvSpPr>
                <p:cNvPr id="71" name="TextBox 70"/>
                <p:cNvSpPr txBox="1"/>
                <p:nvPr userDrawn="1"/>
              </p:nvSpPr>
              <p:spPr>
                <a:xfrm>
                  <a:off x="-3958697" y="12114178"/>
                  <a:ext cx="779337" cy="283687"/>
                </a:xfrm>
                <a:prstGeom prst="rect">
                  <a:avLst/>
                </a:prstGeom>
                <a:solidFill>
                  <a:schemeClr val="accent1"/>
                </a:solidFill>
                <a:ln>
                  <a:noFill/>
                </a:ln>
              </p:spPr>
              <p:txBody>
                <a:bodyPr wrap="square" lIns="91440" tIns="91440" rIns="91440" bIns="91440" rtlCol="0">
                  <a:spAutoFit/>
                </a:bodyPr>
                <a:lstStyle/>
                <a:p>
                  <a:pPr algn="ctr"/>
                  <a:r>
                    <a:rPr lang="en-US" sz="1600" b="1" dirty="0">
                      <a:solidFill>
                        <a:schemeClr val="tx1"/>
                      </a:solidFill>
                    </a:rPr>
                    <a:t>ORIGINAL</a:t>
                  </a:r>
                </a:p>
              </p:txBody>
            </p:sp>
          </p:grpSp>
          <p:grpSp>
            <p:nvGrpSpPr>
              <p:cNvPr id="65" name="Group 64"/>
              <p:cNvGrpSpPr/>
              <p:nvPr userDrawn="1"/>
            </p:nvGrpSpPr>
            <p:grpSpPr>
              <a:xfrm>
                <a:off x="-2033159" y="11060889"/>
                <a:ext cx="1033517" cy="893529"/>
                <a:chOff x="-2921738" y="11200127"/>
                <a:chExt cx="1420279" cy="1227904"/>
              </a:xfrm>
            </p:grpSpPr>
            <p:pic>
              <p:nvPicPr>
                <p:cNvPr id="68" name="Picture 67"/>
                <p:cNvPicPr>
                  <a:picLocks noChangeAspect="1"/>
                </p:cNvPicPr>
                <p:nvPr userDrawn="1"/>
              </p:nvPicPr>
              <p:blipFill>
                <a:blip r:embed="rId12"/>
                <a:stretch>
                  <a:fillRect/>
                </a:stretch>
              </p:blipFill>
              <p:spPr>
                <a:xfrm>
                  <a:off x="-2921738" y="11200127"/>
                  <a:ext cx="1420279" cy="1029694"/>
                </a:xfrm>
                <a:prstGeom prst="rect">
                  <a:avLst/>
                </a:prstGeom>
              </p:spPr>
            </p:pic>
            <p:sp>
              <p:nvSpPr>
                <p:cNvPr id="69" name="TextBox 68"/>
                <p:cNvSpPr txBox="1"/>
                <p:nvPr userDrawn="1"/>
              </p:nvSpPr>
              <p:spPr>
                <a:xfrm>
                  <a:off x="-2918991" y="12175418"/>
                  <a:ext cx="1417532" cy="252613"/>
                </a:xfrm>
                <a:prstGeom prst="rect">
                  <a:avLst/>
                </a:prstGeom>
                <a:solidFill>
                  <a:srgbClr val="FF0000"/>
                </a:solidFill>
              </p:spPr>
              <p:txBody>
                <a:bodyPr wrap="square" lIns="457200" tIns="91440" rIns="457200" bIns="91440" rtlCol="0">
                  <a:spAutoFit/>
                </a:bodyPr>
                <a:lstStyle/>
                <a:p>
                  <a:pPr algn="ctr"/>
                  <a:r>
                    <a:rPr lang="en-US" sz="1400" b="1" dirty="0">
                      <a:solidFill>
                        <a:schemeClr val="bg1"/>
                      </a:solidFill>
                    </a:rPr>
                    <a:t>DISTORTED</a:t>
                  </a:r>
                  <a:endParaRPr lang="en-US" sz="700" b="1" dirty="0">
                    <a:solidFill>
                      <a:schemeClr val="bg1"/>
                    </a:solidFill>
                  </a:endParaRPr>
                </a:p>
              </p:txBody>
            </p:sp>
          </p:grpSp>
          <p:pic>
            <p:nvPicPr>
              <p:cNvPr id="66" name="Picture 65"/>
              <p:cNvPicPr>
                <a:picLocks noChangeAspect="1"/>
              </p:cNvPicPr>
              <p:nvPr userDrawn="1"/>
            </p:nvPicPr>
            <p:blipFill>
              <a:blip r:embed="rId13"/>
              <a:stretch>
                <a:fillRect/>
              </a:stretch>
            </p:blipFill>
            <p:spPr>
              <a:xfrm>
                <a:off x="-4470427" y="11016658"/>
                <a:ext cx="1098742" cy="847761"/>
              </a:xfrm>
              <a:prstGeom prst="rect">
                <a:avLst/>
              </a:prstGeom>
            </p:spPr>
          </p:pic>
          <p:sp>
            <p:nvSpPr>
              <p:cNvPr id="67" name="TextBox 66"/>
              <p:cNvSpPr txBox="1"/>
              <p:nvPr userDrawn="1"/>
            </p:nvSpPr>
            <p:spPr>
              <a:xfrm>
                <a:off x="-4440600" y="11665645"/>
                <a:ext cx="1035685" cy="325233"/>
              </a:xfrm>
              <a:prstGeom prst="rect">
                <a:avLst/>
              </a:prstGeom>
              <a:noFill/>
            </p:spPr>
            <p:txBody>
              <a:bodyPr wrap="square" lIns="457200" tIns="457200" rIns="457200" bIns="0" rtlCol="0">
                <a:spAutoFit/>
              </a:bodyPr>
              <a:lstStyle/>
              <a:p>
                <a:pPr algn="ctr"/>
                <a:r>
                  <a:rPr lang="en-US" sz="1600" dirty="0">
                    <a:solidFill>
                      <a:schemeClr val="bg1"/>
                    </a:solidFill>
                  </a:rPr>
                  <a:t>Corner</a:t>
                </a:r>
                <a:r>
                  <a:rPr lang="en-US" sz="1600" baseline="0" dirty="0">
                    <a:solidFill>
                      <a:schemeClr val="bg1"/>
                    </a:solidFill>
                  </a:rPr>
                  <a:t> handles</a:t>
                </a:r>
                <a:endParaRPr lang="en-US" sz="1600" dirty="0">
                  <a:solidFill>
                    <a:schemeClr val="bg1"/>
                  </a:solidFill>
                </a:endParaRPr>
              </a:p>
            </p:txBody>
          </p:sp>
        </p:grpSp>
        <p:grpSp>
          <p:nvGrpSpPr>
            <p:cNvPr id="59" name="Group 58"/>
            <p:cNvGrpSpPr/>
            <p:nvPr userDrawn="1"/>
          </p:nvGrpSpPr>
          <p:grpSpPr>
            <a:xfrm>
              <a:off x="-10398793" y="27751410"/>
              <a:ext cx="9323012" cy="2453251"/>
              <a:chOff x="-4754996" y="12734136"/>
              <a:chExt cx="4296559" cy="1127128"/>
            </a:xfrm>
          </p:grpSpPr>
          <p:graphicFrame>
            <p:nvGraphicFramePr>
              <p:cNvPr id="60" name="Object 59"/>
              <p:cNvGraphicFramePr>
                <a:graphicFrameLocks noChangeAspect="1"/>
              </p:cNvGraphicFramePr>
              <p:nvPr userDrawn="1">
                <p:extLst>
                  <p:ext uri="{D42A27DB-BD31-4B8C-83A1-F6EECF244321}">
                    <p14:modId xmlns:p14="http://schemas.microsoft.com/office/powerpoint/2010/main" val="1199812768"/>
                  </p:ext>
                </p:extLst>
              </p:nvPr>
            </p:nvGraphicFramePr>
            <p:xfrm>
              <a:off x="-4533347" y="12734142"/>
              <a:ext cx="1828800" cy="1117600"/>
            </p:xfrm>
            <a:graphic>
              <a:graphicData uri="http://schemas.openxmlformats.org/presentationml/2006/ole">
                <mc:AlternateContent xmlns:mc="http://schemas.openxmlformats.org/markup-compatibility/2006">
                  <mc:Choice xmlns:v="urn:schemas-microsoft-com:vml" Requires="v">
                    <p:oleObj name="Image" r:id="rId14" imgW="1828440" imgH="1117440" progId="Photoshop.Image.13">
                      <p:embed/>
                    </p:oleObj>
                  </mc:Choice>
                  <mc:Fallback>
                    <p:oleObj name="Image" r:id="rId14" imgW="1828440" imgH="1117440" progId="Photoshop.Image.13">
                      <p:embed/>
                      <p:pic>
                        <p:nvPicPr>
                          <p:cNvPr id="0" name=""/>
                          <p:cNvPicPr/>
                          <p:nvPr/>
                        </p:nvPicPr>
                        <p:blipFill>
                          <a:blip r:embed="rId15"/>
                          <a:stretch>
                            <a:fillRect/>
                          </a:stretch>
                        </p:blipFill>
                        <p:spPr>
                          <a:xfrm>
                            <a:off x="-4533347" y="12734142"/>
                            <a:ext cx="1828800" cy="1117600"/>
                          </a:xfrm>
                          <a:prstGeom prst="rect">
                            <a:avLst/>
                          </a:prstGeom>
                        </p:spPr>
                      </p:pic>
                    </p:oleObj>
                  </mc:Fallback>
                </mc:AlternateContent>
              </a:graphicData>
            </a:graphic>
          </p:graphicFrame>
          <p:graphicFrame>
            <p:nvGraphicFramePr>
              <p:cNvPr id="61" name="Object 60"/>
              <p:cNvGraphicFramePr>
                <a:graphicFrameLocks noChangeAspect="1"/>
              </p:cNvGraphicFramePr>
              <p:nvPr userDrawn="1">
                <p:extLst>
                  <p:ext uri="{D42A27DB-BD31-4B8C-83A1-F6EECF244321}">
                    <p14:modId xmlns:p14="http://schemas.microsoft.com/office/powerpoint/2010/main" val="4096349677"/>
                  </p:ext>
                </p:extLst>
              </p:nvPr>
            </p:nvGraphicFramePr>
            <p:xfrm>
              <a:off x="-2456641" y="12737835"/>
              <a:ext cx="1828800" cy="1117600"/>
            </p:xfrm>
            <a:graphic>
              <a:graphicData uri="http://schemas.openxmlformats.org/presentationml/2006/ole">
                <mc:AlternateContent xmlns:mc="http://schemas.openxmlformats.org/markup-compatibility/2006">
                  <mc:Choice xmlns:v="urn:schemas-microsoft-com:vml" Requires="v">
                    <p:oleObj name="Image" r:id="rId16" imgW="1828440" imgH="1117440" progId="Photoshop.Image.13">
                      <p:embed/>
                    </p:oleObj>
                  </mc:Choice>
                  <mc:Fallback>
                    <p:oleObj name="Image" r:id="rId16" imgW="1828440" imgH="1117440" progId="Photoshop.Image.13">
                      <p:embed/>
                      <p:pic>
                        <p:nvPicPr>
                          <p:cNvPr id="0" name=""/>
                          <p:cNvPicPr/>
                          <p:nvPr/>
                        </p:nvPicPr>
                        <p:blipFill>
                          <a:blip r:embed="rId17"/>
                          <a:stretch>
                            <a:fillRect/>
                          </a:stretch>
                        </p:blipFill>
                        <p:spPr>
                          <a:xfrm>
                            <a:off x="-2456641" y="12737835"/>
                            <a:ext cx="1828800" cy="1117600"/>
                          </a:xfrm>
                          <a:prstGeom prst="rect">
                            <a:avLst/>
                          </a:prstGeom>
                        </p:spPr>
                      </p:pic>
                    </p:oleObj>
                  </mc:Fallback>
                </mc:AlternateContent>
              </a:graphicData>
            </a:graphic>
          </p:graphicFrame>
          <p:sp>
            <p:nvSpPr>
              <p:cNvPr id="62" name="TextBox 61"/>
              <p:cNvSpPr txBox="1"/>
              <p:nvPr userDrawn="1"/>
            </p:nvSpPr>
            <p:spPr>
              <a:xfrm rot="16200000">
                <a:off x="-5235785" y="13214925"/>
                <a:ext cx="1117601" cy="156024"/>
              </a:xfrm>
              <a:prstGeom prst="rect">
                <a:avLst/>
              </a:prstGeom>
              <a:noFill/>
            </p:spPr>
            <p:txBody>
              <a:bodyPr wrap="square" lIns="91440" tIns="91440" rIns="91440" bIns="0" rtlCol="0">
                <a:spAutoFit/>
              </a:bodyPr>
              <a:lstStyle/>
              <a:p>
                <a:pPr algn="ctr"/>
                <a:r>
                  <a:rPr lang="en-US" sz="1600" dirty="0">
                    <a:solidFill>
                      <a:srgbClr val="92D050"/>
                    </a:solidFill>
                  </a:rPr>
                  <a:t>Good</a:t>
                </a:r>
                <a:r>
                  <a:rPr lang="en-US" sz="1600" baseline="0" dirty="0">
                    <a:solidFill>
                      <a:srgbClr val="92D050"/>
                    </a:solidFill>
                  </a:rPr>
                  <a:t> </a:t>
                </a:r>
                <a:r>
                  <a:rPr lang="en-US" sz="1600" baseline="0" dirty="0">
                    <a:solidFill>
                      <a:schemeClr val="bg1"/>
                    </a:solidFill>
                  </a:rPr>
                  <a:t>printing quality</a:t>
                </a:r>
                <a:endParaRPr lang="en-US" sz="1600" dirty="0">
                  <a:solidFill>
                    <a:schemeClr val="bg1"/>
                  </a:solidFill>
                </a:endParaRPr>
              </a:p>
            </p:txBody>
          </p:sp>
          <p:sp>
            <p:nvSpPr>
              <p:cNvPr id="63" name="TextBox 62"/>
              <p:cNvSpPr txBox="1"/>
              <p:nvPr userDrawn="1"/>
            </p:nvSpPr>
            <p:spPr>
              <a:xfrm rot="16200000">
                <a:off x="-1095250" y="13224452"/>
                <a:ext cx="1117601" cy="156024"/>
              </a:xfrm>
              <a:prstGeom prst="rect">
                <a:avLst/>
              </a:prstGeom>
              <a:noFill/>
            </p:spPr>
            <p:txBody>
              <a:bodyPr wrap="square" lIns="91440" tIns="91440" rIns="91440" bIns="0" rtlCol="0">
                <a:spAutoFit/>
              </a:bodyPr>
              <a:lstStyle/>
              <a:p>
                <a:pPr algn="ctr"/>
                <a:r>
                  <a:rPr lang="en-US" sz="1600" dirty="0">
                    <a:solidFill>
                      <a:srgbClr val="FF0000"/>
                    </a:solidFill>
                  </a:rPr>
                  <a:t>Bad </a:t>
                </a:r>
                <a:r>
                  <a:rPr lang="en-US" sz="1600" dirty="0">
                    <a:solidFill>
                      <a:schemeClr val="bg1"/>
                    </a:solidFill>
                  </a:rPr>
                  <a:t>printing quality</a:t>
                </a:r>
              </a:p>
            </p:txBody>
          </p:sp>
        </p:grpSp>
      </p:grpSp>
      <p:sp>
        <p:nvSpPr>
          <p:cNvPr id="38" name="Text Box 14"/>
          <p:cNvSpPr txBox="1">
            <a:spLocks noChangeArrowheads="1"/>
          </p:cNvSpPr>
          <p:nvPr userDrawn="1"/>
        </p:nvSpPr>
        <p:spPr bwMode="auto">
          <a:xfrm>
            <a:off x="1567305" y="32315729"/>
            <a:ext cx="2514600" cy="336819"/>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2015</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spTree>
  </p:cSld>
  <p:clrMap bg1="lt1" tx1="dk1" bg2="lt2" tx2="dk2" accent1="accent1" accent2="accent2" accent3="accent3" accent4="accent4" accent5="accent5" accent6="accent6" hlink="hlink" folHlink="folHlink"/>
  <p:sldLayoutIdLst>
    <p:sldLayoutId id="2147483654"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456528" y="6968190"/>
            <a:ext cx="10056813" cy="5001347"/>
          </a:xfrm>
        </p:spPr>
        <p:txBody>
          <a:bodyPr/>
          <a:lstStyle/>
          <a:p>
            <a:r>
              <a:rPr lang="en-US" b="1" dirty="0"/>
              <a:t>PROBLEM DOMAIN AND MOTIVATION</a:t>
            </a:r>
          </a:p>
          <a:p>
            <a:r>
              <a:rPr lang="en-US" dirty="0"/>
              <a:t>As of now, one of the hottest topics of discussion in Ireland is “The Housing Crisis”. To better learn about the issue and study it, I have chosen this topic as my domain and researched. </a:t>
            </a:r>
            <a:r>
              <a:rPr lang="en-GB" dirty="0"/>
              <a:t>The dataset was chosen as it represents the current housing prices and its increase from 2010 to present. Which I think would be very interesting for me to see the analysis.</a:t>
            </a:r>
          </a:p>
          <a:p>
            <a:r>
              <a:rPr lang="en-GB" dirty="0"/>
              <a:t>Retrieved from data.gov.ie (Property Price Register - PPR) The original file had to be pruned by about 50%, as GitHub does not allow to upload larger than 100MB files. </a:t>
            </a:r>
          </a:p>
          <a:p>
            <a:endParaRPr lang="en-GB" dirty="0"/>
          </a:p>
          <a:p>
            <a:endParaRPr lang="en-US" dirty="0"/>
          </a:p>
        </p:txBody>
      </p:sp>
      <p:sp>
        <p:nvSpPr>
          <p:cNvPr id="3" name="Text Placeholder 2"/>
          <p:cNvSpPr>
            <a:spLocks noGrp="1"/>
          </p:cNvSpPr>
          <p:nvPr>
            <p:ph type="body" sz="quarter" idx="11"/>
          </p:nvPr>
        </p:nvSpPr>
        <p:spPr>
          <a:xfrm>
            <a:off x="509578" y="5567992"/>
            <a:ext cx="10048875" cy="1323431"/>
          </a:xfrm>
        </p:spPr>
        <p:txBody>
          <a:bodyPr/>
          <a:lstStyle/>
          <a:p>
            <a:r>
              <a:rPr lang="en-US" dirty="0"/>
              <a:t>Part 1. Description of problem domain, motivation and data set</a:t>
            </a:r>
            <a:endParaRPr lang="en-GB" dirty="0"/>
          </a:p>
        </p:txBody>
      </p:sp>
      <p:sp>
        <p:nvSpPr>
          <p:cNvPr id="4" name="Text Placeholder 3"/>
          <p:cNvSpPr>
            <a:spLocks noGrp="1"/>
          </p:cNvSpPr>
          <p:nvPr>
            <p:ph type="body" sz="quarter" idx="20"/>
          </p:nvPr>
        </p:nvSpPr>
        <p:spPr>
          <a:xfrm>
            <a:off x="509578" y="15747215"/>
            <a:ext cx="10050462" cy="754045"/>
          </a:xfrm>
        </p:spPr>
        <p:txBody>
          <a:bodyPr/>
          <a:lstStyle/>
          <a:p>
            <a:r>
              <a:rPr lang="en-US" dirty="0">
                <a:solidFill>
                  <a:schemeClr val="tx2"/>
                </a:solidFill>
                <a:latin typeface="Arial" panose="020B0604020202020204" pitchFamily="34" charset="0"/>
                <a:cs typeface="Arial" panose="020B0604020202020204" pitchFamily="34" charset="0"/>
              </a:rPr>
              <a:t>Challenges faced</a:t>
            </a:r>
          </a:p>
        </p:txBody>
      </p:sp>
      <p:sp>
        <p:nvSpPr>
          <p:cNvPr id="6" name="Text Placeholder 5"/>
          <p:cNvSpPr>
            <a:spLocks noGrp="1"/>
          </p:cNvSpPr>
          <p:nvPr>
            <p:ph type="body" sz="quarter" idx="22"/>
          </p:nvPr>
        </p:nvSpPr>
        <p:spPr>
          <a:xfrm>
            <a:off x="11347526" y="9133657"/>
            <a:ext cx="10048875" cy="754045"/>
          </a:xfrm>
        </p:spPr>
        <p:txBody>
          <a:bodyPr/>
          <a:lstStyle/>
          <a:p>
            <a:r>
              <a:rPr lang="en-US" dirty="0">
                <a:solidFill>
                  <a:schemeClr val="tx2"/>
                </a:solidFill>
                <a:latin typeface="Arial" panose="020B0604020202020204" pitchFamily="34" charset="0"/>
                <a:cs typeface="Arial" panose="020B0604020202020204" pitchFamily="34" charset="0"/>
              </a:rPr>
              <a:t>RESEARCH PARADIGM</a:t>
            </a:r>
          </a:p>
        </p:txBody>
      </p:sp>
      <p:sp>
        <p:nvSpPr>
          <p:cNvPr id="8" name="Text Placeholder 7"/>
          <p:cNvSpPr>
            <a:spLocks noGrp="1"/>
          </p:cNvSpPr>
          <p:nvPr>
            <p:ph type="body" sz="quarter" idx="24"/>
          </p:nvPr>
        </p:nvSpPr>
        <p:spPr/>
        <p:txBody>
          <a:bodyPr/>
          <a:lstStyle/>
          <a:p>
            <a:r>
              <a:rPr lang="en-US" dirty="0">
                <a:solidFill>
                  <a:schemeClr val="tx2"/>
                </a:solidFill>
                <a:latin typeface="Arial" panose="020B0604020202020204" pitchFamily="34" charset="0"/>
                <a:cs typeface="Arial" panose="020B0604020202020204" pitchFamily="34" charset="0"/>
              </a:rPr>
              <a:t>FINDINGS</a:t>
            </a:r>
          </a:p>
        </p:txBody>
      </p:sp>
      <p:sp>
        <p:nvSpPr>
          <p:cNvPr id="9" name="Text Placeholder 8"/>
          <p:cNvSpPr>
            <a:spLocks noGrp="1"/>
          </p:cNvSpPr>
          <p:nvPr>
            <p:ph type="body" sz="quarter" idx="25"/>
          </p:nvPr>
        </p:nvSpPr>
        <p:spPr>
          <a:xfrm>
            <a:off x="33346443" y="21931197"/>
            <a:ext cx="10047018" cy="677100"/>
          </a:xfrm>
        </p:spPr>
        <p:txBody>
          <a:bodyPr/>
          <a:lstStyle/>
          <a:p>
            <a:r>
              <a:rPr lang="en-US" sz="3200" dirty="0">
                <a:solidFill>
                  <a:schemeClr val="tx2"/>
                </a:solidFill>
                <a:latin typeface="Arial" panose="020B0604020202020204" pitchFamily="34" charset="0"/>
                <a:cs typeface="Arial" panose="020B0604020202020204" pitchFamily="34" charset="0"/>
              </a:rPr>
              <a:t>CONCLUSIONS</a:t>
            </a:r>
          </a:p>
        </p:txBody>
      </p:sp>
      <p:sp>
        <p:nvSpPr>
          <p:cNvPr id="11" name="Text Placeholder 10"/>
          <p:cNvSpPr>
            <a:spLocks noGrp="1"/>
          </p:cNvSpPr>
          <p:nvPr>
            <p:ph type="body" sz="quarter" idx="27"/>
          </p:nvPr>
        </p:nvSpPr>
        <p:spPr>
          <a:xfrm>
            <a:off x="33392567" y="28504101"/>
            <a:ext cx="10047018" cy="754045"/>
          </a:xfrm>
        </p:spPr>
        <p:txBody>
          <a:bodyPr/>
          <a:lstStyle/>
          <a:p>
            <a:r>
              <a:rPr lang="en-US" dirty="0">
                <a:solidFill>
                  <a:schemeClr val="tx2"/>
                </a:solidFill>
                <a:latin typeface="Arial" panose="020B0604020202020204" pitchFamily="34" charset="0"/>
                <a:cs typeface="Arial" panose="020B0604020202020204" pitchFamily="34" charset="0"/>
              </a:rPr>
              <a:t>REFERENCES</a:t>
            </a:r>
          </a:p>
        </p:txBody>
      </p:sp>
      <p:sp>
        <p:nvSpPr>
          <p:cNvPr id="16" name="Text Placeholder 15"/>
          <p:cNvSpPr>
            <a:spLocks noGrp="1"/>
          </p:cNvSpPr>
          <p:nvPr>
            <p:ph type="body" sz="quarter" idx="150"/>
          </p:nvPr>
        </p:nvSpPr>
        <p:spPr/>
        <p:txBody>
          <a:bodyPr>
            <a:normAutofit/>
          </a:bodyPr>
          <a:lstStyle/>
          <a:p>
            <a:r>
              <a:rPr lang="en-US" sz="4800" b="1" dirty="0">
                <a:latin typeface="Arial" panose="020B0604020202020204" pitchFamily="34" charset="0"/>
                <a:cs typeface="Arial" panose="020B0604020202020204" pitchFamily="34" charset="0"/>
              </a:rPr>
              <a:t>Graham Glanville, CCT College Dublin / University of Hertfordshire (</a:t>
            </a:r>
            <a:r>
              <a:rPr lang="en-US" sz="4800" b="1" dirty="0" err="1">
                <a:latin typeface="Arial" panose="020B0604020202020204" pitchFamily="34" charset="0"/>
                <a:cs typeface="Arial" panose="020B0604020202020204" pitchFamily="34" charset="0"/>
              </a:rPr>
              <a:t>EdD</a:t>
            </a:r>
            <a:r>
              <a:rPr lang="en-US" sz="4800" b="1" dirty="0">
                <a:latin typeface="Arial" panose="020B0604020202020204" pitchFamily="34" charset="0"/>
                <a:cs typeface="Arial" panose="020B0604020202020204" pitchFamily="34" charset="0"/>
              </a:rPr>
              <a:t> Cohort 9), May 2019</a:t>
            </a:r>
          </a:p>
        </p:txBody>
      </p:sp>
      <p:sp>
        <p:nvSpPr>
          <p:cNvPr id="18" name="Text Placeholder 17"/>
          <p:cNvSpPr>
            <a:spLocks noGrp="1"/>
          </p:cNvSpPr>
          <p:nvPr>
            <p:ph type="body" sz="quarter" idx="153"/>
          </p:nvPr>
        </p:nvSpPr>
        <p:spPr>
          <a:xfrm>
            <a:off x="509578" y="817503"/>
            <a:ext cx="42901013" cy="2277387"/>
          </a:xfrm>
        </p:spPr>
        <p:txBody>
          <a:bodyPr>
            <a:normAutofit fontScale="55000" lnSpcReduction="20000"/>
          </a:bodyPr>
          <a:lstStyle/>
          <a:p>
            <a:r>
              <a:rPr lang="en-US" b="1" cap="small" dirty="0">
                <a:latin typeface="Arial" panose="020B0604020202020204" pitchFamily="34" charset="0"/>
                <a:cs typeface="Arial" panose="020B0604020202020204" pitchFamily="34" charset="0"/>
              </a:rPr>
              <a:t>Cultivating Academic Self-Efficacy through supportive social and self-regulated learning strategies </a:t>
            </a:r>
          </a:p>
          <a:p>
            <a:r>
              <a:rPr lang="en-US" b="1" cap="small" dirty="0">
                <a:latin typeface="Arial" panose="020B0604020202020204" pitchFamily="34" charset="0"/>
                <a:cs typeface="Arial" panose="020B0604020202020204" pitchFamily="34" charset="0"/>
              </a:rPr>
              <a:t>for students in higher education</a:t>
            </a:r>
            <a:endParaRPr lang="en-IE" b="1" cap="small" dirty="0">
              <a:latin typeface="Arial" panose="020B0604020202020204" pitchFamily="34" charset="0"/>
              <a:cs typeface="Arial" panose="020B0604020202020204" pitchFamily="34" charset="0"/>
            </a:endParaRPr>
          </a:p>
          <a:p>
            <a:endParaRPr lang="en-US" dirty="0">
              <a:latin typeface="+mn-lt"/>
            </a:endParaRPr>
          </a:p>
        </p:txBody>
      </p:sp>
      <p:pic>
        <p:nvPicPr>
          <p:cNvPr id="20" name="Picture 19"/>
          <p:cNvPicPr/>
          <p:nvPr/>
        </p:nvPicPr>
        <p:blipFill>
          <a:blip r:embed="rId3"/>
          <a:stretch>
            <a:fillRect/>
          </a:stretch>
        </p:blipFill>
        <p:spPr>
          <a:xfrm>
            <a:off x="11564480" y="19170327"/>
            <a:ext cx="9795691" cy="6370877"/>
          </a:xfrm>
          <a:prstGeom prst="rect">
            <a:avLst/>
          </a:prstGeom>
          <a:ln w="12700">
            <a:solidFill>
              <a:schemeClr val="tx1"/>
            </a:solidFill>
          </a:ln>
        </p:spPr>
      </p:pic>
      <p:pic>
        <p:nvPicPr>
          <p:cNvPr id="22" name="Picture 21"/>
          <p:cNvPicPr/>
          <p:nvPr/>
        </p:nvPicPr>
        <p:blipFill>
          <a:blip r:embed="rId4"/>
          <a:stretch>
            <a:fillRect/>
          </a:stretch>
        </p:blipFill>
        <p:spPr>
          <a:xfrm>
            <a:off x="11573593" y="9728372"/>
            <a:ext cx="9795691" cy="7450859"/>
          </a:xfrm>
          <a:prstGeom prst="rect">
            <a:avLst/>
          </a:prstGeom>
          <a:ln w="12700">
            <a:solidFill>
              <a:schemeClr val="tx1"/>
            </a:solidFill>
          </a:ln>
        </p:spPr>
      </p:pic>
      <p:pic>
        <p:nvPicPr>
          <p:cNvPr id="4098"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408415" y="10820362"/>
            <a:ext cx="9841664" cy="522365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392567" y="16426199"/>
            <a:ext cx="9857512" cy="52482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0"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401443" y="17642446"/>
            <a:ext cx="9965607" cy="70631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7" name="Text Placeholder 6"/>
          <p:cNvSpPr>
            <a:spLocks noGrp="1"/>
          </p:cNvSpPr>
          <p:nvPr>
            <p:ph type="body" sz="quarter" idx="23"/>
          </p:nvPr>
        </p:nvSpPr>
        <p:spPr>
          <a:xfrm>
            <a:off x="22414720" y="11807392"/>
            <a:ext cx="10048874" cy="846363"/>
          </a:xfrm>
        </p:spPr>
        <p:txBody>
          <a:bodyPr/>
          <a:lstStyle/>
          <a:p>
            <a:r>
              <a:rPr lang="en-US" i="1" u="sng" dirty="0">
                <a:latin typeface="Arial" panose="020B0604020202020204" pitchFamily="34" charset="0"/>
                <a:cs typeface="Arial" panose="020B0604020202020204" pitchFamily="34" charset="0"/>
              </a:rPr>
              <a:t>Student Engagement</a:t>
            </a:r>
          </a:p>
        </p:txBody>
      </p:sp>
      <p:sp>
        <p:nvSpPr>
          <p:cNvPr id="28" name="Text Placeholder 6"/>
          <p:cNvSpPr>
            <a:spLocks noGrp="1"/>
          </p:cNvSpPr>
          <p:nvPr>
            <p:ph type="body" sz="quarter" idx="23"/>
          </p:nvPr>
        </p:nvSpPr>
        <p:spPr>
          <a:xfrm>
            <a:off x="22415504" y="6392906"/>
            <a:ext cx="10048874" cy="846363"/>
          </a:xfrm>
        </p:spPr>
        <p:txBody>
          <a:bodyPr/>
          <a:lstStyle/>
          <a:p>
            <a:r>
              <a:rPr lang="en-US" i="1" u="sng" dirty="0">
                <a:latin typeface="Arial" panose="020B0604020202020204" pitchFamily="34" charset="0"/>
                <a:cs typeface="Arial" panose="020B0604020202020204" pitchFamily="34" charset="0"/>
              </a:rPr>
              <a:t>Reflective Learning</a:t>
            </a:r>
          </a:p>
        </p:txBody>
      </p:sp>
      <p:sp>
        <p:nvSpPr>
          <p:cNvPr id="29" name="Text Placeholder 6"/>
          <p:cNvSpPr>
            <a:spLocks noGrp="1"/>
          </p:cNvSpPr>
          <p:nvPr>
            <p:ph type="body" sz="quarter" idx="23"/>
          </p:nvPr>
        </p:nvSpPr>
        <p:spPr>
          <a:xfrm>
            <a:off x="22401444" y="25388262"/>
            <a:ext cx="10048874" cy="846363"/>
          </a:xfrm>
        </p:spPr>
        <p:txBody>
          <a:bodyPr/>
          <a:lstStyle/>
          <a:p>
            <a:r>
              <a:rPr lang="en-US" i="1" u="sng" dirty="0">
                <a:latin typeface="Arial" panose="020B0604020202020204" pitchFamily="34" charset="0"/>
                <a:cs typeface="Arial" panose="020B0604020202020204" pitchFamily="34" charset="0"/>
              </a:rPr>
              <a:t>Social Learning (PBL and PAL activities)</a:t>
            </a:r>
          </a:p>
        </p:txBody>
      </p:sp>
      <p:sp>
        <p:nvSpPr>
          <p:cNvPr id="30" name="Text Placeholder 6"/>
          <p:cNvSpPr>
            <a:spLocks noGrp="1"/>
          </p:cNvSpPr>
          <p:nvPr>
            <p:ph type="body" sz="quarter" idx="23"/>
          </p:nvPr>
        </p:nvSpPr>
        <p:spPr>
          <a:xfrm>
            <a:off x="33371596" y="5536712"/>
            <a:ext cx="10048874" cy="846363"/>
          </a:xfrm>
        </p:spPr>
        <p:txBody>
          <a:bodyPr/>
          <a:lstStyle/>
          <a:p>
            <a:r>
              <a:rPr lang="en-US" i="1" u="sng" dirty="0">
                <a:solidFill>
                  <a:schemeClr val="tx2"/>
                </a:solidFill>
                <a:latin typeface="Arial" panose="020B0604020202020204" pitchFamily="34" charset="0"/>
                <a:cs typeface="Arial" panose="020B0604020202020204" pitchFamily="34" charset="0"/>
              </a:rPr>
              <a:t>Self Efficacy</a:t>
            </a:r>
          </a:p>
        </p:txBody>
      </p:sp>
      <p:sp>
        <p:nvSpPr>
          <p:cNvPr id="31" name="Text Placeholder 11"/>
          <p:cNvSpPr>
            <a:spLocks noGrp="1"/>
          </p:cNvSpPr>
          <p:nvPr>
            <p:ph type="body" sz="quarter" idx="28"/>
          </p:nvPr>
        </p:nvSpPr>
        <p:spPr>
          <a:xfrm>
            <a:off x="33382622" y="6056596"/>
            <a:ext cx="10052050" cy="4693570"/>
          </a:xfrm>
        </p:spPr>
        <p:txBody>
          <a:bodyPr/>
          <a:lstStyle/>
          <a:p>
            <a:r>
              <a:rPr lang="en-IE" dirty="0">
                <a:solidFill>
                  <a:schemeClr val="tx1"/>
                </a:solidFill>
                <a:latin typeface="Arial" panose="020B0604020202020204" pitchFamily="34" charset="0"/>
                <a:cs typeface="Arial" panose="020B0604020202020204" pitchFamily="34" charset="0"/>
              </a:rPr>
              <a:t>Participants were provided a self-efficacy questionnaire, based on a approach suggested by Bandura (2006), to complete at the start and end of a semester. A social learning intervention was introduced to a treatment group, and the overall self-efficacy group score comparison revealed very little, other than a slight increase in the treatment group score.  However, a significant finding was found when comparing the final four questions measuring the perceived ability to work within a group. To illustrate this, the first figure below represents the start of semester self-efficacy group score for both groups, followed by the second figure representing the end of semester self-efficacy score reversal.</a:t>
            </a:r>
            <a:endParaRPr lang="en-US" dirty="0">
              <a:solidFill>
                <a:schemeClr val="tx1"/>
              </a:solidFill>
              <a:latin typeface="Arial" panose="020B0604020202020204" pitchFamily="34" charset="0"/>
              <a:cs typeface="Arial" panose="020B0604020202020204" pitchFamily="34" charset="0"/>
            </a:endParaRPr>
          </a:p>
        </p:txBody>
      </p:sp>
      <p:sp>
        <p:nvSpPr>
          <p:cNvPr id="32" name="Content Placeholder 2"/>
          <p:cNvSpPr txBox="1">
            <a:spLocks/>
          </p:cNvSpPr>
          <p:nvPr/>
        </p:nvSpPr>
        <p:spPr>
          <a:xfrm>
            <a:off x="718249" y="16692650"/>
            <a:ext cx="9397301" cy="2787077"/>
          </a:xfrm>
          <a:prstGeom prst="rect">
            <a:avLst/>
          </a:prstGeom>
        </p:spPr>
        <p:txBody>
          <a:bodyPr>
            <a:noAutofit/>
          </a:bodyPr>
          <a:lst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marL="457200" indent="-457200">
              <a:buFont typeface="+mj-lt"/>
              <a:buAutoNum type="arabicPeriod"/>
            </a:pPr>
            <a:r>
              <a:rPr lang="en-GB" sz="2400" dirty="0">
                <a:latin typeface="Arial" panose="020B0604020202020204" pitchFamily="34" charset="0"/>
                <a:cs typeface="Arial" panose="020B0604020202020204" pitchFamily="34" charset="0"/>
              </a:rPr>
              <a:t>The file is Windows-1252, so the € sign breaks a normal read.</a:t>
            </a:r>
          </a:p>
          <a:p>
            <a:pPr marL="457200" indent="-457200">
              <a:buFont typeface="+mj-lt"/>
              <a:buAutoNum type="arabicPeriod"/>
            </a:pPr>
            <a:r>
              <a:rPr lang="en-GB" sz="2400" dirty="0">
                <a:latin typeface="Arial" panose="020B0604020202020204" pitchFamily="34" charset="0"/>
                <a:cs typeface="Arial" panose="020B0604020202020204" pitchFamily="34" charset="0"/>
              </a:rPr>
              <a:t>Price stored as text, it has to be converted to a number.</a:t>
            </a:r>
          </a:p>
          <a:p>
            <a:pPr marL="457200" indent="-457200">
              <a:buFont typeface="+mj-lt"/>
              <a:buAutoNum type="arabicPeriod"/>
            </a:pPr>
            <a:r>
              <a:rPr lang="en-GB" sz="2400" dirty="0">
                <a:latin typeface="Arial" panose="020B0604020202020204" pitchFamily="34" charset="0"/>
                <a:cs typeface="Arial" panose="020B0604020202020204" pitchFamily="34" charset="0"/>
              </a:rPr>
              <a:t>Missing data, two columns are mostly empty.</a:t>
            </a:r>
          </a:p>
          <a:p>
            <a:pPr marL="457200" indent="-457200">
              <a:buFont typeface="+mj-lt"/>
              <a:buAutoNum type="arabicPeriod"/>
            </a:pPr>
            <a:r>
              <a:rPr lang="en-GB" sz="2400" dirty="0">
                <a:latin typeface="Arial" panose="020B0604020202020204" pitchFamily="34" charset="0"/>
                <a:cs typeface="Arial" panose="020B0604020202020204" pitchFamily="34" charset="0"/>
              </a:rPr>
              <a:t>Non-market sales, some prices don’t reflect real market value.</a:t>
            </a:r>
          </a:p>
          <a:p>
            <a:pPr marL="457200" indent="-457200">
              <a:buFont typeface="+mj-lt"/>
              <a:buAutoNum type="arabicPeriod"/>
            </a:pPr>
            <a:r>
              <a:rPr lang="en-GB" sz="2400" dirty="0">
                <a:latin typeface="Arial" panose="020B0604020202020204" pitchFamily="34" charset="0"/>
                <a:cs typeface="Arial" panose="020B0604020202020204" pitchFamily="34" charset="0"/>
              </a:rPr>
              <a:t>Extreme outliers, prices run from about €5k to €251m.</a:t>
            </a:r>
          </a:p>
          <a:p>
            <a:pPr marL="457200" indent="-457200">
              <a:buFont typeface="+mj-lt"/>
              <a:buAutoNum type="arabicPeriod"/>
            </a:pPr>
            <a:r>
              <a:rPr lang="en-GB" sz="2400" dirty="0">
                <a:latin typeface="Arial" panose="020B0604020202020204" pitchFamily="34" charset="0"/>
                <a:cs typeface="Arial" panose="020B0604020202020204" pitchFamily="34" charset="0"/>
              </a:rPr>
              <a:t>Skewed prices, a few very expensive sales pull the average up.</a:t>
            </a:r>
          </a:p>
          <a:p>
            <a:pPr marL="457200" indent="-457200">
              <a:buFont typeface="+mj-lt"/>
              <a:buAutoNum type="arabicPeriod"/>
            </a:pPr>
            <a:endParaRPr lang="en-IE" sz="2400" dirty="0">
              <a:latin typeface="Arial" panose="020B0604020202020204" pitchFamily="34" charset="0"/>
              <a:cs typeface="Arial" panose="020B0604020202020204" pitchFamily="34" charset="0"/>
            </a:endParaRPr>
          </a:p>
        </p:txBody>
      </p:sp>
      <p:sp>
        <p:nvSpPr>
          <p:cNvPr id="25" name="Rectangle 24"/>
          <p:cNvSpPr/>
          <p:nvPr/>
        </p:nvSpPr>
        <p:spPr>
          <a:xfrm>
            <a:off x="1543050" y="32318325"/>
            <a:ext cx="2828925" cy="43815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36" name="Content Placeholder 2"/>
          <p:cNvSpPr txBox="1">
            <a:spLocks/>
          </p:cNvSpPr>
          <p:nvPr/>
        </p:nvSpPr>
        <p:spPr>
          <a:xfrm>
            <a:off x="22534004" y="7077748"/>
            <a:ext cx="9795691" cy="5522693"/>
          </a:xfrm>
          <a:prstGeom prst="rect">
            <a:avLst/>
          </a:prstGeom>
        </p:spPr>
        <p:txBody>
          <a:bodyPr>
            <a:noAutofit/>
          </a:bodyPr>
          <a:lst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marL="0" indent="0">
              <a:buNone/>
            </a:pPr>
            <a:r>
              <a:rPr lang="en-IE" sz="2500" dirty="0"/>
              <a:t>A reflective learning journal was provided to student participants in two of the action research studies, participants were asked to complete this journal on a weekly basis over the course of a semester.  There was mixed opinions on the use of the journal, with the majority questioning its usefulness.  Students were not convinced of the benefits of using the journal over a long period of time, and found the activity a burden in some cases.  Some viewed it as a piece of additional assessment that had no grade, furthering most to question the benefits.   While some positive benefits were noticed, careful consideration is required if using such a tool for a class cohort, some individuals seemed to adapt better to this type of journaling activity than others.   </a:t>
            </a:r>
          </a:p>
        </p:txBody>
      </p:sp>
      <p:sp>
        <p:nvSpPr>
          <p:cNvPr id="38" name="Text Placeholder 11"/>
          <p:cNvSpPr>
            <a:spLocks noGrp="1"/>
          </p:cNvSpPr>
          <p:nvPr>
            <p:ph type="body" sz="quarter" idx="28"/>
          </p:nvPr>
        </p:nvSpPr>
        <p:spPr>
          <a:xfrm>
            <a:off x="22407466" y="25936012"/>
            <a:ext cx="10052050" cy="6490985"/>
          </a:xfrm>
        </p:spPr>
        <p:txBody>
          <a:bodyPr/>
          <a:lstStyle/>
          <a:p>
            <a:r>
              <a:rPr lang="en-IE" dirty="0">
                <a:solidFill>
                  <a:schemeClr val="tx1"/>
                </a:solidFill>
                <a:latin typeface="Arial" panose="020B0604020202020204" pitchFamily="34" charset="0"/>
                <a:cs typeface="Arial" panose="020B0604020202020204" pitchFamily="34" charset="0"/>
              </a:rPr>
              <a:t>Problem Based Learning (PBL) and Peer Assisted Learning (PAL) were introduced to a treatment group over the course of a semester.  The quotes below represent a small sample of the overall positive feedback the participants expressed in terms of their enjoyment in participating in groups when solving programming problems:</a:t>
            </a:r>
          </a:p>
          <a:p>
            <a:endParaRPr lang="en-IE" dirty="0">
              <a:solidFill>
                <a:schemeClr val="tx1"/>
              </a:solidFill>
              <a:latin typeface="Arial" panose="020B0604020202020204" pitchFamily="34" charset="0"/>
              <a:cs typeface="Arial" panose="020B0604020202020204" pitchFamily="34" charset="0"/>
            </a:endParaRPr>
          </a:p>
          <a:p>
            <a:r>
              <a:rPr lang="en-IE" sz="1600" i="1" dirty="0">
                <a:solidFill>
                  <a:schemeClr val="tx1"/>
                </a:solidFill>
                <a:latin typeface="Arial" panose="020B0604020202020204" pitchFamily="34" charset="0"/>
                <a:cs typeface="Arial" panose="020B0604020202020204" pitchFamily="34" charset="0"/>
              </a:rPr>
              <a:t>“I learned I can work in a group. Although I most of the times would rather work alone, working in a group does make problem solving a lot easier”.</a:t>
            </a:r>
          </a:p>
          <a:p>
            <a:endParaRPr lang="en-IE" sz="1600" i="1" dirty="0">
              <a:solidFill>
                <a:schemeClr val="tx1"/>
              </a:solidFill>
              <a:latin typeface="Arial" panose="020B0604020202020204" pitchFamily="34" charset="0"/>
              <a:cs typeface="Arial" panose="020B0604020202020204" pitchFamily="34" charset="0"/>
            </a:endParaRPr>
          </a:p>
          <a:p>
            <a:r>
              <a:rPr lang="en-IE" sz="1600" i="1" dirty="0">
                <a:solidFill>
                  <a:schemeClr val="tx1"/>
                </a:solidFill>
                <a:latin typeface="Arial" panose="020B0604020202020204" pitchFamily="34" charset="0"/>
                <a:cs typeface="Arial" panose="020B0604020202020204" pitchFamily="34" charset="0"/>
              </a:rPr>
              <a:t>“I enjoy programming but I’m 100% aware that my planning skills are way better than my programming skills. I wish we had more opportunities like this one to practice”.</a:t>
            </a:r>
          </a:p>
          <a:p>
            <a:endParaRPr lang="en-IE" sz="1600" i="1" dirty="0">
              <a:solidFill>
                <a:schemeClr val="tx1"/>
              </a:solidFill>
              <a:latin typeface="Arial" panose="020B0604020202020204" pitchFamily="34" charset="0"/>
              <a:cs typeface="Arial" panose="020B0604020202020204" pitchFamily="34" charset="0"/>
            </a:endParaRPr>
          </a:p>
          <a:p>
            <a:r>
              <a:rPr lang="en-IE" sz="1600" i="1" dirty="0">
                <a:solidFill>
                  <a:schemeClr val="tx1"/>
                </a:solidFill>
                <a:latin typeface="Arial" panose="020B0604020202020204" pitchFamily="34" charset="0"/>
                <a:cs typeface="Arial" panose="020B0604020202020204" pitchFamily="34" charset="0"/>
              </a:rPr>
              <a:t>“Really enjoyable as I am better working with people.  (I’m a really nervous person and individual evaluations makes me so nervous that I cannot concentrate)”.</a:t>
            </a:r>
          </a:p>
          <a:p>
            <a:endParaRPr lang="en-IE" sz="1600" i="1" dirty="0">
              <a:solidFill>
                <a:schemeClr val="tx1"/>
              </a:solidFill>
              <a:latin typeface="Arial" panose="020B0604020202020204" pitchFamily="34" charset="0"/>
              <a:cs typeface="Arial" panose="020B0604020202020204" pitchFamily="34" charset="0"/>
            </a:endParaRPr>
          </a:p>
          <a:p>
            <a:r>
              <a:rPr lang="en-IE" sz="1600" i="1" dirty="0">
                <a:solidFill>
                  <a:schemeClr val="tx1"/>
                </a:solidFill>
                <a:latin typeface="Arial" panose="020B0604020202020204" pitchFamily="34" charset="0"/>
                <a:cs typeface="Arial" panose="020B0604020202020204" pitchFamily="34" charset="0"/>
              </a:rPr>
              <a:t>“These activities really makes more interaction among friends and for a given problem, we can solve it with many the best ways.  And need to be continued in the coming weeks”.</a:t>
            </a:r>
          </a:p>
          <a:p>
            <a:endParaRPr lang="en-IE" sz="1600" i="1" dirty="0">
              <a:solidFill>
                <a:schemeClr val="tx1"/>
              </a:solidFill>
              <a:latin typeface="Arial" panose="020B0604020202020204" pitchFamily="34" charset="0"/>
              <a:cs typeface="Arial" panose="020B0604020202020204" pitchFamily="34" charset="0"/>
            </a:endParaRPr>
          </a:p>
          <a:p>
            <a:endParaRPr lang="en-IE" sz="1600" i="1" dirty="0">
              <a:solidFill>
                <a:schemeClr val="tx1"/>
              </a:solidFill>
              <a:latin typeface="Arial" panose="020B0604020202020204" pitchFamily="34" charset="0"/>
              <a:cs typeface="Arial" panose="020B0604020202020204" pitchFamily="34" charset="0"/>
            </a:endParaRPr>
          </a:p>
        </p:txBody>
      </p:sp>
      <p:sp>
        <p:nvSpPr>
          <p:cNvPr id="40" name="Text Placeholder 3"/>
          <p:cNvSpPr>
            <a:spLocks noGrp="1"/>
          </p:cNvSpPr>
          <p:nvPr>
            <p:ph type="body" sz="quarter" idx="20"/>
          </p:nvPr>
        </p:nvSpPr>
        <p:spPr>
          <a:xfrm>
            <a:off x="521484" y="10838235"/>
            <a:ext cx="10026754" cy="754045"/>
          </a:xfrm>
        </p:spPr>
        <p:txBody>
          <a:bodyPr/>
          <a:lstStyle/>
          <a:p>
            <a:r>
              <a:rPr lang="en-US" dirty="0">
                <a:solidFill>
                  <a:schemeClr val="tx2"/>
                </a:solidFill>
                <a:latin typeface="Arial" panose="020B0604020202020204" pitchFamily="34" charset="0"/>
                <a:cs typeface="Arial" panose="020B0604020202020204" pitchFamily="34" charset="0"/>
              </a:rPr>
              <a:t>RESEARCH QUESTIONS</a:t>
            </a:r>
          </a:p>
        </p:txBody>
      </p:sp>
      <p:sp>
        <p:nvSpPr>
          <p:cNvPr id="41" name="Content Placeholder 2"/>
          <p:cNvSpPr txBox="1">
            <a:spLocks/>
          </p:cNvSpPr>
          <p:nvPr/>
        </p:nvSpPr>
        <p:spPr>
          <a:xfrm>
            <a:off x="578634" y="11856835"/>
            <a:ext cx="9736942" cy="5276211"/>
          </a:xfrm>
          <a:prstGeom prst="rect">
            <a:avLst/>
          </a:prstGeom>
        </p:spPr>
        <p:txBody>
          <a:bodyPr>
            <a:noAutofit/>
          </a:bodyPr>
          <a:lst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marL="0" indent="0" algn="just" defTabSz="895350">
              <a:buFont typeface="Arial" pitchFamily="34" charset="0"/>
              <a:buNone/>
            </a:pPr>
            <a:r>
              <a:rPr lang="en-IE" sz="2400" dirty="0">
                <a:latin typeface="Arial" panose="020B0604020202020204" pitchFamily="34" charset="0"/>
                <a:cs typeface="Arial" panose="020B0604020202020204" pitchFamily="34" charset="0"/>
              </a:rPr>
              <a:t>The four  questions below represent the core focus of the entire study:</a:t>
            </a:r>
            <a:endParaRPr lang="en-IE" sz="2400" b="1" dirty="0">
              <a:latin typeface="Arial" panose="020B0604020202020204" pitchFamily="34" charset="0"/>
              <a:cs typeface="Arial" panose="020B0604020202020204" pitchFamily="34" charset="0"/>
            </a:endParaRPr>
          </a:p>
          <a:p>
            <a:pPr marL="0" indent="0" algn="just" defTabSz="895350">
              <a:buFont typeface="Arial" pitchFamily="34" charset="0"/>
              <a:buNone/>
            </a:pPr>
            <a:endParaRPr lang="en-IE" sz="2400" b="1" dirty="0">
              <a:latin typeface="Arial" panose="020B0604020202020204" pitchFamily="34" charset="0"/>
              <a:cs typeface="Arial" panose="020B0604020202020204" pitchFamily="34" charset="0"/>
            </a:endParaRPr>
          </a:p>
          <a:p>
            <a:pPr marL="0" indent="0" algn="just" defTabSz="895350">
              <a:buFont typeface="Arial" pitchFamily="34" charset="0"/>
              <a:buNone/>
            </a:pPr>
            <a:r>
              <a:rPr lang="en-IE" sz="2400" b="1" dirty="0">
                <a:latin typeface="Arial" panose="020B0604020202020204" pitchFamily="34" charset="0"/>
                <a:cs typeface="Arial" panose="020B0604020202020204" pitchFamily="34" charset="0"/>
              </a:rPr>
              <a:t>Q.1.</a:t>
            </a:r>
            <a:r>
              <a:rPr lang="en-IE" sz="2400" dirty="0">
                <a:latin typeface="Arial" panose="020B0604020202020204" pitchFamily="34" charset="0"/>
                <a:cs typeface="Arial" panose="020B0604020202020204" pitchFamily="34" charset="0"/>
              </a:rPr>
              <a:t> 	How has the housing prices changed over time? From 2010 to 2026?</a:t>
            </a:r>
          </a:p>
          <a:p>
            <a:pPr marL="0" indent="0" algn="just" defTabSz="895350">
              <a:buFont typeface="Arial" pitchFamily="34" charset="0"/>
              <a:buNone/>
            </a:pPr>
            <a:r>
              <a:rPr lang="en-IE" sz="2400" b="1" dirty="0">
                <a:latin typeface="Arial" panose="020B0604020202020204" pitchFamily="34" charset="0"/>
                <a:cs typeface="Arial" panose="020B0604020202020204" pitchFamily="34" charset="0"/>
              </a:rPr>
              <a:t>Q.2</a:t>
            </a:r>
            <a:r>
              <a:rPr lang="en-IE" sz="2400" dirty="0">
                <a:latin typeface="Arial" panose="020B0604020202020204" pitchFamily="34" charset="0"/>
                <a:cs typeface="Arial" panose="020B0604020202020204" pitchFamily="34" charset="0"/>
              </a:rPr>
              <a:t>. 	How much higher is the prices in Dublin compares to the rest of the country?</a:t>
            </a:r>
          </a:p>
          <a:p>
            <a:pPr marL="0" indent="0" algn="just" defTabSz="895350">
              <a:buFont typeface="Arial" pitchFamily="34" charset="0"/>
              <a:buNone/>
            </a:pPr>
            <a:r>
              <a:rPr lang="en-IE" sz="2400" b="1" dirty="0">
                <a:latin typeface="Arial" panose="020B0604020202020204" pitchFamily="34" charset="0"/>
                <a:cs typeface="Arial" panose="020B0604020202020204" pitchFamily="34" charset="0"/>
              </a:rPr>
              <a:t>Q.3 	</a:t>
            </a:r>
            <a:r>
              <a:rPr lang="en-IE" sz="2400" dirty="0">
                <a:latin typeface="Arial" panose="020B0604020202020204" pitchFamily="34" charset="0"/>
                <a:cs typeface="Arial" panose="020B0604020202020204" pitchFamily="34" charset="0"/>
              </a:rPr>
              <a:t>About how much do new builds cost more than second hand properties?</a:t>
            </a:r>
          </a:p>
          <a:p>
            <a:pPr marL="0" indent="0" algn="just" defTabSz="895350">
              <a:buFont typeface="Arial" pitchFamily="34" charset="0"/>
              <a:buNone/>
            </a:pPr>
            <a:r>
              <a:rPr lang="en-IE" sz="2400" b="1" dirty="0">
                <a:latin typeface="Arial" panose="020B0604020202020204" pitchFamily="34" charset="0"/>
                <a:cs typeface="Arial" panose="020B0604020202020204" pitchFamily="34" charset="0"/>
              </a:rPr>
              <a:t>Q.4</a:t>
            </a:r>
            <a:r>
              <a:rPr lang="en-IE" sz="2400" dirty="0">
                <a:latin typeface="Arial" panose="020B0604020202020204" pitchFamily="34" charset="0"/>
                <a:cs typeface="Arial" panose="020B0604020202020204" pitchFamily="34" charset="0"/>
              </a:rPr>
              <a:t>	</a:t>
            </a:r>
            <a:r>
              <a:rPr lang="en-IE" sz="2400" dirty="0">
                <a:solidFill>
                  <a:srgbClr val="FF0000"/>
                </a:solidFill>
                <a:latin typeface="Arial" panose="020B0604020202020204" pitchFamily="34" charset="0"/>
                <a:cs typeface="Arial" panose="020B0604020202020204" pitchFamily="34" charset="0"/>
              </a:rPr>
              <a:t>Any forecasts? If any at all?</a:t>
            </a:r>
          </a:p>
        </p:txBody>
      </p:sp>
      <p:sp>
        <p:nvSpPr>
          <p:cNvPr id="42" name="Content Placeholder 2"/>
          <p:cNvSpPr txBox="1">
            <a:spLocks/>
          </p:cNvSpPr>
          <p:nvPr/>
        </p:nvSpPr>
        <p:spPr>
          <a:xfrm>
            <a:off x="33513137" y="22823005"/>
            <a:ext cx="9736942" cy="5408649"/>
          </a:xfrm>
          <a:prstGeom prst="rect">
            <a:avLst/>
          </a:prstGeom>
        </p:spPr>
        <p:txBody>
          <a:bodyPr>
            <a:noAutofit/>
          </a:bodyPr>
          <a:lst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marL="0" indent="0" algn="just" defTabSz="895350">
              <a:buFont typeface="Arial" pitchFamily="34" charset="0"/>
              <a:buNone/>
            </a:pPr>
            <a:r>
              <a:rPr lang="en-IE" sz="2400" dirty="0">
                <a:latin typeface="Arial" panose="020B0604020202020204" pitchFamily="34" charset="0"/>
                <a:cs typeface="Arial" panose="020B0604020202020204" pitchFamily="34" charset="0"/>
              </a:rPr>
              <a:t>A summarised answer to the research questions are presented below:</a:t>
            </a:r>
          </a:p>
          <a:p>
            <a:pPr marL="0" indent="0" algn="just" defTabSz="895350">
              <a:buFont typeface="Arial" pitchFamily="34" charset="0"/>
              <a:buNone/>
            </a:pPr>
            <a:endParaRPr lang="en-IE" sz="1000" dirty="0">
              <a:latin typeface="Arial" panose="020B0604020202020204" pitchFamily="34" charset="0"/>
              <a:cs typeface="Arial" panose="020B0604020202020204" pitchFamily="34" charset="0"/>
            </a:endParaRPr>
          </a:p>
          <a:p>
            <a:pPr marL="0" indent="0" defTabSz="895350">
              <a:buFont typeface="Arial" pitchFamily="34" charset="0"/>
              <a:buNone/>
            </a:pPr>
            <a:r>
              <a:rPr lang="en-IE" sz="2200" b="1" dirty="0">
                <a:latin typeface="Arial" panose="020B0604020202020204" pitchFamily="34" charset="0"/>
                <a:cs typeface="Arial" panose="020B0604020202020204" pitchFamily="34" charset="0"/>
              </a:rPr>
              <a:t>Q.1.</a:t>
            </a:r>
            <a:r>
              <a:rPr lang="en-IE" sz="2200" dirty="0">
                <a:latin typeface="Arial" panose="020B0604020202020204" pitchFamily="34" charset="0"/>
                <a:cs typeface="Arial" panose="020B0604020202020204" pitchFamily="34" charset="0"/>
              </a:rPr>
              <a:t> 	</a:t>
            </a:r>
            <a:r>
              <a:rPr lang="en-IE" sz="2200" i="1" dirty="0">
                <a:latin typeface="Arial" panose="020B0604020202020204" pitchFamily="34" charset="0"/>
                <a:cs typeface="Arial" panose="020B0604020202020204" pitchFamily="34" charset="0"/>
              </a:rPr>
              <a:t>Both of the studies on the use of a reflective learning journal were 	mostly negative, in that students did not find it beneficial, and in some 	cases, saw it as an additional ungraded piece of assessment .</a:t>
            </a:r>
          </a:p>
          <a:p>
            <a:pPr marL="0" indent="0" defTabSz="895350">
              <a:buFont typeface="Arial" pitchFamily="34" charset="0"/>
              <a:buNone/>
            </a:pPr>
            <a:r>
              <a:rPr lang="en-IE" sz="2200" b="1" dirty="0">
                <a:latin typeface="Arial" panose="020B0604020202020204" pitchFamily="34" charset="0"/>
                <a:cs typeface="Arial" panose="020B0604020202020204" pitchFamily="34" charset="0"/>
              </a:rPr>
              <a:t>Q.2. </a:t>
            </a:r>
            <a:r>
              <a:rPr lang="en-IE" sz="2200" dirty="0">
                <a:latin typeface="Arial" panose="020B0604020202020204" pitchFamily="34" charset="0"/>
                <a:cs typeface="Arial" panose="020B0604020202020204" pitchFamily="34" charset="0"/>
              </a:rPr>
              <a:t>	There was </a:t>
            </a:r>
            <a:r>
              <a:rPr lang="en-IE" sz="2200" i="1" dirty="0">
                <a:latin typeface="Arial" panose="020B0604020202020204" pitchFamily="34" charset="0"/>
                <a:cs typeface="Arial" panose="020B0604020202020204" pitchFamily="34" charset="0"/>
              </a:rPr>
              <a:t>evidence to suggest it does, specifically relating to 	group based activities, and communicating with peers.  However, it is 	difficult to say positive findings were directly linked to the social 	learning activities introduced over the semester.</a:t>
            </a:r>
            <a:endParaRPr lang="en-IE" sz="2200" dirty="0">
              <a:latin typeface="Arial" panose="020B0604020202020204" pitchFamily="34" charset="0"/>
              <a:cs typeface="Arial" panose="020B0604020202020204" pitchFamily="34" charset="0"/>
            </a:endParaRPr>
          </a:p>
          <a:p>
            <a:pPr marL="0" indent="0" defTabSz="895350">
              <a:buFont typeface="Arial" pitchFamily="34" charset="0"/>
              <a:buNone/>
            </a:pPr>
            <a:r>
              <a:rPr lang="en-IE" sz="2200" b="1" dirty="0">
                <a:latin typeface="Arial" panose="020B0604020202020204" pitchFamily="34" charset="0"/>
                <a:cs typeface="Arial" panose="020B0604020202020204" pitchFamily="34" charset="0"/>
              </a:rPr>
              <a:t>Q.3 </a:t>
            </a:r>
            <a:r>
              <a:rPr lang="en-IE" sz="2200" dirty="0">
                <a:latin typeface="Arial" panose="020B0604020202020204" pitchFamily="34" charset="0"/>
                <a:cs typeface="Arial" panose="020B0604020202020204" pitchFamily="34" charset="0"/>
              </a:rPr>
              <a:t>	</a:t>
            </a:r>
            <a:r>
              <a:rPr lang="en-IE" sz="2200" i="1" dirty="0">
                <a:latin typeface="Arial" panose="020B0604020202020204" pitchFamily="34" charset="0"/>
                <a:cs typeface="Arial" panose="020B0604020202020204" pitchFamily="34" charset="0"/>
              </a:rPr>
              <a:t>The use of PBL and PAL was very successful in engaging students in 	computer programming, the students engaged in the activities and 	requested more of these activities in the future.</a:t>
            </a:r>
          </a:p>
          <a:p>
            <a:pPr marL="0" indent="0" defTabSz="895350">
              <a:buFont typeface="Arial" pitchFamily="34" charset="0"/>
              <a:buNone/>
            </a:pPr>
            <a:r>
              <a:rPr lang="en-IE" sz="2200" b="1" dirty="0">
                <a:latin typeface="Arial" panose="020B0604020202020204" pitchFamily="34" charset="0"/>
                <a:cs typeface="Arial" panose="020B0604020202020204" pitchFamily="34" charset="0"/>
              </a:rPr>
              <a:t>Q.4</a:t>
            </a:r>
            <a:r>
              <a:rPr lang="en-IE" sz="2200" dirty="0">
                <a:latin typeface="Arial" panose="020B0604020202020204" pitchFamily="34" charset="0"/>
                <a:cs typeface="Arial" panose="020B0604020202020204" pitchFamily="34" charset="0"/>
              </a:rPr>
              <a:t>	</a:t>
            </a:r>
            <a:r>
              <a:rPr lang="en-IE" sz="2200" i="1" dirty="0">
                <a:latin typeface="Arial" panose="020B0604020202020204" pitchFamily="34" charset="0"/>
                <a:cs typeface="Arial" panose="020B0604020202020204" pitchFamily="34" charset="0"/>
              </a:rPr>
              <a:t>There was no strong evidence to suggest social learning improved 	self-efficacy in computer programming, however, there was strong 	evidence found that participating in group work enhances self-efficacy 	in working with others in group activities.</a:t>
            </a:r>
          </a:p>
        </p:txBody>
      </p:sp>
      <p:graphicFrame>
        <p:nvGraphicFramePr>
          <p:cNvPr id="37" name="Table 36"/>
          <p:cNvGraphicFramePr>
            <a:graphicFrameLocks noGrp="1"/>
          </p:cNvGraphicFramePr>
          <p:nvPr>
            <p:extLst>
              <p:ext uri="{D42A27DB-BD31-4B8C-83A1-F6EECF244321}">
                <p14:modId xmlns:p14="http://schemas.microsoft.com/office/powerpoint/2010/main" val="3349645228"/>
              </p:ext>
            </p:extLst>
          </p:nvPr>
        </p:nvGraphicFramePr>
        <p:xfrm>
          <a:off x="11653912" y="26870112"/>
          <a:ext cx="9742489" cy="5042448"/>
        </p:xfrm>
        <a:graphic>
          <a:graphicData uri="http://schemas.openxmlformats.org/drawingml/2006/table">
            <a:tbl>
              <a:tblPr firstRow="1" firstCol="1" bandRow="1">
                <a:tableStyleId>{5C22544A-7EE6-4342-B048-85BDC9FD1C3A}</a:tableStyleId>
              </a:tblPr>
              <a:tblGrid>
                <a:gridCol w="7314070">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gridCol w="980619">
                  <a:extLst>
                    <a:ext uri="{9D8B030D-6E8A-4147-A177-3AD203B41FA5}">
                      <a16:colId xmlns:a16="http://schemas.microsoft.com/office/drawing/2014/main" val="20002"/>
                    </a:ext>
                  </a:extLst>
                </a:gridCol>
              </a:tblGrid>
              <a:tr h="337853">
                <a:tc gridSpan="3">
                  <a:txBody>
                    <a:bodyPr/>
                    <a:lstStyle/>
                    <a:p>
                      <a:pPr>
                        <a:spcAft>
                          <a:spcPts val="0"/>
                        </a:spcAft>
                      </a:pPr>
                      <a:endParaRPr lang="en-IE" sz="1000" dirty="0">
                        <a:solidFill>
                          <a:schemeClr val="tx1"/>
                        </a:solidFill>
                        <a:effectLst/>
                        <a:latin typeface="Arial" panose="020B0604020202020204" pitchFamily="34" charset="0"/>
                        <a:ea typeface="Times New Roman"/>
                        <a:cs typeface="Arial" panose="020B0604020202020204" pitchFamily="34" charset="0"/>
                      </a:endParaRPr>
                    </a:p>
                  </a:txBody>
                  <a:tcPr marL="68580" marR="68580" marT="0" marB="0" anchor="ctr">
                    <a:noFill/>
                  </a:tcPr>
                </a:tc>
                <a:tc hMerge="1">
                  <a:txBody>
                    <a:bodyPr/>
                    <a:lstStyle/>
                    <a:p>
                      <a:endParaRPr lang="en-IE"/>
                    </a:p>
                  </a:txBody>
                  <a:tcPr/>
                </a:tc>
                <a:tc hMerge="1">
                  <a:txBody>
                    <a:bodyPr/>
                    <a:lstStyle/>
                    <a:p>
                      <a:endParaRPr lang="en-IE"/>
                    </a:p>
                  </a:txBody>
                  <a:tcPr/>
                </a:tc>
                <a:extLst>
                  <a:ext uri="{0D108BD9-81ED-4DB2-BD59-A6C34878D82A}">
                    <a16:rowId xmlns:a16="http://schemas.microsoft.com/office/drawing/2014/main" val="10000"/>
                  </a:ext>
                </a:extLst>
              </a:tr>
              <a:tr h="398339">
                <a:tc>
                  <a:txBody>
                    <a:bodyPr/>
                    <a:lstStyle/>
                    <a:p>
                      <a:pPr>
                        <a:spcAft>
                          <a:spcPts val="0"/>
                        </a:spcAft>
                      </a:pPr>
                      <a:r>
                        <a:rPr lang="en-IE" sz="1800" dirty="0">
                          <a:solidFill>
                            <a:schemeClr val="tx1"/>
                          </a:solidFill>
                          <a:effectLst/>
                          <a:latin typeface="Arial" panose="020B0604020202020204" pitchFamily="34" charset="0"/>
                          <a:ea typeface="Times New Roman"/>
                          <a:cs typeface="Arial" panose="020B0604020202020204" pitchFamily="34" charset="0"/>
                        </a:rPr>
                        <a:t>Pilot Study -</a:t>
                      </a:r>
                      <a:r>
                        <a:rPr lang="en-IE" sz="1800" baseline="0" dirty="0">
                          <a:solidFill>
                            <a:schemeClr val="tx1"/>
                          </a:solidFill>
                          <a:effectLst/>
                          <a:latin typeface="Arial" panose="020B0604020202020204" pitchFamily="34" charset="0"/>
                          <a:ea typeface="Times New Roman"/>
                          <a:cs typeface="Arial" panose="020B0604020202020204" pitchFamily="34" charset="0"/>
                        </a:rPr>
                        <a:t> 2014</a:t>
                      </a:r>
                      <a:endParaRPr lang="en-IE" sz="1800" dirty="0">
                        <a:solidFill>
                          <a:schemeClr val="tx1"/>
                        </a:solidFill>
                        <a:effectLst/>
                        <a:latin typeface="Arial" panose="020B0604020202020204" pitchFamily="34" charset="0"/>
                        <a:ea typeface="Times New Roman"/>
                        <a:cs typeface="Arial" panose="020B0604020202020204" pitchFamily="34" charset="0"/>
                      </a:endParaRPr>
                    </a:p>
                  </a:txBody>
                  <a:tcPr marL="68580" marR="68580" marT="0" marB="0" anchor="ctr">
                    <a:solidFill>
                      <a:schemeClr val="accent1"/>
                    </a:solidFill>
                  </a:tcPr>
                </a:tc>
                <a:tc>
                  <a:txBody>
                    <a:bodyPr/>
                    <a:lstStyle/>
                    <a:p>
                      <a:pPr>
                        <a:spcAft>
                          <a:spcPts val="0"/>
                        </a:spcAft>
                      </a:pPr>
                      <a:r>
                        <a:rPr lang="en-GB" sz="1800" b="1" dirty="0">
                          <a:solidFill>
                            <a:schemeClr val="bg1"/>
                          </a:solidFill>
                          <a:effectLst/>
                        </a:rPr>
                        <a:t>Analysis</a:t>
                      </a:r>
                      <a:endParaRPr lang="en-IE" sz="1800" b="1" dirty="0">
                        <a:solidFill>
                          <a:schemeClr val="bg1"/>
                        </a:solidFill>
                        <a:effectLst/>
                        <a:latin typeface="Times New Roman"/>
                        <a:ea typeface="Times New Roman"/>
                        <a:cs typeface="Times New Roman"/>
                      </a:endParaRPr>
                    </a:p>
                  </a:txBody>
                  <a:tcPr marL="68580" marR="68580" marT="0" marB="0" anchor="ctr">
                    <a:solidFill>
                      <a:schemeClr val="accent1"/>
                    </a:solidFill>
                  </a:tcPr>
                </a:tc>
                <a:tc>
                  <a:txBody>
                    <a:bodyPr/>
                    <a:lstStyle/>
                    <a:p>
                      <a:pPr>
                        <a:spcAft>
                          <a:spcPts val="0"/>
                        </a:spcAft>
                      </a:pPr>
                      <a:r>
                        <a:rPr lang="en-GB" sz="1800" b="1" dirty="0">
                          <a:solidFill>
                            <a:schemeClr val="bg1"/>
                          </a:solidFill>
                          <a:effectLst/>
                        </a:rPr>
                        <a:t>Sample</a:t>
                      </a:r>
                      <a:endParaRPr lang="en-IE" sz="1800" b="1" dirty="0">
                        <a:solidFill>
                          <a:schemeClr val="bg1"/>
                        </a:solidFill>
                        <a:effectLst/>
                        <a:latin typeface="Times New Roman"/>
                        <a:ea typeface="Times New Roman"/>
                        <a:cs typeface="Times New Roman"/>
                      </a:endParaRPr>
                    </a:p>
                  </a:txBody>
                  <a:tcPr marL="68580" marR="68580" marT="0" marB="0" anchor="ctr">
                    <a:solidFill>
                      <a:schemeClr val="accent1"/>
                    </a:solidFill>
                  </a:tcPr>
                </a:tc>
                <a:extLst>
                  <a:ext uri="{0D108BD9-81ED-4DB2-BD59-A6C34878D82A}">
                    <a16:rowId xmlns:a16="http://schemas.microsoft.com/office/drawing/2014/main" val="10001"/>
                  </a:ext>
                </a:extLst>
              </a:tr>
              <a:tr h="288187">
                <a:tc>
                  <a:txBody>
                    <a:bodyPr/>
                    <a:lstStyle/>
                    <a:p>
                      <a:pPr>
                        <a:spcAft>
                          <a:spcPts val="0"/>
                        </a:spcAft>
                      </a:pPr>
                      <a:r>
                        <a:rPr lang="en-GB" sz="1600" b="0" dirty="0">
                          <a:solidFill>
                            <a:schemeClr val="tx1"/>
                          </a:solidFill>
                          <a:effectLst/>
                          <a:latin typeface="Arial" panose="020B0604020202020204" pitchFamily="34" charset="0"/>
                          <a:cs typeface="Arial" panose="020B0604020202020204" pitchFamily="34" charset="0"/>
                        </a:rPr>
                        <a:t>Student study habits questionnaire</a:t>
                      </a:r>
                      <a:endParaRPr lang="en-IE" sz="1600" b="0" dirty="0">
                        <a:solidFill>
                          <a:schemeClr val="tx1"/>
                        </a:solidFill>
                        <a:effectLst/>
                        <a:latin typeface="Arial" panose="020B0604020202020204" pitchFamily="34" charset="0"/>
                        <a:ea typeface="Times New Roman"/>
                        <a:cs typeface="Arial" panose="020B0604020202020204" pitchFamily="34" charset="0"/>
                      </a:endParaRPr>
                    </a:p>
                  </a:txBody>
                  <a:tcPr marL="68580" marR="68580" marT="0" marB="0" anchor="ctr">
                    <a:solidFill>
                      <a:schemeClr val="bg1">
                        <a:lumMod val="85000"/>
                      </a:schemeClr>
                    </a:solidFill>
                  </a:tcPr>
                </a:tc>
                <a:tc>
                  <a:txBody>
                    <a:bodyPr/>
                    <a:lstStyle/>
                    <a:p>
                      <a:pPr>
                        <a:spcAft>
                          <a:spcPts val="0"/>
                        </a:spcAft>
                      </a:pPr>
                      <a:r>
                        <a:rPr lang="en-GB" sz="1600" b="0" dirty="0">
                          <a:solidFill>
                            <a:schemeClr val="tx1"/>
                          </a:solidFill>
                          <a:effectLst/>
                          <a:latin typeface="Arial" panose="020B0604020202020204" pitchFamily="34" charset="0"/>
                          <a:cs typeface="Arial" panose="020B0604020202020204" pitchFamily="34" charset="0"/>
                        </a:rPr>
                        <a:t>Quantitative</a:t>
                      </a:r>
                      <a:endParaRPr lang="en-IE" sz="1600" b="0" dirty="0">
                        <a:solidFill>
                          <a:schemeClr val="tx1"/>
                        </a:solidFill>
                        <a:effectLst/>
                        <a:latin typeface="Arial" panose="020B0604020202020204" pitchFamily="34" charset="0"/>
                        <a:ea typeface="Times New Roman"/>
                        <a:cs typeface="Arial" panose="020B0604020202020204" pitchFamily="34" charset="0"/>
                      </a:endParaRPr>
                    </a:p>
                  </a:txBody>
                  <a:tcPr marL="68580" marR="68580" marT="0" marB="0" anchor="ctr">
                    <a:solidFill>
                      <a:schemeClr val="bg1">
                        <a:lumMod val="85000"/>
                      </a:schemeClr>
                    </a:solidFill>
                  </a:tcPr>
                </a:tc>
                <a:tc>
                  <a:txBody>
                    <a:bodyPr/>
                    <a:lstStyle/>
                    <a:p>
                      <a:pPr algn="r">
                        <a:spcAft>
                          <a:spcPts val="0"/>
                        </a:spcAft>
                      </a:pPr>
                      <a:r>
                        <a:rPr lang="en-GB" sz="1600" b="0" dirty="0">
                          <a:solidFill>
                            <a:schemeClr val="tx1"/>
                          </a:solidFill>
                          <a:effectLst/>
                          <a:latin typeface="Arial" panose="020B0604020202020204" pitchFamily="34" charset="0"/>
                          <a:cs typeface="Arial" panose="020B0604020202020204" pitchFamily="34" charset="0"/>
                        </a:rPr>
                        <a:t>31</a:t>
                      </a:r>
                      <a:endParaRPr lang="en-IE" sz="1600" b="0" dirty="0">
                        <a:solidFill>
                          <a:schemeClr val="tx1"/>
                        </a:solidFill>
                        <a:effectLst/>
                        <a:latin typeface="Arial" panose="020B0604020202020204" pitchFamily="34" charset="0"/>
                        <a:ea typeface="Times New Roman"/>
                        <a:cs typeface="Arial" panose="020B0604020202020204" pitchFamily="34" charset="0"/>
                      </a:endParaRPr>
                    </a:p>
                  </a:txBody>
                  <a:tcPr marL="68580" marR="68580" marT="0" marB="0">
                    <a:solidFill>
                      <a:schemeClr val="bg1">
                        <a:lumMod val="85000"/>
                      </a:schemeClr>
                    </a:solidFill>
                  </a:tcPr>
                </a:tc>
                <a:extLst>
                  <a:ext uri="{0D108BD9-81ED-4DB2-BD59-A6C34878D82A}">
                    <a16:rowId xmlns:a16="http://schemas.microsoft.com/office/drawing/2014/main" val="10002"/>
                  </a:ext>
                </a:extLst>
              </a:tr>
              <a:tr h="287383">
                <a:tc>
                  <a:txBody>
                    <a:bodyPr/>
                    <a:lstStyle/>
                    <a:p>
                      <a:pPr>
                        <a:spcAft>
                          <a:spcPts val="0"/>
                        </a:spcAft>
                      </a:pPr>
                      <a:r>
                        <a:rPr lang="en-GB" sz="1600" b="0" dirty="0">
                          <a:solidFill>
                            <a:schemeClr val="tx1"/>
                          </a:solidFill>
                          <a:effectLst/>
                          <a:latin typeface="Arial" panose="020B0604020202020204" pitchFamily="34" charset="0"/>
                          <a:cs typeface="Arial" panose="020B0604020202020204" pitchFamily="34" charset="0"/>
                        </a:rPr>
                        <a:t>Reflective Learning Journal</a:t>
                      </a:r>
                      <a:endParaRPr lang="en-IE" sz="1600" b="0" dirty="0">
                        <a:solidFill>
                          <a:schemeClr val="tx1"/>
                        </a:solidFill>
                        <a:effectLst/>
                        <a:latin typeface="Arial" panose="020B0604020202020204" pitchFamily="34" charset="0"/>
                        <a:ea typeface="Times New Roman"/>
                        <a:cs typeface="Arial" panose="020B0604020202020204" pitchFamily="34" charset="0"/>
                      </a:endParaRPr>
                    </a:p>
                  </a:txBody>
                  <a:tcPr marL="68580" marR="68580" marT="0" marB="0" anchor="ctr">
                    <a:solidFill>
                      <a:schemeClr val="bg1">
                        <a:lumMod val="85000"/>
                      </a:schemeClr>
                    </a:solidFill>
                  </a:tcPr>
                </a:tc>
                <a:tc>
                  <a:txBody>
                    <a:bodyPr/>
                    <a:lstStyle/>
                    <a:p>
                      <a:pPr>
                        <a:spcAft>
                          <a:spcPts val="0"/>
                        </a:spcAft>
                      </a:pPr>
                      <a:r>
                        <a:rPr lang="en-GB" sz="1600" b="0" dirty="0">
                          <a:solidFill>
                            <a:schemeClr val="tx1"/>
                          </a:solidFill>
                          <a:effectLst/>
                          <a:latin typeface="Arial" panose="020B0604020202020204" pitchFamily="34" charset="0"/>
                          <a:cs typeface="Arial" panose="020B0604020202020204" pitchFamily="34" charset="0"/>
                        </a:rPr>
                        <a:t>Qualitative</a:t>
                      </a:r>
                      <a:endParaRPr lang="en-IE" sz="1600" b="0" dirty="0">
                        <a:solidFill>
                          <a:schemeClr val="tx1"/>
                        </a:solidFill>
                        <a:effectLst/>
                        <a:latin typeface="Arial" panose="020B0604020202020204" pitchFamily="34" charset="0"/>
                        <a:ea typeface="Times New Roman"/>
                        <a:cs typeface="Arial" panose="020B0604020202020204" pitchFamily="34" charset="0"/>
                      </a:endParaRPr>
                    </a:p>
                  </a:txBody>
                  <a:tcPr marL="68580" marR="68580" marT="0" marB="0" anchor="ctr">
                    <a:solidFill>
                      <a:schemeClr val="bg1">
                        <a:lumMod val="85000"/>
                      </a:schemeClr>
                    </a:solidFill>
                  </a:tcPr>
                </a:tc>
                <a:tc>
                  <a:txBody>
                    <a:bodyPr/>
                    <a:lstStyle/>
                    <a:p>
                      <a:pPr algn="r">
                        <a:spcAft>
                          <a:spcPts val="0"/>
                        </a:spcAft>
                      </a:pPr>
                      <a:r>
                        <a:rPr lang="en-GB" sz="1600" b="0" dirty="0">
                          <a:solidFill>
                            <a:schemeClr val="tx1"/>
                          </a:solidFill>
                          <a:effectLst/>
                          <a:latin typeface="Arial" panose="020B0604020202020204" pitchFamily="34" charset="0"/>
                          <a:cs typeface="Arial" panose="020B0604020202020204" pitchFamily="34" charset="0"/>
                        </a:rPr>
                        <a:t>77</a:t>
                      </a:r>
                      <a:endParaRPr lang="en-IE" sz="1600" b="0" dirty="0">
                        <a:solidFill>
                          <a:schemeClr val="tx1"/>
                        </a:solidFill>
                        <a:effectLst/>
                        <a:latin typeface="Arial" panose="020B0604020202020204" pitchFamily="34" charset="0"/>
                        <a:ea typeface="Times New Roman"/>
                        <a:cs typeface="Arial" panose="020B0604020202020204" pitchFamily="34" charset="0"/>
                      </a:endParaRPr>
                    </a:p>
                  </a:txBody>
                  <a:tcPr marL="68580" marR="68580" marT="0" marB="0">
                    <a:solidFill>
                      <a:schemeClr val="bg1">
                        <a:lumMod val="85000"/>
                      </a:schemeClr>
                    </a:solidFill>
                  </a:tcPr>
                </a:tc>
                <a:extLst>
                  <a:ext uri="{0D108BD9-81ED-4DB2-BD59-A6C34878D82A}">
                    <a16:rowId xmlns:a16="http://schemas.microsoft.com/office/drawing/2014/main" val="10003"/>
                  </a:ext>
                </a:extLst>
              </a:tr>
              <a:tr h="300446">
                <a:tc>
                  <a:txBody>
                    <a:bodyPr/>
                    <a:lstStyle/>
                    <a:p>
                      <a:pPr>
                        <a:spcAft>
                          <a:spcPts val="0"/>
                        </a:spcAft>
                      </a:pPr>
                      <a:r>
                        <a:rPr lang="en-GB" sz="1600" b="0" dirty="0">
                          <a:solidFill>
                            <a:schemeClr val="tx1"/>
                          </a:solidFill>
                          <a:effectLst/>
                          <a:latin typeface="Arial" panose="020B0604020202020204" pitchFamily="34" charset="0"/>
                          <a:cs typeface="Arial" panose="020B0604020202020204" pitchFamily="34" charset="0"/>
                        </a:rPr>
                        <a:t>Focus group (reflective journal evaluation)</a:t>
                      </a:r>
                      <a:endParaRPr lang="en-IE" sz="1600" b="0" dirty="0">
                        <a:solidFill>
                          <a:schemeClr val="tx1"/>
                        </a:solidFill>
                        <a:effectLst/>
                        <a:latin typeface="Arial" panose="020B0604020202020204" pitchFamily="34" charset="0"/>
                        <a:ea typeface="Times New Roman"/>
                        <a:cs typeface="Arial" panose="020B0604020202020204" pitchFamily="34" charset="0"/>
                      </a:endParaRPr>
                    </a:p>
                  </a:txBody>
                  <a:tcPr marL="68580" marR="68580" marT="0" marB="0" anchor="ctr">
                    <a:solidFill>
                      <a:schemeClr val="bg1">
                        <a:lumMod val="85000"/>
                      </a:schemeClr>
                    </a:solidFill>
                  </a:tcPr>
                </a:tc>
                <a:tc>
                  <a:txBody>
                    <a:bodyPr/>
                    <a:lstStyle/>
                    <a:p>
                      <a:pPr>
                        <a:spcAft>
                          <a:spcPts val="0"/>
                        </a:spcAft>
                      </a:pPr>
                      <a:r>
                        <a:rPr lang="en-GB" sz="1600" b="0" dirty="0">
                          <a:solidFill>
                            <a:schemeClr val="tx1"/>
                          </a:solidFill>
                          <a:effectLst/>
                          <a:latin typeface="Arial" panose="020B0604020202020204" pitchFamily="34" charset="0"/>
                          <a:cs typeface="Arial" panose="020B0604020202020204" pitchFamily="34" charset="0"/>
                        </a:rPr>
                        <a:t>Qualitative</a:t>
                      </a:r>
                      <a:endParaRPr lang="en-IE" sz="1600" b="0" dirty="0">
                        <a:solidFill>
                          <a:schemeClr val="tx1"/>
                        </a:solidFill>
                        <a:effectLst/>
                        <a:latin typeface="Arial" panose="020B0604020202020204" pitchFamily="34" charset="0"/>
                        <a:ea typeface="Times New Roman"/>
                        <a:cs typeface="Arial" panose="020B0604020202020204" pitchFamily="34" charset="0"/>
                      </a:endParaRPr>
                    </a:p>
                  </a:txBody>
                  <a:tcPr marL="68580" marR="68580" marT="0" marB="0" anchor="ctr">
                    <a:solidFill>
                      <a:schemeClr val="bg1">
                        <a:lumMod val="85000"/>
                      </a:schemeClr>
                    </a:solidFill>
                  </a:tcPr>
                </a:tc>
                <a:tc>
                  <a:txBody>
                    <a:bodyPr/>
                    <a:lstStyle/>
                    <a:p>
                      <a:pPr algn="r">
                        <a:spcAft>
                          <a:spcPts val="0"/>
                        </a:spcAft>
                      </a:pPr>
                      <a:r>
                        <a:rPr lang="en-GB" sz="1600" b="0" dirty="0">
                          <a:solidFill>
                            <a:schemeClr val="tx1"/>
                          </a:solidFill>
                          <a:effectLst/>
                          <a:latin typeface="Arial" panose="020B0604020202020204" pitchFamily="34" charset="0"/>
                          <a:cs typeface="Arial" panose="020B0604020202020204" pitchFamily="34" charset="0"/>
                        </a:rPr>
                        <a:t>7</a:t>
                      </a:r>
                      <a:endParaRPr lang="en-IE" sz="1600" b="0" dirty="0">
                        <a:solidFill>
                          <a:schemeClr val="tx1"/>
                        </a:solidFill>
                        <a:effectLst/>
                        <a:latin typeface="Arial" panose="020B0604020202020204" pitchFamily="34" charset="0"/>
                        <a:ea typeface="Times New Roman"/>
                        <a:cs typeface="Arial" panose="020B0604020202020204" pitchFamily="34" charset="0"/>
                      </a:endParaRPr>
                    </a:p>
                  </a:txBody>
                  <a:tcPr marL="68580" marR="68580" marT="0" marB="0">
                    <a:solidFill>
                      <a:schemeClr val="bg1">
                        <a:lumMod val="85000"/>
                      </a:schemeClr>
                    </a:solidFill>
                  </a:tcPr>
                </a:tc>
                <a:extLst>
                  <a:ext uri="{0D108BD9-81ED-4DB2-BD59-A6C34878D82A}">
                    <a16:rowId xmlns:a16="http://schemas.microsoft.com/office/drawing/2014/main" val="10004"/>
                  </a:ext>
                </a:extLst>
              </a:tr>
              <a:tr h="0">
                <a:tc gridSpan="3">
                  <a:txBody>
                    <a:bodyPr/>
                    <a:lstStyle/>
                    <a:p>
                      <a:pPr>
                        <a:spcAft>
                          <a:spcPts val="0"/>
                        </a:spcAft>
                      </a:pPr>
                      <a:endParaRPr lang="en-IE" sz="800" dirty="0">
                        <a:solidFill>
                          <a:schemeClr val="tx1"/>
                        </a:solidFill>
                        <a:effectLst/>
                        <a:latin typeface="Arial" panose="020B0604020202020204" pitchFamily="34" charset="0"/>
                        <a:ea typeface="Times New Roman"/>
                        <a:cs typeface="Arial" panose="020B0604020202020204" pitchFamily="34" charset="0"/>
                      </a:endParaRPr>
                    </a:p>
                  </a:txBody>
                  <a:tcPr marL="68580" marR="68580" marT="0" marB="0" anchor="ctr">
                    <a:noFill/>
                  </a:tcPr>
                </a:tc>
                <a:tc hMerge="1">
                  <a:txBody>
                    <a:bodyPr/>
                    <a:lstStyle/>
                    <a:p>
                      <a:endParaRPr lang="en-IE"/>
                    </a:p>
                  </a:txBody>
                  <a:tcPr/>
                </a:tc>
                <a:tc hMerge="1">
                  <a:txBody>
                    <a:bodyPr/>
                    <a:lstStyle/>
                    <a:p>
                      <a:endParaRPr lang="en-IE"/>
                    </a:p>
                  </a:txBody>
                  <a:tcPr/>
                </a:tc>
                <a:extLst>
                  <a:ext uri="{0D108BD9-81ED-4DB2-BD59-A6C34878D82A}">
                    <a16:rowId xmlns:a16="http://schemas.microsoft.com/office/drawing/2014/main" val="10006"/>
                  </a:ext>
                </a:extLst>
              </a:tr>
              <a:tr h="398339">
                <a:tc>
                  <a:txBody>
                    <a:bodyPr/>
                    <a:lstStyle/>
                    <a:p>
                      <a:pPr>
                        <a:spcAft>
                          <a:spcPts val="0"/>
                        </a:spcAft>
                      </a:pPr>
                      <a:r>
                        <a:rPr lang="en-IE" sz="1800" dirty="0">
                          <a:solidFill>
                            <a:schemeClr val="tx1"/>
                          </a:solidFill>
                          <a:effectLst/>
                          <a:latin typeface="Arial" panose="020B0604020202020204" pitchFamily="34" charset="0"/>
                          <a:ea typeface="Times New Roman"/>
                          <a:cs typeface="Arial" panose="020B0604020202020204" pitchFamily="34" charset="0"/>
                        </a:rPr>
                        <a:t>Secondary Study - 2015</a:t>
                      </a:r>
                    </a:p>
                  </a:txBody>
                  <a:tcPr marL="68580" marR="68580" marT="0" marB="0" anchor="ctr"/>
                </a:tc>
                <a:tc>
                  <a:txBody>
                    <a:bodyPr/>
                    <a:lstStyle/>
                    <a:p>
                      <a:pPr marL="0" algn="l" defTabSz="4388900" rtl="0" eaLnBrk="1" latinLnBrk="0" hangingPunct="1">
                        <a:spcAft>
                          <a:spcPts val="0"/>
                        </a:spcAft>
                      </a:pPr>
                      <a:r>
                        <a:rPr lang="en-GB" sz="1800" b="1" kern="1200" dirty="0">
                          <a:solidFill>
                            <a:schemeClr val="lt1"/>
                          </a:solidFill>
                          <a:effectLst/>
                          <a:latin typeface="+mn-lt"/>
                          <a:ea typeface="+mn-ea"/>
                          <a:cs typeface="+mn-cs"/>
                        </a:rPr>
                        <a:t>Analysis</a:t>
                      </a:r>
                      <a:endParaRPr lang="en-IE" sz="1800" b="1" kern="1200" dirty="0">
                        <a:solidFill>
                          <a:schemeClr val="lt1"/>
                        </a:solidFill>
                        <a:effectLst/>
                        <a:latin typeface="+mn-lt"/>
                        <a:ea typeface="+mn-ea"/>
                        <a:cs typeface="+mn-cs"/>
                      </a:endParaRPr>
                    </a:p>
                  </a:txBody>
                  <a:tcPr marL="68580" marR="68580" marT="0" marB="0" anchor="ctr">
                    <a:solidFill>
                      <a:schemeClr val="accent1"/>
                    </a:solidFill>
                  </a:tcPr>
                </a:tc>
                <a:tc>
                  <a:txBody>
                    <a:bodyPr/>
                    <a:lstStyle/>
                    <a:p>
                      <a:pPr marL="0" algn="l" defTabSz="4388900" rtl="0" eaLnBrk="1" latinLnBrk="0" hangingPunct="1">
                        <a:spcAft>
                          <a:spcPts val="0"/>
                        </a:spcAft>
                      </a:pPr>
                      <a:r>
                        <a:rPr lang="en-GB" sz="1800" b="1" kern="1200" dirty="0">
                          <a:solidFill>
                            <a:schemeClr val="lt1"/>
                          </a:solidFill>
                          <a:effectLst/>
                          <a:latin typeface="+mn-lt"/>
                          <a:ea typeface="+mn-ea"/>
                          <a:cs typeface="+mn-cs"/>
                        </a:rPr>
                        <a:t>Sample</a:t>
                      </a:r>
                      <a:endParaRPr lang="en-IE" sz="1800" b="1" kern="1200" dirty="0">
                        <a:solidFill>
                          <a:schemeClr val="lt1"/>
                        </a:solidFill>
                        <a:effectLst/>
                        <a:latin typeface="+mn-lt"/>
                        <a:ea typeface="+mn-ea"/>
                        <a:cs typeface="+mn-cs"/>
                      </a:endParaRPr>
                    </a:p>
                  </a:txBody>
                  <a:tcPr marL="68580" marR="68580" marT="0" marB="0" anchor="ctr">
                    <a:solidFill>
                      <a:schemeClr val="accent1"/>
                    </a:solidFill>
                  </a:tcPr>
                </a:tc>
                <a:extLst>
                  <a:ext uri="{0D108BD9-81ED-4DB2-BD59-A6C34878D82A}">
                    <a16:rowId xmlns:a16="http://schemas.microsoft.com/office/drawing/2014/main" val="10007"/>
                  </a:ext>
                </a:extLst>
              </a:tr>
              <a:tr h="289638">
                <a:tc>
                  <a:txBody>
                    <a:bodyPr/>
                    <a:lstStyle/>
                    <a:p>
                      <a:pPr>
                        <a:spcAft>
                          <a:spcPts val="0"/>
                        </a:spcAft>
                      </a:pPr>
                      <a:r>
                        <a:rPr lang="en-GB" sz="1600" b="0" dirty="0">
                          <a:solidFill>
                            <a:schemeClr val="tx1"/>
                          </a:solidFill>
                          <a:effectLst/>
                          <a:latin typeface="Arial" panose="020B0604020202020204" pitchFamily="34" charset="0"/>
                          <a:cs typeface="Arial" panose="020B0604020202020204" pitchFamily="34" charset="0"/>
                        </a:rPr>
                        <a:t>Student study habits questionnaire</a:t>
                      </a:r>
                      <a:endParaRPr lang="en-IE" sz="1600" b="0" dirty="0">
                        <a:solidFill>
                          <a:schemeClr val="tx1"/>
                        </a:solidFill>
                        <a:effectLst/>
                        <a:latin typeface="Arial" panose="020B0604020202020204" pitchFamily="34" charset="0"/>
                        <a:ea typeface="Times New Roman"/>
                        <a:cs typeface="Arial" panose="020B0604020202020204" pitchFamily="34" charset="0"/>
                      </a:endParaRPr>
                    </a:p>
                  </a:txBody>
                  <a:tcPr marL="68580" marR="68580" marT="0" marB="0" anchor="ctr">
                    <a:noFill/>
                  </a:tcPr>
                </a:tc>
                <a:tc>
                  <a:txBody>
                    <a:bodyPr/>
                    <a:lstStyle/>
                    <a:p>
                      <a:pPr>
                        <a:spcAft>
                          <a:spcPts val="0"/>
                        </a:spcAft>
                      </a:pPr>
                      <a:r>
                        <a:rPr lang="en-GB" sz="1600" b="0" dirty="0">
                          <a:solidFill>
                            <a:schemeClr val="tx1"/>
                          </a:solidFill>
                          <a:effectLst/>
                          <a:latin typeface="Arial" panose="020B0604020202020204" pitchFamily="34" charset="0"/>
                          <a:cs typeface="Arial" panose="020B0604020202020204" pitchFamily="34" charset="0"/>
                        </a:rPr>
                        <a:t>Quantitative</a:t>
                      </a:r>
                      <a:endParaRPr lang="en-IE" sz="1600" b="0" dirty="0">
                        <a:solidFill>
                          <a:schemeClr val="tx1"/>
                        </a:solidFill>
                        <a:effectLst/>
                        <a:latin typeface="Arial" panose="020B0604020202020204" pitchFamily="34" charset="0"/>
                        <a:ea typeface="Times New Roman"/>
                        <a:cs typeface="Arial" panose="020B0604020202020204" pitchFamily="34" charset="0"/>
                      </a:endParaRPr>
                    </a:p>
                  </a:txBody>
                  <a:tcPr marL="68580" marR="68580" marT="0" marB="0" anchor="ctr">
                    <a:noFill/>
                  </a:tcPr>
                </a:tc>
                <a:tc>
                  <a:txBody>
                    <a:bodyPr/>
                    <a:lstStyle/>
                    <a:p>
                      <a:pPr algn="r">
                        <a:spcAft>
                          <a:spcPts val="0"/>
                        </a:spcAft>
                      </a:pPr>
                      <a:r>
                        <a:rPr lang="en-GB" sz="1600" b="0" dirty="0">
                          <a:solidFill>
                            <a:schemeClr val="tx1"/>
                          </a:solidFill>
                          <a:effectLst/>
                          <a:latin typeface="Arial" panose="020B0604020202020204" pitchFamily="34" charset="0"/>
                          <a:cs typeface="Arial" panose="020B0604020202020204" pitchFamily="34" charset="0"/>
                        </a:rPr>
                        <a:t>53</a:t>
                      </a:r>
                      <a:endParaRPr lang="en-IE" sz="1600" b="0" dirty="0">
                        <a:solidFill>
                          <a:schemeClr val="tx1"/>
                        </a:solidFill>
                        <a:effectLst/>
                        <a:latin typeface="Arial" panose="020B0604020202020204" pitchFamily="34" charset="0"/>
                        <a:ea typeface="Times New Roman"/>
                        <a:cs typeface="Arial" panose="020B0604020202020204" pitchFamily="34" charset="0"/>
                      </a:endParaRPr>
                    </a:p>
                  </a:txBody>
                  <a:tcPr marL="68580" marR="68580" marT="0" marB="0" anchor="ctr">
                    <a:noFill/>
                  </a:tcPr>
                </a:tc>
                <a:extLst>
                  <a:ext uri="{0D108BD9-81ED-4DB2-BD59-A6C34878D82A}">
                    <a16:rowId xmlns:a16="http://schemas.microsoft.com/office/drawing/2014/main" val="10008"/>
                  </a:ext>
                </a:extLst>
              </a:tr>
              <a:tr h="300445">
                <a:tc>
                  <a:txBody>
                    <a:bodyPr/>
                    <a:lstStyle/>
                    <a:p>
                      <a:pPr>
                        <a:spcAft>
                          <a:spcPts val="0"/>
                        </a:spcAft>
                      </a:pPr>
                      <a:r>
                        <a:rPr lang="en-GB" sz="1600" b="0" dirty="0">
                          <a:solidFill>
                            <a:schemeClr val="tx1"/>
                          </a:solidFill>
                          <a:effectLst/>
                          <a:latin typeface="Arial" panose="020B0604020202020204" pitchFamily="34" charset="0"/>
                          <a:cs typeface="Arial" panose="020B0604020202020204" pitchFamily="34" charset="0"/>
                        </a:rPr>
                        <a:t>Reflective Learning Journal</a:t>
                      </a:r>
                      <a:endParaRPr lang="en-IE" sz="1600" b="0" dirty="0">
                        <a:solidFill>
                          <a:schemeClr val="tx1"/>
                        </a:solidFill>
                        <a:effectLst/>
                        <a:latin typeface="Arial" panose="020B0604020202020204" pitchFamily="34" charset="0"/>
                        <a:ea typeface="Times New Roman"/>
                        <a:cs typeface="Arial" panose="020B0604020202020204" pitchFamily="34" charset="0"/>
                      </a:endParaRPr>
                    </a:p>
                  </a:txBody>
                  <a:tcPr marL="68580" marR="68580" marT="0" marB="0" anchor="ctr">
                    <a:noFill/>
                  </a:tcPr>
                </a:tc>
                <a:tc>
                  <a:txBody>
                    <a:bodyPr/>
                    <a:lstStyle/>
                    <a:p>
                      <a:pPr>
                        <a:spcAft>
                          <a:spcPts val="0"/>
                        </a:spcAft>
                      </a:pPr>
                      <a:r>
                        <a:rPr lang="en-GB" sz="1600" b="0" dirty="0">
                          <a:solidFill>
                            <a:schemeClr val="tx1"/>
                          </a:solidFill>
                          <a:effectLst/>
                          <a:latin typeface="Arial" panose="020B0604020202020204" pitchFamily="34" charset="0"/>
                          <a:cs typeface="Arial" panose="020B0604020202020204" pitchFamily="34" charset="0"/>
                        </a:rPr>
                        <a:t>Qualitative</a:t>
                      </a:r>
                      <a:endParaRPr lang="en-IE" sz="1600" b="0" dirty="0">
                        <a:solidFill>
                          <a:schemeClr val="tx1"/>
                        </a:solidFill>
                        <a:effectLst/>
                        <a:latin typeface="Arial" panose="020B0604020202020204" pitchFamily="34" charset="0"/>
                        <a:ea typeface="Times New Roman"/>
                        <a:cs typeface="Arial" panose="020B0604020202020204" pitchFamily="34" charset="0"/>
                      </a:endParaRPr>
                    </a:p>
                  </a:txBody>
                  <a:tcPr marL="68580" marR="68580" marT="0" marB="0" anchor="ctr">
                    <a:noFill/>
                  </a:tcPr>
                </a:tc>
                <a:tc>
                  <a:txBody>
                    <a:bodyPr/>
                    <a:lstStyle/>
                    <a:p>
                      <a:pPr algn="r">
                        <a:spcAft>
                          <a:spcPts val="0"/>
                        </a:spcAft>
                      </a:pPr>
                      <a:r>
                        <a:rPr lang="en-GB" sz="1600" b="0" dirty="0">
                          <a:solidFill>
                            <a:schemeClr val="tx1"/>
                          </a:solidFill>
                          <a:effectLst/>
                          <a:latin typeface="Arial" panose="020B0604020202020204" pitchFamily="34" charset="0"/>
                          <a:cs typeface="Arial" panose="020B0604020202020204" pitchFamily="34" charset="0"/>
                        </a:rPr>
                        <a:t>18</a:t>
                      </a:r>
                      <a:endParaRPr lang="en-IE" sz="1600" b="0" dirty="0">
                        <a:solidFill>
                          <a:schemeClr val="tx1"/>
                        </a:solidFill>
                        <a:effectLst/>
                        <a:latin typeface="Arial" panose="020B0604020202020204" pitchFamily="34" charset="0"/>
                        <a:ea typeface="Times New Roman"/>
                        <a:cs typeface="Arial" panose="020B0604020202020204" pitchFamily="34" charset="0"/>
                      </a:endParaRPr>
                    </a:p>
                  </a:txBody>
                  <a:tcPr marL="68580" marR="68580" marT="0" marB="0" anchor="ctr">
                    <a:noFill/>
                  </a:tcPr>
                </a:tc>
                <a:extLst>
                  <a:ext uri="{0D108BD9-81ED-4DB2-BD59-A6C34878D82A}">
                    <a16:rowId xmlns:a16="http://schemas.microsoft.com/office/drawing/2014/main" val="10009"/>
                  </a:ext>
                </a:extLst>
              </a:tr>
              <a:tr h="274320">
                <a:tc>
                  <a:txBody>
                    <a:bodyPr/>
                    <a:lstStyle/>
                    <a:p>
                      <a:pPr>
                        <a:spcAft>
                          <a:spcPts val="0"/>
                        </a:spcAft>
                      </a:pPr>
                      <a:r>
                        <a:rPr lang="en-GB" sz="1600" b="0" dirty="0">
                          <a:solidFill>
                            <a:schemeClr val="tx1"/>
                          </a:solidFill>
                          <a:effectLst/>
                          <a:latin typeface="Arial" panose="020B0604020202020204" pitchFamily="34" charset="0"/>
                          <a:cs typeface="Arial" panose="020B0604020202020204" pitchFamily="34" charset="0"/>
                        </a:rPr>
                        <a:t>Interview (Journal evaluation and Study habits)</a:t>
                      </a:r>
                      <a:endParaRPr lang="en-IE" sz="1600" b="0" dirty="0">
                        <a:solidFill>
                          <a:schemeClr val="tx1"/>
                        </a:solidFill>
                        <a:effectLst/>
                        <a:latin typeface="Arial" panose="020B0604020202020204" pitchFamily="34" charset="0"/>
                        <a:ea typeface="Times New Roman"/>
                        <a:cs typeface="Arial" panose="020B0604020202020204" pitchFamily="34" charset="0"/>
                      </a:endParaRPr>
                    </a:p>
                  </a:txBody>
                  <a:tcPr marL="68580" marR="68580" marT="0" marB="0" anchor="ctr">
                    <a:noFill/>
                  </a:tcPr>
                </a:tc>
                <a:tc>
                  <a:txBody>
                    <a:bodyPr/>
                    <a:lstStyle/>
                    <a:p>
                      <a:pPr>
                        <a:spcAft>
                          <a:spcPts val="0"/>
                        </a:spcAft>
                      </a:pPr>
                      <a:r>
                        <a:rPr lang="en-GB" sz="1600" b="0" dirty="0">
                          <a:solidFill>
                            <a:schemeClr val="tx1"/>
                          </a:solidFill>
                          <a:effectLst/>
                          <a:latin typeface="Arial" panose="020B0604020202020204" pitchFamily="34" charset="0"/>
                          <a:cs typeface="Arial" panose="020B0604020202020204" pitchFamily="34" charset="0"/>
                        </a:rPr>
                        <a:t>Qualitative</a:t>
                      </a:r>
                      <a:endParaRPr lang="en-IE" sz="1600" b="0" dirty="0">
                        <a:solidFill>
                          <a:schemeClr val="tx1"/>
                        </a:solidFill>
                        <a:effectLst/>
                        <a:latin typeface="Arial" panose="020B0604020202020204" pitchFamily="34" charset="0"/>
                        <a:ea typeface="Times New Roman"/>
                        <a:cs typeface="Arial" panose="020B0604020202020204" pitchFamily="34" charset="0"/>
                      </a:endParaRPr>
                    </a:p>
                  </a:txBody>
                  <a:tcPr marL="68580" marR="68580" marT="0" marB="0" anchor="ctr">
                    <a:noFill/>
                  </a:tcPr>
                </a:tc>
                <a:tc>
                  <a:txBody>
                    <a:bodyPr/>
                    <a:lstStyle/>
                    <a:p>
                      <a:pPr algn="r">
                        <a:spcAft>
                          <a:spcPts val="0"/>
                        </a:spcAft>
                      </a:pPr>
                      <a:r>
                        <a:rPr lang="en-GB" sz="1600" b="0" dirty="0">
                          <a:solidFill>
                            <a:schemeClr val="tx1"/>
                          </a:solidFill>
                          <a:effectLst/>
                          <a:latin typeface="Arial" panose="020B0604020202020204" pitchFamily="34" charset="0"/>
                          <a:cs typeface="Arial" panose="020B0604020202020204" pitchFamily="34" charset="0"/>
                        </a:rPr>
                        <a:t>4</a:t>
                      </a:r>
                      <a:endParaRPr lang="en-IE" sz="1600" b="0" dirty="0">
                        <a:solidFill>
                          <a:schemeClr val="tx1"/>
                        </a:solidFill>
                        <a:effectLst/>
                        <a:latin typeface="Arial" panose="020B0604020202020204" pitchFamily="34" charset="0"/>
                        <a:ea typeface="Times New Roman"/>
                        <a:cs typeface="Arial" panose="020B0604020202020204" pitchFamily="34" charset="0"/>
                      </a:endParaRPr>
                    </a:p>
                  </a:txBody>
                  <a:tcPr marL="68580" marR="68580" marT="0" marB="0" anchor="ctr">
                    <a:noFill/>
                  </a:tcPr>
                </a:tc>
                <a:extLst>
                  <a:ext uri="{0D108BD9-81ED-4DB2-BD59-A6C34878D82A}">
                    <a16:rowId xmlns:a16="http://schemas.microsoft.com/office/drawing/2014/main" val="10010"/>
                  </a:ext>
                </a:extLst>
              </a:tr>
              <a:tr h="0">
                <a:tc gridSpan="3">
                  <a:txBody>
                    <a:bodyPr/>
                    <a:lstStyle/>
                    <a:p>
                      <a:pPr>
                        <a:spcAft>
                          <a:spcPts val="0"/>
                        </a:spcAft>
                      </a:pPr>
                      <a:endParaRPr lang="en-IE" sz="800" dirty="0">
                        <a:solidFill>
                          <a:schemeClr val="tx1"/>
                        </a:solidFill>
                        <a:effectLst/>
                        <a:latin typeface="Arial" panose="020B0604020202020204" pitchFamily="34" charset="0"/>
                        <a:ea typeface="Times New Roman"/>
                        <a:cs typeface="Arial" panose="020B0604020202020204" pitchFamily="34" charset="0"/>
                      </a:endParaRPr>
                    </a:p>
                  </a:txBody>
                  <a:tcPr marL="68580" marR="68580" marT="0" marB="0" anchor="ctr">
                    <a:noFill/>
                  </a:tcPr>
                </a:tc>
                <a:tc hMerge="1">
                  <a:txBody>
                    <a:bodyPr/>
                    <a:lstStyle/>
                    <a:p>
                      <a:endParaRPr lang="en-IE"/>
                    </a:p>
                  </a:txBody>
                  <a:tcPr/>
                </a:tc>
                <a:tc hMerge="1">
                  <a:txBody>
                    <a:bodyPr/>
                    <a:lstStyle/>
                    <a:p>
                      <a:endParaRPr lang="en-IE"/>
                    </a:p>
                  </a:txBody>
                  <a:tcPr/>
                </a:tc>
                <a:extLst>
                  <a:ext uri="{0D108BD9-81ED-4DB2-BD59-A6C34878D82A}">
                    <a16:rowId xmlns:a16="http://schemas.microsoft.com/office/drawing/2014/main" val="10012"/>
                  </a:ext>
                </a:extLst>
              </a:tr>
              <a:tr h="398339">
                <a:tc>
                  <a:txBody>
                    <a:bodyPr/>
                    <a:lstStyle/>
                    <a:p>
                      <a:pPr>
                        <a:spcAft>
                          <a:spcPts val="0"/>
                        </a:spcAft>
                      </a:pPr>
                      <a:r>
                        <a:rPr lang="en-IE" sz="1800" dirty="0">
                          <a:solidFill>
                            <a:schemeClr val="tx1"/>
                          </a:solidFill>
                          <a:effectLst/>
                          <a:latin typeface="Arial" panose="020B0604020202020204" pitchFamily="34" charset="0"/>
                          <a:ea typeface="Times New Roman"/>
                          <a:cs typeface="Arial" panose="020B0604020202020204" pitchFamily="34" charset="0"/>
                        </a:rPr>
                        <a:t>Principal Study - 2016</a:t>
                      </a:r>
                    </a:p>
                  </a:txBody>
                  <a:tcPr marL="68580" marR="68580" marT="0" marB="0" anchor="ctr"/>
                </a:tc>
                <a:tc>
                  <a:txBody>
                    <a:bodyPr/>
                    <a:lstStyle/>
                    <a:p>
                      <a:pPr marL="0" algn="l" defTabSz="4388900" rtl="0" eaLnBrk="1" latinLnBrk="0" hangingPunct="1">
                        <a:spcAft>
                          <a:spcPts val="0"/>
                        </a:spcAft>
                      </a:pPr>
                      <a:r>
                        <a:rPr lang="en-GB" sz="2000" b="1" kern="1200" dirty="0">
                          <a:solidFill>
                            <a:schemeClr val="lt1"/>
                          </a:solidFill>
                          <a:effectLst/>
                          <a:latin typeface="+mn-lt"/>
                          <a:ea typeface="+mn-ea"/>
                          <a:cs typeface="+mn-cs"/>
                        </a:rPr>
                        <a:t>Analysis</a:t>
                      </a:r>
                      <a:endParaRPr lang="en-IE" sz="2000" b="1" kern="1200" dirty="0">
                        <a:solidFill>
                          <a:schemeClr val="lt1"/>
                        </a:solidFill>
                        <a:effectLst/>
                        <a:latin typeface="+mn-lt"/>
                        <a:ea typeface="+mn-ea"/>
                        <a:cs typeface="+mn-cs"/>
                      </a:endParaRPr>
                    </a:p>
                  </a:txBody>
                  <a:tcPr marL="68580" marR="68580" marT="0" marB="0" anchor="ctr">
                    <a:solidFill>
                      <a:schemeClr val="accent1"/>
                    </a:solidFill>
                  </a:tcPr>
                </a:tc>
                <a:tc>
                  <a:txBody>
                    <a:bodyPr/>
                    <a:lstStyle/>
                    <a:p>
                      <a:pPr marL="0" algn="l" defTabSz="4388900" rtl="0" eaLnBrk="1" latinLnBrk="0" hangingPunct="1">
                        <a:spcAft>
                          <a:spcPts val="0"/>
                        </a:spcAft>
                      </a:pPr>
                      <a:r>
                        <a:rPr lang="en-GB" sz="2000" b="1" kern="1200" dirty="0">
                          <a:solidFill>
                            <a:schemeClr val="lt1"/>
                          </a:solidFill>
                          <a:effectLst/>
                          <a:latin typeface="+mn-lt"/>
                          <a:ea typeface="+mn-ea"/>
                          <a:cs typeface="+mn-cs"/>
                        </a:rPr>
                        <a:t>Sample</a:t>
                      </a:r>
                      <a:endParaRPr lang="en-IE" sz="2000" b="1" kern="1200" dirty="0">
                        <a:solidFill>
                          <a:schemeClr val="lt1"/>
                        </a:solidFill>
                        <a:effectLst/>
                        <a:latin typeface="+mn-lt"/>
                        <a:ea typeface="+mn-ea"/>
                        <a:cs typeface="+mn-cs"/>
                      </a:endParaRPr>
                    </a:p>
                  </a:txBody>
                  <a:tcPr marL="68580" marR="68580" marT="0" marB="0" anchor="ctr">
                    <a:solidFill>
                      <a:schemeClr val="accent1"/>
                    </a:solidFill>
                  </a:tcPr>
                </a:tc>
                <a:extLst>
                  <a:ext uri="{0D108BD9-81ED-4DB2-BD59-A6C34878D82A}">
                    <a16:rowId xmlns:a16="http://schemas.microsoft.com/office/drawing/2014/main" val="10013"/>
                  </a:ext>
                </a:extLst>
              </a:tr>
              <a:tr h="289639">
                <a:tc>
                  <a:txBody>
                    <a:bodyPr/>
                    <a:lstStyle/>
                    <a:p>
                      <a:pPr marL="0" algn="l" defTabSz="4388900" rtl="0" eaLnBrk="1" latinLnBrk="0" hangingPunct="1">
                        <a:spcAft>
                          <a:spcPts val="0"/>
                        </a:spcAft>
                      </a:pPr>
                      <a:r>
                        <a:rPr lang="en-IE" sz="1600" b="0" kern="1200" dirty="0">
                          <a:solidFill>
                            <a:schemeClr val="tx1"/>
                          </a:solidFill>
                          <a:effectLst/>
                          <a:latin typeface="Arial" panose="020B0604020202020204" pitchFamily="34" charset="0"/>
                          <a:ea typeface="+mn-ea"/>
                          <a:cs typeface="Arial" panose="020B0604020202020204" pitchFamily="34" charset="0"/>
                        </a:rPr>
                        <a:t>Student Engagement &amp; Self-Efficacy Questionnaire – (Treatment</a:t>
                      </a:r>
                      <a:r>
                        <a:rPr lang="en-IE" sz="1600" b="0" kern="1200" baseline="0" dirty="0">
                          <a:solidFill>
                            <a:schemeClr val="tx1"/>
                          </a:solidFill>
                          <a:effectLst/>
                          <a:latin typeface="Arial" panose="020B0604020202020204" pitchFamily="34" charset="0"/>
                          <a:ea typeface="+mn-ea"/>
                          <a:cs typeface="Arial" panose="020B0604020202020204" pitchFamily="34" charset="0"/>
                        </a:rPr>
                        <a:t> Group)</a:t>
                      </a:r>
                      <a:endParaRPr lang="en-IE" sz="1600" b="0" kern="1200" dirty="0">
                        <a:solidFill>
                          <a:schemeClr val="tx1"/>
                        </a:solidFill>
                        <a:effectLst/>
                        <a:latin typeface="Arial" panose="020B0604020202020204" pitchFamily="34" charset="0"/>
                        <a:ea typeface="+mn-ea"/>
                        <a:cs typeface="Arial" panose="020B0604020202020204" pitchFamily="34" charset="0"/>
                      </a:endParaRPr>
                    </a:p>
                  </a:txBody>
                  <a:tcPr marL="68580" marR="68580" marT="0" marB="0" anchor="ctr">
                    <a:noFill/>
                  </a:tcPr>
                </a:tc>
                <a:tc>
                  <a:txBody>
                    <a:bodyPr/>
                    <a:lstStyle/>
                    <a:p>
                      <a:pPr>
                        <a:spcAft>
                          <a:spcPts val="0"/>
                        </a:spcAft>
                      </a:pPr>
                      <a:r>
                        <a:rPr lang="en-GB" sz="1600" b="0" dirty="0">
                          <a:solidFill>
                            <a:schemeClr val="tx1"/>
                          </a:solidFill>
                          <a:effectLst/>
                          <a:latin typeface="Arial" panose="020B0604020202020204" pitchFamily="34" charset="0"/>
                          <a:cs typeface="Arial" panose="020B0604020202020204" pitchFamily="34" charset="0"/>
                        </a:rPr>
                        <a:t>Quantitative</a:t>
                      </a:r>
                      <a:endParaRPr lang="en-IE" sz="1600" b="0" dirty="0">
                        <a:solidFill>
                          <a:schemeClr val="tx1"/>
                        </a:solidFill>
                        <a:effectLst/>
                        <a:latin typeface="Arial" panose="020B0604020202020204" pitchFamily="34" charset="0"/>
                        <a:ea typeface="Times New Roman"/>
                        <a:cs typeface="Arial" panose="020B0604020202020204" pitchFamily="34" charset="0"/>
                      </a:endParaRPr>
                    </a:p>
                  </a:txBody>
                  <a:tcPr marL="68580" marR="68580" marT="0" marB="0" anchor="ctr">
                    <a:noFill/>
                  </a:tcPr>
                </a:tc>
                <a:tc>
                  <a:txBody>
                    <a:bodyPr/>
                    <a:lstStyle/>
                    <a:p>
                      <a:pPr algn="r">
                        <a:spcAft>
                          <a:spcPts val="0"/>
                        </a:spcAft>
                      </a:pPr>
                      <a:r>
                        <a:rPr lang="en-GB" sz="1600" b="0" dirty="0">
                          <a:solidFill>
                            <a:schemeClr val="tx1"/>
                          </a:solidFill>
                          <a:effectLst/>
                          <a:latin typeface="Arial" panose="020B0604020202020204" pitchFamily="34" charset="0"/>
                          <a:cs typeface="Arial" panose="020B0604020202020204" pitchFamily="34" charset="0"/>
                        </a:rPr>
                        <a:t>44</a:t>
                      </a:r>
                      <a:endParaRPr lang="en-IE" sz="1600" b="0" dirty="0">
                        <a:solidFill>
                          <a:schemeClr val="tx1"/>
                        </a:solidFill>
                        <a:effectLst/>
                        <a:latin typeface="Arial" panose="020B0604020202020204" pitchFamily="34" charset="0"/>
                        <a:ea typeface="Times New Roman"/>
                        <a:cs typeface="Arial" panose="020B0604020202020204" pitchFamily="34" charset="0"/>
                      </a:endParaRPr>
                    </a:p>
                  </a:txBody>
                  <a:tcPr marL="68580" marR="68580" marT="0" marB="0" anchor="ctr">
                    <a:noFill/>
                  </a:tcPr>
                </a:tc>
                <a:extLst>
                  <a:ext uri="{0D108BD9-81ED-4DB2-BD59-A6C34878D82A}">
                    <a16:rowId xmlns:a16="http://schemas.microsoft.com/office/drawing/2014/main" val="10014"/>
                  </a:ext>
                </a:extLst>
              </a:tr>
              <a:tr h="326571">
                <a:tc>
                  <a:txBody>
                    <a:bodyPr/>
                    <a:lstStyle/>
                    <a:p>
                      <a:pPr marL="0" algn="l" defTabSz="4388900" rtl="0" eaLnBrk="1" latinLnBrk="0" hangingPunct="1">
                        <a:spcAft>
                          <a:spcPts val="0"/>
                        </a:spcAft>
                      </a:pPr>
                      <a:r>
                        <a:rPr lang="en-IE" sz="1600" b="0" kern="1200" dirty="0">
                          <a:solidFill>
                            <a:schemeClr val="tx1"/>
                          </a:solidFill>
                          <a:effectLst/>
                          <a:latin typeface="Arial" panose="020B0604020202020204" pitchFamily="34" charset="0"/>
                          <a:ea typeface="+mn-ea"/>
                          <a:cs typeface="Arial" panose="020B0604020202020204" pitchFamily="34" charset="0"/>
                        </a:rPr>
                        <a:t>Student Engagement &amp; Self-Efficacy Questionnaire –(Control)</a:t>
                      </a:r>
                    </a:p>
                  </a:txBody>
                  <a:tcPr marL="68580" marR="68580" marT="0" marB="0" anchor="ctr">
                    <a:noFill/>
                  </a:tcPr>
                </a:tc>
                <a:tc>
                  <a:txBody>
                    <a:bodyPr/>
                    <a:lstStyle/>
                    <a:p>
                      <a:pPr>
                        <a:spcAft>
                          <a:spcPts val="0"/>
                        </a:spcAft>
                      </a:pPr>
                      <a:r>
                        <a:rPr lang="en-GB" sz="1600" b="0" dirty="0">
                          <a:solidFill>
                            <a:schemeClr val="tx1"/>
                          </a:solidFill>
                          <a:effectLst/>
                          <a:latin typeface="Arial" panose="020B0604020202020204" pitchFamily="34" charset="0"/>
                          <a:cs typeface="Arial" panose="020B0604020202020204" pitchFamily="34" charset="0"/>
                        </a:rPr>
                        <a:t>Quantitative</a:t>
                      </a:r>
                      <a:endParaRPr lang="en-IE" sz="1600" b="0" dirty="0">
                        <a:solidFill>
                          <a:schemeClr val="tx1"/>
                        </a:solidFill>
                        <a:effectLst/>
                        <a:latin typeface="Arial" panose="020B0604020202020204" pitchFamily="34" charset="0"/>
                        <a:ea typeface="Times New Roman"/>
                        <a:cs typeface="Arial" panose="020B0604020202020204" pitchFamily="34" charset="0"/>
                      </a:endParaRPr>
                    </a:p>
                  </a:txBody>
                  <a:tcPr marL="68580" marR="68580" marT="0" marB="0" anchor="ctr">
                    <a:noFill/>
                  </a:tcPr>
                </a:tc>
                <a:tc>
                  <a:txBody>
                    <a:bodyPr/>
                    <a:lstStyle/>
                    <a:p>
                      <a:pPr algn="r">
                        <a:spcAft>
                          <a:spcPts val="0"/>
                        </a:spcAft>
                      </a:pPr>
                      <a:r>
                        <a:rPr lang="en-GB" sz="1600" b="0" dirty="0">
                          <a:solidFill>
                            <a:schemeClr val="tx1"/>
                          </a:solidFill>
                          <a:effectLst/>
                          <a:latin typeface="Arial" panose="020B0604020202020204" pitchFamily="34" charset="0"/>
                          <a:cs typeface="Arial" panose="020B0604020202020204" pitchFamily="34" charset="0"/>
                        </a:rPr>
                        <a:t>31</a:t>
                      </a:r>
                      <a:endParaRPr lang="en-IE" sz="1600" b="0" dirty="0">
                        <a:solidFill>
                          <a:schemeClr val="tx1"/>
                        </a:solidFill>
                        <a:effectLst/>
                        <a:latin typeface="Arial" panose="020B0604020202020204" pitchFamily="34" charset="0"/>
                        <a:ea typeface="Times New Roman"/>
                        <a:cs typeface="Arial" panose="020B0604020202020204" pitchFamily="34" charset="0"/>
                      </a:endParaRPr>
                    </a:p>
                  </a:txBody>
                  <a:tcPr marL="68580" marR="68580" marT="0" marB="0" anchor="ctr">
                    <a:noFill/>
                  </a:tcPr>
                </a:tc>
                <a:extLst>
                  <a:ext uri="{0D108BD9-81ED-4DB2-BD59-A6C34878D82A}">
                    <a16:rowId xmlns:a16="http://schemas.microsoft.com/office/drawing/2014/main" val="10015"/>
                  </a:ext>
                </a:extLst>
              </a:tr>
              <a:tr h="300446">
                <a:tc>
                  <a:txBody>
                    <a:bodyPr/>
                    <a:lstStyle/>
                    <a:p>
                      <a:pPr>
                        <a:spcAft>
                          <a:spcPts val="0"/>
                        </a:spcAft>
                      </a:pPr>
                      <a:r>
                        <a:rPr lang="en-IE" sz="1600" b="0" dirty="0">
                          <a:solidFill>
                            <a:schemeClr val="tx1"/>
                          </a:solidFill>
                          <a:effectLst/>
                          <a:latin typeface="Arial" panose="020B0604020202020204" pitchFamily="34" charset="0"/>
                          <a:cs typeface="Arial" panose="020B0604020202020204" pitchFamily="34" charset="0"/>
                        </a:rPr>
                        <a:t>Interview (start and end of semester with principal programming lecturer )</a:t>
                      </a:r>
                      <a:endParaRPr lang="en-IE" sz="1600" b="0" dirty="0">
                        <a:solidFill>
                          <a:schemeClr val="tx1"/>
                        </a:solidFill>
                        <a:effectLst/>
                        <a:latin typeface="Arial" panose="020B0604020202020204" pitchFamily="34" charset="0"/>
                        <a:ea typeface="Times New Roman"/>
                        <a:cs typeface="Arial" panose="020B0604020202020204" pitchFamily="34" charset="0"/>
                      </a:endParaRPr>
                    </a:p>
                  </a:txBody>
                  <a:tcPr marL="68580" marR="68580" marT="0" marB="0" anchor="ctr">
                    <a:noFill/>
                  </a:tcPr>
                </a:tc>
                <a:tc>
                  <a:txBody>
                    <a:bodyPr/>
                    <a:lstStyle/>
                    <a:p>
                      <a:pPr>
                        <a:spcAft>
                          <a:spcPts val="0"/>
                        </a:spcAft>
                      </a:pPr>
                      <a:r>
                        <a:rPr lang="en-GB" sz="1600" b="0" dirty="0">
                          <a:solidFill>
                            <a:schemeClr val="tx1"/>
                          </a:solidFill>
                          <a:effectLst/>
                          <a:latin typeface="Arial" panose="020B0604020202020204" pitchFamily="34" charset="0"/>
                          <a:cs typeface="Arial" panose="020B0604020202020204" pitchFamily="34" charset="0"/>
                        </a:rPr>
                        <a:t>Qualitative</a:t>
                      </a:r>
                      <a:endParaRPr lang="en-IE" sz="1600" b="0" dirty="0">
                        <a:solidFill>
                          <a:schemeClr val="tx1"/>
                        </a:solidFill>
                        <a:effectLst/>
                        <a:latin typeface="Arial" panose="020B0604020202020204" pitchFamily="34" charset="0"/>
                        <a:ea typeface="Times New Roman"/>
                        <a:cs typeface="Arial" panose="020B0604020202020204" pitchFamily="34" charset="0"/>
                      </a:endParaRPr>
                    </a:p>
                  </a:txBody>
                  <a:tcPr marL="68580" marR="68580" marT="0" marB="0" anchor="ctr">
                    <a:noFill/>
                  </a:tcPr>
                </a:tc>
                <a:tc>
                  <a:txBody>
                    <a:bodyPr/>
                    <a:lstStyle/>
                    <a:p>
                      <a:pPr algn="r">
                        <a:spcAft>
                          <a:spcPts val="0"/>
                        </a:spcAft>
                      </a:pPr>
                      <a:r>
                        <a:rPr lang="en-GB" sz="1600" b="0" dirty="0">
                          <a:solidFill>
                            <a:schemeClr val="tx1"/>
                          </a:solidFill>
                          <a:effectLst/>
                          <a:latin typeface="Arial" panose="020B0604020202020204" pitchFamily="34" charset="0"/>
                          <a:cs typeface="Arial" panose="020B0604020202020204" pitchFamily="34" charset="0"/>
                        </a:rPr>
                        <a:t>1</a:t>
                      </a:r>
                      <a:endParaRPr lang="en-IE" sz="1600" b="0" dirty="0">
                        <a:solidFill>
                          <a:schemeClr val="tx1"/>
                        </a:solidFill>
                        <a:effectLst/>
                        <a:latin typeface="Arial" panose="020B0604020202020204" pitchFamily="34" charset="0"/>
                        <a:ea typeface="Times New Roman"/>
                        <a:cs typeface="Arial" panose="020B0604020202020204" pitchFamily="34" charset="0"/>
                      </a:endParaRPr>
                    </a:p>
                  </a:txBody>
                  <a:tcPr marL="68580" marR="68580" marT="0" marB="0" anchor="ctr">
                    <a:noFill/>
                  </a:tcPr>
                </a:tc>
                <a:extLst>
                  <a:ext uri="{0D108BD9-81ED-4DB2-BD59-A6C34878D82A}">
                    <a16:rowId xmlns:a16="http://schemas.microsoft.com/office/drawing/2014/main" val="10016"/>
                  </a:ext>
                </a:extLst>
              </a:tr>
              <a:tr h="300445">
                <a:tc>
                  <a:txBody>
                    <a:bodyPr/>
                    <a:lstStyle/>
                    <a:p>
                      <a:pPr>
                        <a:spcAft>
                          <a:spcPts val="0"/>
                        </a:spcAft>
                      </a:pPr>
                      <a:r>
                        <a:rPr lang="en-IE" sz="1600" b="0" dirty="0">
                          <a:solidFill>
                            <a:schemeClr val="tx1"/>
                          </a:solidFill>
                          <a:effectLst/>
                          <a:latin typeface="Arial" panose="020B0604020202020204" pitchFamily="34" charset="0"/>
                          <a:cs typeface="Arial" panose="020B0604020202020204" pitchFamily="34" charset="0"/>
                        </a:rPr>
                        <a:t>Interview (end of semester with treatment group participants)</a:t>
                      </a:r>
                      <a:endParaRPr lang="en-IE" sz="1600" b="0" dirty="0">
                        <a:solidFill>
                          <a:schemeClr val="tx1"/>
                        </a:solidFill>
                        <a:effectLst/>
                        <a:latin typeface="Arial" panose="020B0604020202020204" pitchFamily="34" charset="0"/>
                        <a:ea typeface="Times New Roman"/>
                        <a:cs typeface="Arial" panose="020B0604020202020204" pitchFamily="34" charset="0"/>
                      </a:endParaRPr>
                    </a:p>
                  </a:txBody>
                  <a:tcPr marL="68580" marR="68580" marT="0" marB="0" anchor="ctr">
                    <a:noFill/>
                  </a:tcPr>
                </a:tc>
                <a:tc>
                  <a:txBody>
                    <a:bodyPr/>
                    <a:lstStyle/>
                    <a:p>
                      <a:pPr>
                        <a:spcAft>
                          <a:spcPts val="0"/>
                        </a:spcAft>
                      </a:pPr>
                      <a:r>
                        <a:rPr lang="en-GB" sz="1600" b="0" dirty="0">
                          <a:solidFill>
                            <a:schemeClr val="tx1"/>
                          </a:solidFill>
                          <a:effectLst/>
                          <a:latin typeface="Arial" panose="020B0604020202020204" pitchFamily="34" charset="0"/>
                          <a:cs typeface="Arial" panose="020B0604020202020204" pitchFamily="34" charset="0"/>
                        </a:rPr>
                        <a:t>Qualitative</a:t>
                      </a:r>
                      <a:endParaRPr lang="en-IE" sz="1600" b="0" dirty="0">
                        <a:solidFill>
                          <a:schemeClr val="tx1"/>
                        </a:solidFill>
                        <a:effectLst/>
                        <a:latin typeface="Arial" panose="020B0604020202020204" pitchFamily="34" charset="0"/>
                        <a:ea typeface="Times New Roman"/>
                        <a:cs typeface="Arial" panose="020B0604020202020204" pitchFamily="34" charset="0"/>
                      </a:endParaRPr>
                    </a:p>
                  </a:txBody>
                  <a:tcPr marL="68580" marR="68580" marT="0" marB="0" anchor="ctr">
                    <a:noFill/>
                  </a:tcPr>
                </a:tc>
                <a:tc>
                  <a:txBody>
                    <a:bodyPr/>
                    <a:lstStyle/>
                    <a:p>
                      <a:pPr algn="r">
                        <a:spcAft>
                          <a:spcPts val="0"/>
                        </a:spcAft>
                      </a:pPr>
                      <a:r>
                        <a:rPr lang="en-GB" sz="1600" b="0" dirty="0">
                          <a:solidFill>
                            <a:schemeClr val="tx1"/>
                          </a:solidFill>
                          <a:effectLst/>
                          <a:latin typeface="Arial" panose="020B0604020202020204" pitchFamily="34" charset="0"/>
                          <a:cs typeface="Arial" panose="020B0604020202020204" pitchFamily="34" charset="0"/>
                        </a:rPr>
                        <a:t>4</a:t>
                      </a:r>
                      <a:endParaRPr lang="en-IE" sz="1600" b="0" dirty="0">
                        <a:solidFill>
                          <a:schemeClr val="tx1"/>
                        </a:solidFill>
                        <a:effectLst/>
                        <a:latin typeface="Arial" panose="020B0604020202020204" pitchFamily="34" charset="0"/>
                        <a:ea typeface="Times New Roman"/>
                        <a:cs typeface="Arial" panose="020B0604020202020204" pitchFamily="34" charset="0"/>
                      </a:endParaRPr>
                    </a:p>
                  </a:txBody>
                  <a:tcPr marL="68580" marR="68580" marT="0" marB="0" anchor="ctr">
                    <a:noFill/>
                  </a:tcPr>
                </a:tc>
                <a:extLst>
                  <a:ext uri="{0D108BD9-81ED-4DB2-BD59-A6C34878D82A}">
                    <a16:rowId xmlns:a16="http://schemas.microsoft.com/office/drawing/2014/main" val="10017"/>
                  </a:ext>
                </a:extLst>
              </a:tr>
              <a:tr h="308218">
                <a:tc>
                  <a:txBody>
                    <a:bodyPr/>
                    <a:lstStyle/>
                    <a:p>
                      <a:pPr>
                        <a:spcAft>
                          <a:spcPts val="0"/>
                        </a:spcAft>
                      </a:pPr>
                      <a:r>
                        <a:rPr lang="en-IE" sz="1600" b="0" dirty="0">
                          <a:solidFill>
                            <a:schemeClr val="tx1"/>
                          </a:solidFill>
                          <a:effectLst/>
                          <a:latin typeface="Arial" panose="020B0604020202020204" pitchFamily="34" charset="0"/>
                          <a:cs typeface="Arial" panose="020B0604020202020204" pitchFamily="34" charset="0"/>
                        </a:rPr>
                        <a:t>PBL/PAL activity feedback forms (5x sessions)</a:t>
                      </a:r>
                      <a:endParaRPr lang="en-IE" sz="1600" b="0" dirty="0">
                        <a:solidFill>
                          <a:schemeClr val="tx1"/>
                        </a:solidFill>
                        <a:effectLst/>
                        <a:latin typeface="Arial" panose="020B0604020202020204" pitchFamily="34" charset="0"/>
                        <a:ea typeface="Times New Roman"/>
                        <a:cs typeface="Arial" panose="020B0604020202020204" pitchFamily="34" charset="0"/>
                      </a:endParaRPr>
                    </a:p>
                  </a:txBody>
                  <a:tcPr marL="68580" marR="68580" marT="0" marB="0" anchor="ctr">
                    <a:noFill/>
                  </a:tcPr>
                </a:tc>
                <a:tc>
                  <a:txBody>
                    <a:bodyPr/>
                    <a:lstStyle/>
                    <a:p>
                      <a:pPr>
                        <a:spcAft>
                          <a:spcPts val="0"/>
                        </a:spcAft>
                      </a:pPr>
                      <a:r>
                        <a:rPr lang="en-GB" sz="1600" b="0" dirty="0">
                          <a:solidFill>
                            <a:schemeClr val="tx1"/>
                          </a:solidFill>
                          <a:effectLst/>
                          <a:latin typeface="Arial" panose="020B0604020202020204" pitchFamily="34" charset="0"/>
                          <a:cs typeface="Arial" panose="020B0604020202020204" pitchFamily="34" charset="0"/>
                        </a:rPr>
                        <a:t>Qualitative</a:t>
                      </a:r>
                      <a:endParaRPr lang="en-IE" sz="1600" b="0" dirty="0">
                        <a:solidFill>
                          <a:schemeClr val="tx1"/>
                        </a:solidFill>
                        <a:effectLst/>
                        <a:latin typeface="Arial" panose="020B0604020202020204" pitchFamily="34" charset="0"/>
                        <a:ea typeface="Times New Roman"/>
                        <a:cs typeface="Arial" panose="020B0604020202020204" pitchFamily="34" charset="0"/>
                      </a:endParaRPr>
                    </a:p>
                  </a:txBody>
                  <a:tcPr marL="68580" marR="68580" marT="0" marB="0" anchor="ctr">
                    <a:noFill/>
                  </a:tcPr>
                </a:tc>
                <a:tc>
                  <a:txBody>
                    <a:bodyPr/>
                    <a:lstStyle/>
                    <a:p>
                      <a:pPr algn="r">
                        <a:spcAft>
                          <a:spcPts val="0"/>
                        </a:spcAft>
                      </a:pPr>
                      <a:r>
                        <a:rPr lang="en-GB" sz="1600" b="0" dirty="0">
                          <a:solidFill>
                            <a:schemeClr val="tx1"/>
                          </a:solidFill>
                          <a:effectLst/>
                          <a:latin typeface="Arial" panose="020B0604020202020204" pitchFamily="34" charset="0"/>
                          <a:cs typeface="Arial" panose="020B0604020202020204" pitchFamily="34" charset="0"/>
                        </a:rPr>
                        <a:t>46</a:t>
                      </a:r>
                      <a:endParaRPr lang="en-IE" sz="1600" b="0" dirty="0">
                        <a:solidFill>
                          <a:schemeClr val="tx1"/>
                        </a:solidFill>
                        <a:effectLst/>
                        <a:latin typeface="Arial" panose="020B0604020202020204" pitchFamily="34" charset="0"/>
                        <a:ea typeface="Times New Roman"/>
                        <a:cs typeface="Arial" panose="020B0604020202020204" pitchFamily="34" charset="0"/>
                      </a:endParaRPr>
                    </a:p>
                  </a:txBody>
                  <a:tcPr marL="68580" marR="68580" marT="0" marB="0" anchor="ctr">
                    <a:noFill/>
                  </a:tcPr>
                </a:tc>
                <a:extLst>
                  <a:ext uri="{0D108BD9-81ED-4DB2-BD59-A6C34878D82A}">
                    <a16:rowId xmlns:a16="http://schemas.microsoft.com/office/drawing/2014/main" val="10018"/>
                  </a:ext>
                </a:extLst>
              </a:tr>
            </a:tbl>
          </a:graphicData>
        </a:graphic>
      </p:graphicFrame>
      <p:sp>
        <p:nvSpPr>
          <p:cNvPr id="45" name="Text Placeholder 4"/>
          <p:cNvSpPr>
            <a:spLocks noGrp="1"/>
          </p:cNvSpPr>
          <p:nvPr>
            <p:ph type="body" sz="quarter" idx="21"/>
          </p:nvPr>
        </p:nvSpPr>
        <p:spPr>
          <a:xfrm>
            <a:off x="11459293" y="25496880"/>
            <a:ext cx="10048874" cy="846363"/>
          </a:xfrm>
        </p:spPr>
        <p:txBody>
          <a:bodyPr/>
          <a:lstStyle/>
          <a:p>
            <a:r>
              <a:rPr lang="en-US" b="1" i="1" u="sng" dirty="0">
                <a:solidFill>
                  <a:schemeClr val="tx2"/>
                </a:solidFill>
                <a:latin typeface="Arial" panose="020B0604020202020204" pitchFamily="34" charset="0"/>
                <a:cs typeface="Arial" panose="020B0604020202020204" pitchFamily="34" charset="0"/>
              </a:rPr>
              <a:t>Data Collection</a:t>
            </a:r>
          </a:p>
        </p:txBody>
      </p:sp>
      <p:sp>
        <p:nvSpPr>
          <p:cNvPr id="39" name="Content Placeholder 2">
            <a:extLst>
              <a:ext uri="{FF2B5EF4-FFF2-40B4-BE49-F238E27FC236}">
                <a16:creationId xmlns:a16="http://schemas.microsoft.com/office/drawing/2014/main" id="{2EFFBC5F-0C09-40DB-9DFE-B704854ECCA6}"/>
              </a:ext>
            </a:extLst>
          </p:cNvPr>
          <p:cNvSpPr txBox="1">
            <a:spLocks/>
          </p:cNvSpPr>
          <p:nvPr/>
        </p:nvSpPr>
        <p:spPr>
          <a:xfrm>
            <a:off x="11693941" y="8028377"/>
            <a:ext cx="9662432" cy="979718"/>
          </a:xfrm>
          <a:prstGeom prst="rect">
            <a:avLst/>
          </a:prstGeom>
        </p:spPr>
        <p:txBody>
          <a:bodyPr>
            <a:normAutofit fontScale="70000" lnSpcReduction="20000"/>
          </a:bodyPr>
          <a:lst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marL="0" indent="0" algn="just">
              <a:buNone/>
            </a:pPr>
            <a:endParaRPr lang="en-IE" sz="9600" dirty="0">
              <a:latin typeface="Arial" panose="020B0604020202020204" pitchFamily="34" charset="0"/>
              <a:cs typeface="Arial" panose="020B0604020202020204" pitchFamily="34" charset="0"/>
            </a:endParaRPr>
          </a:p>
        </p:txBody>
      </p:sp>
      <p:sp>
        <p:nvSpPr>
          <p:cNvPr id="34" name="Text Placeholder 4"/>
          <p:cNvSpPr>
            <a:spLocks noGrp="1"/>
          </p:cNvSpPr>
          <p:nvPr>
            <p:ph type="body" sz="quarter" idx="21"/>
          </p:nvPr>
        </p:nvSpPr>
        <p:spPr>
          <a:xfrm>
            <a:off x="11453400" y="17075571"/>
            <a:ext cx="10048874" cy="846363"/>
          </a:xfrm>
        </p:spPr>
        <p:txBody>
          <a:bodyPr/>
          <a:lstStyle/>
          <a:p>
            <a:r>
              <a:rPr lang="en-US" b="1" i="1" u="sng" dirty="0">
                <a:solidFill>
                  <a:schemeClr val="tx2"/>
                </a:solidFill>
                <a:latin typeface="Arial" panose="020B0604020202020204" pitchFamily="34" charset="0"/>
                <a:cs typeface="Arial" panose="020B0604020202020204" pitchFamily="34" charset="0"/>
              </a:rPr>
              <a:t>Research Methods</a:t>
            </a:r>
          </a:p>
        </p:txBody>
      </p:sp>
      <p:sp>
        <p:nvSpPr>
          <p:cNvPr id="35" name="Text Placeholder 4">
            <a:extLst>
              <a:ext uri="{FF2B5EF4-FFF2-40B4-BE49-F238E27FC236}">
                <a16:creationId xmlns:a16="http://schemas.microsoft.com/office/drawing/2014/main" id="{9000B3FD-55D3-45AB-92CB-10A741BAA0B3}"/>
              </a:ext>
            </a:extLst>
          </p:cNvPr>
          <p:cNvSpPr txBox="1">
            <a:spLocks/>
          </p:cNvSpPr>
          <p:nvPr/>
        </p:nvSpPr>
        <p:spPr>
          <a:xfrm>
            <a:off x="11449319" y="17642446"/>
            <a:ext cx="10048874" cy="1200306"/>
          </a:xfrm>
          <a:prstGeom prst="rect">
            <a:avLst/>
          </a:prstGeom>
        </p:spPr>
        <p:txBody>
          <a:bodyPr wrap="square" lIns="228589" tIns="228589" rIns="228589" bIns="228589">
            <a:spAutoFit/>
          </a:bodyPr>
          <a:lstStyle>
            <a:lvl1pPr marL="0" indent="0" algn="l" defTabSz="4388900" rtl="0" eaLnBrk="1" latinLnBrk="0" hangingPunct="1">
              <a:spcBef>
                <a:spcPct val="20000"/>
              </a:spcBef>
              <a:buFont typeface="Arial" pitchFamily="34" charset="0"/>
              <a:buNone/>
              <a:defRPr sz="2500" kern="1200">
                <a:solidFill>
                  <a:schemeClr val="accent5">
                    <a:lumMod val="50000"/>
                  </a:schemeClr>
                </a:solidFill>
                <a:latin typeface="Times New Roman" pitchFamily="18" charset="0"/>
                <a:ea typeface="+mn-ea"/>
                <a:cs typeface="Times New Roman"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GB" sz="2400" dirty="0">
                <a:solidFill>
                  <a:schemeClr val="tx1"/>
                </a:solidFill>
                <a:latin typeface="Arial" panose="020B0604020202020204" pitchFamily="34" charset="0"/>
                <a:cs typeface="Arial" panose="020B0604020202020204" pitchFamily="34" charset="0"/>
              </a:rPr>
              <a:t>The diagram below highlights the methods and tools used over the course of the action research study. </a:t>
            </a:r>
            <a:endParaRPr lang="en-US" sz="2400" dirty="0">
              <a:solidFill>
                <a:schemeClr val="tx1"/>
              </a:solidFill>
              <a:latin typeface="Arial" panose="020B0604020202020204" pitchFamily="34" charset="0"/>
              <a:cs typeface="Arial" panose="020B0604020202020204" pitchFamily="34" charset="0"/>
            </a:endParaRPr>
          </a:p>
        </p:txBody>
      </p:sp>
      <p:sp>
        <p:nvSpPr>
          <p:cNvPr id="43" name="Text Placeholder 4">
            <a:extLst>
              <a:ext uri="{FF2B5EF4-FFF2-40B4-BE49-F238E27FC236}">
                <a16:creationId xmlns:a16="http://schemas.microsoft.com/office/drawing/2014/main" id="{D01E89C6-0794-4157-9DEF-383030D60FAB}"/>
              </a:ext>
            </a:extLst>
          </p:cNvPr>
          <p:cNvSpPr txBox="1">
            <a:spLocks/>
          </p:cNvSpPr>
          <p:nvPr/>
        </p:nvSpPr>
        <p:spPr>
          <a:xfrm>
            <a:off x="11447321" y="26027104"/>
            <a:ext cx="10048874" cy="830975"/>
          </a:xfrm>
          <a:prstGeom prst="rect">
            <a:avLst/>
          </a:prstGeom>
        </p:spPr>
        <p:txBody>
          <a:bodyPr wrap="square" lIns="228589" tIns="228589" rIns="228589" bIns="228589">
            <a:spAutoFit/>
          </a:bodyPr>
          <a:lstStyle>
            <a:lvl1pPr marL="0" indent="0" algn="l" defTabSz="4388900" rtl="0" eaLnBrk="1" latinLnBrk="0" hangingPunct="1">
              <a:spcBef>
                <a:spcPct val="20000"/>
              </a:spcBef>
              <a:buFont typeface="Arial" pitchFamily="34" charset="0"/>
              <a:buNone/>
              <a:defRPr sz="2500" kern="1200">
                <a:solidFill>
                  <a:schemeClr val="accent5">
                    <a:lumMod val="50000"/>
                  </a:schemeClr>
                </a:solidFill>
                <a:latin typeface="Times New Roman" pitchFamily="18" charset="0"/>
                <a:ea typeface="+mn-ea"/>
                <a:cs typeface="Times New Roman"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GB" sz="2400" dirty="0">
                <a:solidFill>
                  <a:schemeClr val="tx1"/>
                </a:solidFill>
                <a:latin typeface="Arial" panose="020B0604020202020204" pitchFamily="34" charset="0"/>
                <a:cs typeface="Arial" panose="020B0604020202020204" pitchFamily="34" charset="0"/>
              </a:rPr>
              <a:t>The table below is a summary of the data collected for the study.</a:t>
            </a:r>
            <a:endParaRPr lang="en-US" sz="2400" dirty="0">
              <a:solidFill>
                <a:schemeClr val="tx1"/>
              </a:solidFill>
              <a:latin typeface="Arial" panose="020B0604020202020204" pitchFamily="34" charset="0"/>
              <a:cs typeface="Arial" panose="020B0604020202020204" pitchFamily="34" charset="0"/>
            </a:endParaRPr>
          </a:p>
        </p:txBody>
      </p:sp>
      <p:sp>
        <p:nvSpPr>
          <p:cNvPr id="46" name="Content Placeholder 2">
            <a:extLst>
              <a:ext uri="{FF2B5EF4-FFF2-40B4-BE49-F238E27FC236}">
                <a16:creationId xmlns:a16="http://schemas.microsoft.com/office/drawing/2014/main" id="{BA7BC14E-5C68-4BFC-B8B8-A1CD9BF3BFC9}"/>
              </a:ext>
            </a:extLst>
          </p:cNvPr>
          <p:cNvSpPr txBox="1">
            <a:spLocks/>
          </p:cNvSpPr>
          <p:nvPr/>
        </p:nvSpPr>
        <p:spPr>
          <a:xfrm>
            <a:off x="22531031" y="12554206"/>
            <a:ext cx="9795691" cy="5522693"/>
          </a:xfrm>
          <a:prstGeom prst="rect">
            <a:avLst/>
          </a:prstGeom>
        </p:spPr>
        <p:txBody>
          <a:bodyPr>
            <a:noAutofit/>
          </a:bodyPr>
          <a:lst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marL="0" indent="0">
              <a:buNone/>
            </a:pPr>
            <a:r>
              <a:rPr lang="en-IE" sz="2500" dirty="0"/>
              <a:t>A student engagement measurement tool was provided to student participants at the start and end of a semester.  A social learning intervention was applied to a treatment group, and the engagement scores across both the control and treatment groups were measured.  The results revealed a small increase in total student engagement group score for the treatment group, but nothing significant. However, interesting findings were found in some of the individual questions, the figure below represents one an example of this, in which the treatment group had scored considerably higher than the control group in a question relating to understanding people dissimilar to themselves, which would have been influenced through the social learning activities that the treatment group participated in.  This, in itself, was an encouraging finding. </a:t>
            </a:r>
          </a:p>
        </p:txBody>
      </p:sp>
      <p:sp>
        <p:nvSpPr>
          <p:cNvPr id="47" name="Content Placeholder 2">
            <a:extLst>
              <a:ext uri="{FF2B5EF4-FFF2-40B4-BE49-F238E27FC236}">
                <a16:creationId xmlns:a16="http://schemas.microsoft.com/office/drawing/2014/main" id="{C12A8FE5-E10F-498E-9E7D-EC629905A877}"/>
              </a:ext>
            </a:extLst>
          </p:cNvPr>
          <p:cNvSpPr txBox="1">
            <a:spLocks/>
          </p:cNvSpPr>
          <p:nvPr/>
        </p:nvSpPr>
        <p:spPr>
          <a:xfrm>
            <a:off x="33656519" y="29479722"/>
            <a:ext cx="9736942" cy="2621175"/>
          </a:xfrm>
          <a:prstGeom prst="rect">
            <a:avLst/>
          </a:prstGeom>
        </p:spPr>
        <p:txBody>
          <a:bodyPr>
            <a:noAutofit/>
          </a:bodyPr>
          <a:lst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marL="0" indent="0" algn="just" defTabSz="895350">
              <a:buNone/>
            </a:pPr>
            <a:r>
              <a:rPr lang="en-IE" sz="900" dirty="0">
                <a:latin typeface="Arial" panose="020B0604020202020204" pitchFamily="34" charset="0"/>
                <a:cs typeface="Arial" panose="020B0604020202020204" pitchFamily="34" charset="0"/>
              </a:rPr>
              <a:t>Bandura, A. (1986). Social Foundations of Thought and Action: Social Cognitive Theory. U.S.A: Pearson Education.</a:t>
            </a:r>
          </a:p>
          <a:p>
            <a:pPr marL="0" indent="0" algn="just" defTabSz="895350">
              <a:buNone/>
            </a:pPr>
            <a:endParaRPr lang="en-IE" sz="900" dirty="0">
              <a:latin typeface="Arial" panose="020B0604020202020204" pitchFamily="34" charset="0"/>
              <a:cs typeface="Arial" panose="020B0604020202020204" pitchFamily="34" charset="0"/>
            </a:endParaRPr>
          </a:p>
          <a:p>
            <a:pPr marL="0" indent="0" algn="just" defTabSz="895350">
              <a:buNone/>
            </a:pPr>
            <a:r>
              <a:rPr lang="en-IE" sz="900" dirty="0">
                <a:latin typeface="Arial" panose="020B0604020202020204" pitchFamily="34" charset="0"/>
                <a:cs typeface="Arial" panose="020B0604020202020204" pitchFamily="34" charset="0"/>
              </a:rPr>
              <a:t>Bandura, A. (2006). Guide for constructing self-efficacy scales. In F. </a:t>
            </a:r>
            <a:r>
              <a:rPr lang="en-IE" sz="900" dirty="0" err="1">
                <a:latin typeface="Arial" panose="020B0604020202020204" pitchFamily="34" charset="0"/>
                <a:cs typeface="Arial" panose="020B0604020202020204" pitchFamily="34" charset="0"/>
              </a:rPr>
              <a:t>Pajares</a:t>
            </a:r>
            <a:r>
              <a:rPr lang="en-IE" sz="900" dirty="0">
                <a:latin typeface="Arial" panose="020B0604020202020204" pitchFamily="34" charset="0"/>
                <a:cs typeface="Arial" panose="020B0604020202020204" pitchFamily="34" charset="0"/>
              </a:rPr>
              <a:t>, &amp; T. </a:t>
            </a:r>
            <a:r>
              <a:rPr lang="en-IE" sz="900" dirty="0" err="1">
                <a:latin typeface="Arial" panose="020B0604020202020204" pitchFamily="34" charset="0"/>
                <a:cs typeface="Arial" panose="020B0604020202020204" pitchFamily="34" charset="0"/>
              </a:rPr>
              <a:t>Urdan</a:t>
            </a:r>
            <a:r>
              <a:rPr lang="en-IE" sz="900" dirty="0">
                <a:latin typeface="Arial" panose="020B0604020202020204" pitchFamily="34" charset="0"/>
                <a:cs typeface="Arial" panose="020B0604020202020204" pitchFamily="34" charset="0"/>
              </a:rPr>
              <a:t> (Eds.), Adolescence and education: Vol. 5. Self efficacy and adolescence (pp. 307-337). Greenwich, CT: Information Age.</a:t>
            </a:r>
          </a:p>
          <a:p>
            <a:pPr marL="0" indent="0" algn="just" defTabSz="895350">
              <a:buNone/>
            </a:pPr>
            <a:endParaRPr lang="en-IE" sz="900" dirty="0">
              <a:latin typeface="Arial" panose="020B0604020202020204" pitchFamily="34" charset="0"/>
              <a:cs typeface="Arial" panose="020B0604020202020204" pitchFamily="34" charset="0"/>
            </a:endParaRPr>
          </a:p>
          <a:p>
            <a:pPr marL="0" indent="0" algn="just" defTabSz="895350">
              <a:buNone/>
            </a:pPr>
            <a:r>
              <a:rPr lang="en-IE" sz="900" dirty="0">
                <a:latin typeface="Arial" panose="020B0604020202020204" pitchFamily="34" charset="0"/>
                <a:cs typeface="Arial" panose="020B0604020202020204" pitchFamily="34" charset="0"/>
              </a:rPr>
              <a:t>Bogdan, R.C., </a:t>
            </a:r>
            <a:r>
              <a:rPr lang="en-IE" sz="900" dirty="0" err="1">
                <a:latin typeface="Arial" panose="020B0604020202020204" pitchFamily="34" charset="0"/>
                <a:cs typeface="Arial" panose="020B0604020202020204" pitchFamily="34" charset="0"/>
              </a:rPr>
              <a:t>Biklin</a:t>
            </a:r>
            <a:r>
              <a:rPr lang="en-IE" sz="900" dirty="0">
                <a:latin typeface="Arial" panose="020B0604020202020204" pitchFamily="34" charset="0"/>
                <a:cs typeface="Arial" panose="020B0604020202020204" pitchFamily="34" charset="0"/>
              </a:rPr>
              <a:t>, S.K. (1998). Qualitative research for education: An introduction to theory and methods. (3rd edition).  Boston: </a:t>
            </a:r>
            <a:r>
              <a:rPr lang="en-IE" sz="900" dirty="0" err="1">
                <a:latin typeface="Arial" panose="020B0604020202020204" pitchFamily="34" charset="0"/>
                <a:cs typeface="Arial" panose="020B0604020202020204" pitchFamily="34" charset="0"/>
              </a:rPr>
              <a:t>Allyn</a:t>
            </a:r>
            <a:r>
              <a:rPr lang="en-IE" sz="900" dirty="0">
                <a:latin typeface="Arial" panose="020B0604020202020204" pitchFamily="34" charset="0"/>
                <a:cs typeface="Arial" panose="020B0604020202020204" pitchFamily="34" charset="0"/>
              </a:rPr>
              <a:t> and Bacon.</a:t>
            </a:r>
          </a:p>
          <a:p>
            <a:pPr marL="0" indent="0" algn="just" defTabSz="895350">
              <a:buNone/>
            </a:pPr>
            <a:endParaRPr lang="en-IE" sz="900" dirty="0">
              <a:latin typeface="Arial" panose="020B0604020202020204" pitchFamily="34" charset="0"/>
              <a:cs typeface="Arial" panose="020B0604020202020204" pitchFamily="34" charset="0"/>
            </a:endParaRPr>
          </a:p>
          <a:p>
            <a:pPr marL="0" indent="0" algn="just" defTabSz="895350">
              <a:buNone/>
            </a:pPr>
            <a:r>
              <a:rPr lang="en-IE" sz="900" dirty="0">
                <a:latin typeface="Arial" panose="020B0604020202020204" pitchFamily="34" charset="0"/>
                <a:cs typeface="Arial" panose="020B0604020202020204" pitchFamily="34" charset="0"/>
              </a:rPr>
              <a:t>Bryman, A. (2004). Social Research Methods.  U.K.: Oxford University Press.</a:t>
            </a:r>
          </a:p>
          <a:p>
            <a:pPr marL="0" indent="0" algn="just" defTabSz="895350">
              <a:buNone/>
            </a:pPr>
            <a:endParaRPr lang="en-IE" sz="900" dirty="0">
              <a:latin typeface="Arial" panose="020B0604020202020204" pitchFamily="34" charset="0"/>
              <a:cs typeface="Arial" panose="020B0604020202020204" pitchFamily="34" charset="0"/>
            </a:endParaRPr>
          </a:p>
          <a:p>
            <a:pPr marL="0" indent="0" algn="just" defTabSz="895350">
              <a:buNone/>
            </a:pPr>
            <a:r>
              <a:rPr lang="en-IE" sz="900" dirty="0">
                <a:latin typeface="Arial" panose="020B0604020202020204" pitchFamily="34" charset="0"/>
                <a:cs typeface="Arial" panose="020B0604020202020204" pitchFamily="34" charset="0"/>
              </a:rPr>
              <a:t>Creswell, J.W., Miller, G.A. (1997).  Research Methodologies and Doctoral Process.  New Directions for Higher Education, no.99.  U.S.A.: Wiley.</a:t>
            </a:r>
          </a:p>
          <a:p>
            <a:pPr marL="0" indent="0" algn="just" defTabSz="895350">
              <a:buNone/>
            </a:pPr>
            <a:endParaRPr lang="en-IE" sz="900" dirty="0">
              <a:latin typeface="Arial" panose="020B0604020202020204" pitchFamily="34" charset="0"/>
              <a:cs typeface="Arial" panose="020B0604020202020204" pitchFamily="34" charset="0"/>
            </a:endParaRPr>
          </a:p>
          <a:p>
            <a:pPr marL="0" indent="0" algn="just" defTabSz="895350">
              <a:buNone/>
            </a:pPr>
            <a:r>
              <a:rPr lang="en-IE" sz="900" dirty="0">
                <a:latin typeface="Arial" panose="020B0604020202020204" pitchFamily="34" charset="0"/>
                <a:cs typeface="Arial" panose="020B0604020202020204" pitchFamily="34" charset="0"/>
              </a:rPr>
              <a:t>Hamir, S., </a:t>
            </a:r>
            <a:r>
              <a:rPr lang="en-IE" sz="900" dirty="0" err="1">
                <a:latin typeface="Arial" panose="020B0604020202020204" pitchFamily="34" charset="0"/>
                <a:cs typeface="Arial" panose="020B0604020202020204" pitchFamily="34" charset="0"/>
              </a:rPr>
              <a:t>Maion</a:t>
            </a:r>
            <a:r>
              <a:rPr lang="en-IE" sz="900" dirty="0">
                <a:latin typeface="Arial" panose="020B0604020202020204" pitchFamily="34" charset="0"/>
                <a:cs typeface="Arial" panose="020B0604020202020204" pitchFamily="34" charset="0"/>
              </a:rPr>
              <a:t>, S., Tice, S., &amp; Wideman, A. (2015) Constructivism in</a:t>
            </a:r>
          </a:p>
          <a:p>
            <a:pPr marL="0" indent="0" algn="just" defTabSz="895350">
              <a:buNone/>
            </a:pPr>
            <a:r>
              <a:rPr lang="en-IE" sz="900" dirty="0">
                <a:latin typeface="Arial" panose="020B0604020202020204" pitchFamily="34" charset="0"/>
                <a:cs typeface="Arial" panose="020B0604020202020204" pitchFamily="34" charset="0"/>
              </a:rPr>
              <a:t>Education. Available at: http://constructivism512.weebly.com . Accessed 27th February 2018.</a:t>
            </a:r>
          </a:p>
          <a:p>
            <a:pPr marL="0" indent="0" algn="just" defTabSz="895350">
              <a:buNone/>
            </a:pPr>
            <a:endParaRPr lang="en-IE" sz="900" dirty="0">
              <a:latin typeface="Arial" panose="020B0604020202020204" pitchFamily="34" charset="0"/>
              <a:cs typeface="Arial" panose="020B0604020202020204" pitchFamily="34" charset="0"/>
            </a:endParaRPr>
          </a:p>
          <a:p>
            <a:pPr marL="0" indent="0" algn="just" defTabSz="895350">
              <a:buNone/>
            </a:pPr>
            <a:r>
              <a:rPr lang="en-IE" sz="900" dirty="0">
                <a:latin typeface="Arial" panose="020B0604020202020204" pitchFamily="34" charset="0"/>
                <a:cs typeface="Arial" panose="020B0604020202020204" pitchFamily="34" charset="0"/>
              </a:rPr>
              <a:t>Miles, M.B., &amp; Huberman, A.M. (1994). Qualitative data analysis: A sourcebook of new methods.  Thousand Oaks, CA: Sage.</a:t>
            </a:r>
          </a:p>
        </p:txBody>
      </p:sp>
      <p:graphicFrame>
        <p:nvGraphicFramePr>
          <p:cNvPr id="10" name="Table 9">
            <a:extLst>
              <a:ext uri="{FF2B5EF4-FFF2-40B4-BE49-F238E27FC236}">
                <a16:creationId xmlns:a16="http://schemas.microsoft.com/office/drawing/2014/main" id="{49ABB150-14BD-2782-9EBD-345B3087C61B}"/>
              </a:ext>
            </a:extLst>
          </p:cNvPr>
          <p:cNvGraphicFramePr>
            <a:graphicFrameLocks noGrp="1"/>
          </p:cNvGraphicFramePr>
          <p:nvPr>
            <p:extLst>
              <p:ext uri="{D42A27DB-BD31-4B8C-83A1-F6EECF244321}">
                <p14:modId xmlns:p14="http://schemas.microsoft.com/office/powerpoint/2010/main" val="146706336"/>
              </p:ext>
            </p:extLst>
          </p:nvPr>
        </p:nvGraphicFramePr>
        <p:xfrm>
          <a:off x="641121" y="20111513"/>
          <a:ext cx="9474429" cy="2496784"/>
        </p:xfrm>
        <a:graphic>
          <a:graphicData uri="http://schemas.openxmlformats.org/drawingml/2006/table">
            <a:tbl>
              <a:tblPr firstRow="1" bandRow="1">
                <a:tableStyleId>{2D5ABB26-0587-4C30-8999-92F81FD0307C}</a:tableStyleId>
              </a:tblPr>
              <a:tblGrid>
                <a:gridCol w="9474429">
                  <a:extLst>
                    <a:ext uri="{9D8B030D-6E8A-4147-A177-3AD203B41FA5}">
                      <a16:colId xmlns:a16="http://schemas.microsoft.com/office/drawing/2014/main" val="3283303261"/>
                    </a:ext>
                  </a:extLst>
                </a:gridCol>
              </a:tblGrid>
              <a:tr h="2496784">
                <a:tc>
                  <a:txBody>
                    <a:bodyPr/>
                    <a:lstStyle/>
                    <a:p>
                      <a:r>
                        <a:rPr lang="en-GB" sz="2400" dirty="0"/>
                        <a:t>ppr &lt;- read.csv("PPR-ALL-50pct.csv", </a:t>
                      </a:r>
                      <a:r>
                        <a:rPr lang="en-GB" sz="2400" dirty="0" err="1"/>
                        <a:t>stringsAsFactors</a:t>
                      </a:r>
                      <a:r>
                        <a:rPr lang="en-GB" sz="2400" dirty="0"/>
                        <a:t> = FALSE, </a:t>
                      </a:r>
                      <a:r>
                        <a:rPr lang="en-GB" sz="2400" dirty="0" err="1"/>
                        <a:t>fileEncoding</a:t>
                      </a:r>
                      <a:r>
                        <a:rPr lang="en-GB" sz="2400" dirty="0"/>
                        <a:t> = "windows-1252")</a:t>
                      </a:r>
                    </a:p>
                    <a:p>
                      <a:r>
                        <a:rPr lang="en-GB" sz="2400" dirty="0"/>
                        <a:t>dim(</a:t>
                      </a:r>
                      <a:r>
                        <a:rPr lang="en-GB" sz="2400" dirty="0" err="1"/>
                        <a:t>mydata</a:t>
                      </a:r>
                      <a:r>
                        <a:rPr lang="en-GB" sz="2400" dirty="0"/>
                        <a:t>)      # 403,862 x 9</a:t>
                      </a:r>
                    </a:p>
                    <a:p>
                      <a:r>
                        <a:rPr lang="en-GB" sz="2400" dirty="0"/>
                        <a:t>str(</a:t>
                      </a:r>
                      <a:r>
                        <a:rPr lang="en-GB" sz="2400" dirty="0" err="1"/>
                        <a:t>mydata</a:t>
                      </a:r>
                      <a:r>
                        <a:rPr lang="en-GB" sz="2400" dirty="0"/>
                        <a:t>)</a:t>
                      </a:r>
                    </a:p>
                    <a:p>
                      <a:r>
                        <a:rPr lang="en-GB" sz="2400" dirty="0" err="1"/>
                        <a:t>mydata$price</a:t>
                      </a:r>
                      <a:r>
                        <a:rPr lang="en-GB" sz="2400" dirty="0"/>
                        <a:t> &lt;- </a:t>
                      </a:r>
                      <a:r>
                        <a:rPr lang="en-GB" sz="2400" dirty="0" err="1"/>
                        <a:t>as.numeric</a:t>
                      </a:r>
                      <a:r>
                        <a:rPr lang="en-GB" sz="2400" dirty="0"/>
                        <a:t>(</a:t>
                      </a:r>
                      <a:r>
                        <a:rPr lang="en-GB" sz="2400" dirty="0" err="1"/>
                        <a:t>gsub</a:t>
                      </a:r>
                      <a:r>
                        <a:rPr lang="en-GB" sz="2400" dirty="0"/>
                        <a:t>("[^0-9.]", "", </a:t>
                      </a:r>
                      <a:r>
                        <a:rPr lang="en-GB" sz="2400" dirty="0" err="1"/>
                        <a:t>mydata$price</a:t>
                      </a:r>
                      <a:r>
                        <a:rPr lang="en-GB" sz="2400" dirty="0"/>
                        <a:t>))</a:t>
                      </a:r>
                    </a:p>
                    <a:p>
                      <a:r>
                        <a:rPr lang="en-GB" sz="2400" dirty="0" err="1"/>
                        <a:t>mydata$date</a:t>
                      </a:r>
                      <a:r>
                        <a:rPr lang="en-GB" sz="2400" dirty="0"/>
                        <a:t>  &lt;- </a:t>
                      </a:r>
                      <a:r>
                        <a:rPr lang="en-GB" sz="2400" dirty="0" err="1"/>
                        <a:t>as.Date</a:t>
                      </a:r>
                      <a:r>
                        <a:rPr lang="en-GB" sz="2400" dirty="0"/>
                        <a:t>(</a:t>
                      </a:r>
                      <a:r>
                        <a:rPr lang="en-GB" sz="2400" dirty="0" err="1"/>
                        <a:t>mydata$date</a:t>
                      </a:r>
                      <a:r>
                        <a:rPr lang="en-GB" sz="2400" dirty="0"/>
                        <a:t>, format = "%d/%m/%Y")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5831716"/>
                  </a:ext>
                </a:extLst>
              </a:tr>
            </a:tbl>
          </a:graphicData>
        </a:graphic>
      </p:graphicFrame>
      <p:sp>
        <p:nvSpPr>
          <p:cNvPr id="15" name="TextBox 14">
            <a:extLst>
              <a:ext uri="{FF2B5EF4-FFF2-40B4-BE49-F238E27FC236}">
                <a16:creationId xmlns:a16="http://schemas.microsoft.com/office/drawing/2014/main" id="{CF4D81B1-17D1-C55C-0EC1-E34E9F4CB0F0}"/>
              </a:ext>
            </a:extLst>
          </p:cNvPr>
          <p:cNvSpPr txBox="1"/>
          <p:nvPr/>
        </p:nvSpPr>
        <p:spPr>
          <a:xfrm>
            <a:off x="578635" y="22608297"/>
            <a:ext cx="9474430" cy="830997"/>
          </a:xfrm>
          <a:prstGeom prst="rect">
            <a:avLst/>
          </a:prstGeom>
          <a:noFill/>
        </p:spPr>
        <p:txBody>
          <a:bodyPr wrap="square" rtlCol="0">
            <a:spAutoFit/>
          </a:bodyPr>
          <a:lstStyle/>
          <a:p>
            <a:r>
              <a:rPr lang="en-GB" sz="2400" dirty="0"/>
              <a:t>I stripped the € sign and commas so price became a . I also turned the date text into a real date.</a:t>
            </a:r>
          </a:p>
        </p:txBody>
      </p:sp>
      <p:graphicFrame>
        <p:nvGraphicFramePr>
          <p:cNvPr id="21" name="Table 20">
            <a:extLst>
              <a:ext uri="{FF2B5EF4-FFF2-40B4-BE49-F238E27FC236}">
                <a16:creationId xmlns:a16="http://schemas.microsoft.com/office/drawing/2014/main" id="{8A0089A4-B1F7-ED17-5F8E-CAAAF7622059}"/>
              </a:ext>
            </a:extLst>
          </p:cNvPr>
          <p:cNvGraphicFramePr>
            <a:graphicFrameLocks noGrp="1"/>
          </p:cNvGraphicFramePr>
          <p:nvPr>
            <p:extLst>
              <p:ext uri="{D42A27DB-BD31-4B8C-83A1-F6EECF244321}">
                <p14:modId xmlns:p14="http://schemas.microsoft.com/office/powerpoint/2010/main" val="1725721525"/>
              </p:ext>
            </p:extLst>
          </p:nvPr>
        </p:nvGraphicFramePr>
        <p:xfrm>
          <a:off x="641121" y="23492054"/>
          <a:ext cx="9474429" cy="747500"/>
        </p:xfrm>
        <a:graphic>
          <a:graphicData uri="http://schemas.openxmlformats.org/drawingml/2006/table">
            <a:tbl>
              <a:tblPr firstRow="1" bandRow="1">
                <a:tableStyleId>{2D5ABB26-0587-4C30-8999-92F81FD0307C}</a:tableStyleId>
              </a:tblPr>
              <a:tblGrid>
                <a:gridCol w="9474429">
                  <a:extLst>
                    <a:ext uri="{9D8B030D-6E8A-4147-A177-3AD203B41FA5}">
                      <a16:colId xmlns:a16="http://schemas.microsoft.com/office/drawing/2014/main" val="3283303261"/>
                    </a:ext>
                  </a:extLst>
                </a:gridCol>
              </a:tblGrid>
              <a:tr h="747500">
                <a:tc>
                  <a:txBody>
                    <a:bodyPr/>
                    <a:lstStyle/>
                    <a:p>
                      <a:r>
                        <a:rPr lang="en-GB" sz="2400" dirty="0" err="1"/>
                        <a:t>mydata</a:t>
                      </a:r>
                      <a:r>
                        <a:rPr lang="en-GB" sz="2400" dirty="0"/>
                        <a:t> &lt;- </a:t>
                      </a:r>
                      <a:r>
                        <a:rPr lang="en-GB" sz="2400" dirty="0" err="1"/>
                        <a:t>mydata</a:t>
                      </a:r>
                      <a:r>
                        <a:rPr lang="en-GB" sz="2400" dirty="0"/>
                        <a:t>[!duplicated(</a:t>
                      </a:r>
                      <a:r>
                        <a:rPr lang="en-GB" sz="2400" dirty="0" err="1"/>
                        <a:t>mydata</a:t>
                      </a:r>
                      <a:r>
                        <a:rPr lang="en-GB" sz="2400" dirty="0"/>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5831716"/>
                  </a:ext>
                </a:extLst>
              </a:tr>
            </a:tbl>
          </a:graphicData>
        </a:graphic>
      </p:graphicFrame>
      <p:sp>
        <p:nvSpPr>
          <p:cNvPr id="24" name="TextBox 23">
            <a:extLst>
              <a:ext uri="{FF2B5EF4-FFF2-40B4-BE49-F238E27FC236}">
                <a16:creationId xmlns:a16="http://schemas.microsoft.com/office/drawing/2014/main" id="{90BBC765-B2C8-C533-FEC0-152BF5DCEB60}"/>
              </a:ext>
            </a:extLst>
          </p:cNvPr>
          <p:cNvSpPr txBox="1"/>
          <p:nvPr/>
        </p:nvSpPr>
        <p:spPr>
          <a:xfrm>
            <a:off x="557210" y="24257420"/>
            <a:ext cx="9474430" cy="461665"/>
          </a:xfrm>
          <a:prstGeom prst="rect">
            <a:avLst/>
          </a:prstGeom>
          <a:noFill/>
        </p:spPr>
        <p:txBody>
          <a:bodyPr wrap="square" rtlCol="0">
            <a:spAutoFit/>
          </a:bodyPr>
          <a:lstStyle/>
          <a:p>
            <a:r>
              <a:rPr lang="en-GB" sz="2400" dirty="0"/>
              <a:t>295 rows were exact copies of other rows, so I removed them.</a:t>
            </a:r>
          </a:p>
        </p:txBody>
      </p:sp>
      <p:graphicFrame>
        <p:nvGraphicFramePr>
          <p:cNvPr id="33" name="Table 32">
            <a:extLst>
              <a:ext uri="{FF2B5EF4-FFF2-40B4-BE49-F238E27FC236}">
                <a16:creationId xmlns:a16="http://schemas.microsoft.com/office/drawing/2014/main" id="{75205BD1-EE98-4390-022B-7241A88037CC}"/>
              </a:ext>
            </a:extLst>
          </p:cNvPr>
          <p:cNvGraphicFramePr>
            <a:graphicFrameLocks noGrp="1"/>
          </p:cNvGraphicFramePr>
          <p:nvPr>
            <p:extLst>
              <p:ext uri="{D42A27DB-BD31-4B8C-83A1-F6EECF244321}">
                <p14:modId xmlns:p14="http://schemas.microsoft.com/office/powerpoint/2010/main" val="1877614851"/>
              </p:ext>
            </p:extLst>
          </p:nvPr>
        </p:nvGraphicFramePr>
        <p:xfrm>
          <a:off x="641121" y="24749380"/>
          <a:ext cx="9474429" cy="1188720"/>
        </p:xfrm>
        <a:graphic>
          <a:graphicData uri="http://schemas.openxmlformats.org/drawingml/2006/table">
            <a:tbl>
              <a:tblPr firstRow="1" bandRow="1">
                <a:tableStyleId>{2D5ABB26-0587-4C30-8999-92F81FD0307C}</a:tableStyleId>
              </a:tblPr>
              <a:tblGrid>
                <a:gridCol w="9474429">
                  <a:extLst>
                    <a:ext uri="{9D8B030D-6E8A-4147-A177-3AD203B41FA5}">
                      <a16:colId xmlns:a16="http://schemas.microsoft.com/office/drawing/2014/main" val="3283303261"/>
                    </a:ext>
                  </a:extLst>
                </a:gridCol>
              </a:tblGrid>
              <a:tr h="747500">
                <a:tc>
                  <a:txBody>
                    <a:bodyPr/>
                    <a:lstStyle/>
                    <a:p>
                      <a:r>
                        <a:rPr lang="en-GB" sz="2400" dirty="0" err="1"/>
                        <a:t>pct_missing</a:t>
                      </a:r>
                      <a:r>
                        <a:rPr lang="en-GB" sz="2400" dirty="0"/>
                        <a:t> &lt;- </a:t>
                      </a:r>
                      <a:r>
                        <a:rPr lang="en-GB" sz="2400" dirty="0" err="1"/>
                        <a:t>sapply</a:t>
                      </a:r>
                      <a:r>
                        <a:rPr lang="en-GB" sz="2400" dirty="0"/>
                        <a:t>(</a:t>
                      </a:r>
                      <a:r>
                        <a:rPr lang="en-GB" sz="2400" dirty="0" err="1"/>
                        <a:t>mydata</a:t>
                      </a:r>
                      <a:r>
                        <a:rPr lang="en-GB" sz="2400" dirty="0"/>
                        <a:t>, function(x) round(100 * mean(is.na(x) | x == ""), 1))</a:t>
                      </a:r>
                      <a:r>
                        <a:rPr lang="en-GB" sz="2400" dirty="0" err="1"/>
                        <a:t>mydata$eircode</a:t>
                      </a:r>
                      <a:r>
                        <a:rPr lang="en-GB" sz="2400" dirty="0"/>
                        <a:t> &lt;- </a:t>
                      </a:r>
                      <a:r>
                        <a:rPr lang="en-GB" sz="2400" dirty="0" err="1"/>
                        <a:t>NULLmydata$size_desc</a:t>
                      </a:r>
                      <a:r>
                        <a:rPr lang="en-GB" sz="2400" dirty="0"/>
                        <a:t> &lt;- </a:t>
                      </a:r>
                      <a:r>
                        <a:rPr lang="en-GB" sz="2400" dirty="0" err="1"/>
                        <a:t>NULLmydata$address</a:t>
                      </a:r>
                      <a:r>
                        <a:rPr lang="en-GB" sz="2400" dirty="0"/>
                        <a:t> &lt;- NULL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5831716"/>
                  </a:ext>
                </a:extLst>
              </a:tr>
            </a:tbl>
          </a:graphicData>
        </a:graphic>
      </p:graphicFrame>
      <p:sp>
        <p:nvSpPr>
          <p:cNvPr id="48" name="TextBox 47">
            <a:extLst>
              <a:ext uri="{FF2B5EF4-FFF2-40B4-BE49-F238E27FC236}">
                <a16:creationId xmlns:a16="http://schemas.microsoft.com/office/drawing/2014/main" id="{7EA697F6-99A7-FD7E-3C65-8265EAEF7BB5}"/>
              </a:ext>
            </a:extLst>
          </p:cNvPr>
          <p:cNvSpPr txBox="1"/>
          <p:nvPr/>
        </p:nvSpPr>
        <p:spPr>
          <a:xfrm>
            <a:off x="578635" y="25990720"/>
            <a:ext cx="9474430" cy="1569660"/>
          </a:xfrm>
          <a:prstGeom prst="rect">
            <a:avLst/>
          </a:prstGeom>
          <a:noFill/>
        </p:spPr>
        <p:txBody>
          <a:bodyPr wrap="square" rtlCol="0">
            <a:spAutoFit/>
          </a:bodyPr>
          <a:lstStyle/>
          <a:p>
            <a:r>
              <a:rPr lang="en-GB" sz="2400" dirty="0"/>
              <a:t>Eircode was missing for about 69% of sales and size for about 94%. They were only filled in during certain years, so guessing the gaps would mean making up data. I dropped both columns. I also dropped the address, since it is just free text and I don’t need it.</a:t>
            </a:r>
          </a:p>
        </p:txBody>
      </p:sp>
      <p:graphicFrame>
        <p:nvGraphicFramePr>
          <p:cNvPr id="50" name="Table 49">
            <a:extLst>
              <a:ext uri="{FF2B5EF4-FFF2-40B4-BE49-F238E27FC236}">
                <a16:creationId xmlns:a16="http://schemas.microsoft.com/office/drawing/2014/main" id="{ADB7A22D-124D-2AB5-C566-A3035288D436}"/>
              </a:ext>
            </a:extLst>
          </p:cNvPr>
          <p:cNvGraphicFramePr>
            <a:graphicFrameLocks noGrp="1"/>
          </p:cNvGraphicFramePr>
          <p:nvPr>
            <p:extLst>
              <p:ext uri="{D42A27DB-BD31-4B8C-83A1-F6EECF244321}">
                <p14:modId xmlns:p14="http://schemas.microsoft.com/office/powerpoint/2010/main" val="1024087596"/>
              </p:ext>
            </p:extLst>
          </p:nvPr>
        </p:nvGraphicFramePr>
        <p:xfrm>
          <a:off x="641120" y="27584368"/>
          <a:ext cx="9474429" cy="822960"/>
        </p:xfrm>
        <a:graphic>
          <a:graphicData uri="http://schemas.openxmlformats.org/drawingml/2006/table">
            <a:tbl>
              <a:tblPr firstRow="1" bandRow="1">
                <a:tableStyleId>{2D5ABB26-0587-4C30-8999-92F81FD0307C}</a:tableStyleId>
              </a:tblPr>
              <a:tblGrid>
                <a:gridCol w="9474429">
                  <a:extLst>
                    <a:ext uri="{9D8B030D-6E8A-4147-A177-3AD203B41FA5}">
                      <a16:colId xmlns:a16="http://schemas.microsoft.com/office/drawing/2014/main" val="3283303261"/>
                    </a:ext>
                  </a:extLst>
                </a:gridCol>
              </a:tblGrid>
              <a:tr h="747500">
                <a:tc>
                  <a:txBody>
                    <a:bodyPr/>
                    <a:lstStyle/>
                    <a:p>
                      <a:r>
                        <a:rPr lang="en-GB" sz="2400" dirty="0" err="1"/>
                        <a:t>tapply</a:t>
                      </a:r>
                      <a:r>
                        <a:rPr lang="en-GB" sz="2400" dirty="0"/>
                        <a:t>(</a:t>
                      </a:r>
                      <a:r>
                        <a:rPr lang="en-GB" sz="2400" dirty="0" err="1"/>
                        <a:t>mydata$price</a:t>
                      </a:r>
                      <a:r>
                        <a:rPr lang="en-GB" sz="2400" dirty="0"/>
                        <a:t>, </a:t>
                      </a:r>
                      <a:r>
                        <a:rPr lang="en-GB" sz="2400" dirty="0" err="1"/>
                        <a:t>mydata$not_full_market</a:t>
                      </a:r>
                      <a:r>
                        <a:rPr lang="en-GB" sz="2400" dirty="0"/>
                        <a:t>, median)</a:t>
                      </a:r>
                    </a:p>
                    <a:p>
                      <a:r>
                        <a:rPr lang="en-GB" sz="2400" dirty="0" err="1"/>
                        <a:t>mydata</a:t>
                      </a:r>
                      <a:r>
                        <a:rPr lang="en-GB" sz="2400" dirty="0"/>
                        <a:t> &lt;- </a:t>
                      </a:r>
                      <a:r>
                        <a:rPr lang="en-GB" sz="2400" dirty="0" err="1"/>
                        <a:t>mydata</a:t>
                      </a:r>
                      <a:r>
                        <a:rPr lang="en-GB" sz="2400" dirty="0"/>
                        <a:t>[</a:t>
                      </a:r>
                      <a:r>
                        <a:rPr lang="en-GB" sz="2400" dirty="0" err="1"/>
                        <a:t>mydata$not_full_market</a:t>
                      </a:r>
                      <a:r>
                        <a:rPr lang="en-GB" sz="2400" dirty="0"/>
                        <a:t> == "No",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5831716"/>
                  </a:ext>
                </a:extLst>
              </a:tr>
            </a:tbl>
          </a:graphicData>
        </a:graphic>
      </p:graphicFrame>
      <p:sp>
        <p:nvSpPr>
          <p:cNvPr id="52" name="TextBox 51">
            <a:extLst>
              <a:ext uri="{FF2B5EF4-FFF2-40B4-BE49-F238E27FC236}">
                <a16:creationId xmlns:a16="http://schemas.microsoft.com/office/drawing/2014/main" id="{15EB4E15-65D3-BFD0-BCBC-E7636C91D571}"/>
              </a:ext>
            </a:extLst>
          </p:cNvPr>
          <p:cNvSpPr txBox="1"/>
          <p:nvPr/>
        </p:nvSpPr>
        <p:spPr>
          <a:xfrm>
            <a:off x="578634" y="28431653"/>
            <a:ext cx="9474430" cy="1200329"/>
          </a:xfrm>
          <a:prstGeom prst="rect">
            <a:avLst/>
          </a:prstGeom>
          <a:noFill/>
        </p:spPr>
        <p:txBody>
          <a:bodyPr wrap="square" rtlCol="0">
            <a:spAutoFit/>
          </a:bodyPr>
          <a:lstStyle/>
          <a:p>
            <a:r>
              <a:rPr lang="en-GB" sz="2400" dirty="0"/>
              <a:t>The typical price of these sales was about €149,000, compared with €250,000 for normal sales. They would pull prices down, so I removed 20,455 of them (about 5%).</a:t>
            </a:r>
          </a:p>
        </p:txBody>
      </p:sp>
      <p:graphicFrame>
        <p:nvGraphicFramePr>
          <p:cNvPr id="54" name="Table 53">
            <a:extLst>
              <a:ext uri="{FF2B5EF4-FFF2-40B4-BE49-F238E27FC236}">
                <a16:creationId xmlns:a16="http://schemas.microsoft.com/office/drawing/2014/main" id="{BE8B57CA-11C0-0484-055B-F749E93C3B88}"/>
              </a:ext>
            </a:extLst>
          </p:cNvPr>
          <p:cNvGraphicFramePr>
            <a:graphicFrameLocks noGrp="1"/>
          </p:cNvGraphicFramePr>
          <p:nvPr>
            <p:extLst>
              <p:ext uri="{D42A27DB-BD31-4B8C-83A1-F6EECF244321}">
                <p14:modId xmlns:p14="http://schemas.microsoft.com/office/powerpoint/2010/main" val="2892761894"/>
              </p:ext>
            </p:extLst>
          </p:nvPr>
        </p:nvGraphicFramePr>
        <p:xfrm>
          <a:off x="641121" y="29615259"/>
          <a:ext cx="9474429" cy="1920240"/>
        </p:xfrm>
        <a:graphic>
          <a:graphicData uri="http://schemas.openxmlformats.org/drawingml/2006/table">
            <a:tbl>
              <a:tblPr firstRow="1" bandRow="1">
                <a:tableStyleId>{2D5ABB26-0587-4C30-8999-92F81FD0307C}</a:tableStyleId>
              </a:tblPr>
              <a:tblGrid>
                <a:gridCol w="9474429">
                  <a:extLst>
                    <a:ext uri="{9D8B030D-6E8A-4147-A177-3AD203B41FA5}">
                      <a16:colId xmlns:a16="http://schemas.microsoft.com/office/drawing/2014/main" val="3283303261"/>
                    </a:ext>
                  </a:extLst>
                </a:gridCol>
              </a:tblGrid>
              <a:tr h="747500">
                <a:tc>
                  <a:txBody>
                    <a:bodyPr/>
                    <a:lstStyle/>
                    <a:p>
                      <a:r>
                        <a:rPr lang="en-GB" sz="2400" dirty="0"/>
                        <a:t>Q1 &lt;- quantile(</a:t>
                      </a:r>
                      <a:r>
                        <a:rPr lang="en-GB" sz="2400" dirty="0" err="1"/>
                        <a:t>mydata$price</a:t>
                      </a:r>
                      <a:r>
                        <a:rPr lang="en-GB" sz="2400" dirty="0"/>
                        <a:t>, 0.25)</a:t>
                      </a:r>
                    </a:p>
                    <a:p>
                      <a:r>
                        <a:rPr lang="en-GB" sz="2400" dirty="0"/>
                        <a:t>Q3 &lt;- quantile(</a:t>
                      </a:r>
                      <a:r>
                        <a:rPr lang="en-GB" sz="2400" dirty="0" err="1"/>
                        <a:t>mydata$price</a:t>
                      </a:r>
                      <a:r>
                        <a:rPr lang="en-GB" sz="2400" dirty="0"/>
                        <a:t>, 0.75)</a:t>
                      </a:r>
                    </a:p>
                    <a:p>
                      <a:r>
                        <a:rPr lang="en-GB" sz="2400" dirty="0" err="1"/>
                        <a:t>IQR_value</a:t>
                      </a:r>
                      <a:r>
                        <a:rPr lang="en-GB" sz="2400" dirty="0"/>
                        <a:t> &lt;- Q3 - Q1</a:t>
                      </a:r>
                    </a:p>
                    <a:p>
                      <a:r>
                        <a:rPr lang="en-GB" sz="2400" dirty="0"/>
                        <a:t>upper &lt;- Q3 + 1.5 * </a:t>
                      </a:r>
                      <a:r>
                        <a:rPr lang="en-GB" sz="2400" dirty="0" err="1"/>
                        <a:t>IQR_value</a:t>
                      </a:r>
                      <a:endParaRPr lang="en-GB" sz="2400" dirty="0"/>
                    </a:p>
                    <a:p>
                      <a:r>
                        <a:rPr lang="en-GB" sz="2400" dirty="0" err="1"/>
                        <a:t>mydata</a:t>
                      </a:r>
                      <a:r>
                        <a:rPr lang="en-GB" sz="2400" dirty="0"/>
                        <a:t> &lt;- </a:t>
                      </a:r>
                      <a:r>
                        <a:rPr lang="en-GB" sz="2400" dirty="0" err="1"/>
                        <a:t>mydata</a:t>
                      </a:r>
                      <a:r>
                        <a:rPr lang="en-GB" sz="2400" dirty="0"/>
                        <a:t>[</a:t>
                      </a:r>
                      <a:r>
                        <a:rPr lang="en-GB" sz="2400" dirty="0" err="1"/>
                        <a:t>mydata$price</a:t>
                      </a:r>
                      <a:r>
                        <a:rPr lang="en-GB" sz="2400" dirty="0"/>
                        <a:t> &gt;= lower &amp; </a:t>
                      </a:r>
                      <a:r>
                        <a:rPr lang="en-GB" sz="2400" dirty="0" err="1"/>
                        <a:t>mydata$price</a:t>
                      </a:r>
                      <a:r>
                        <a:rPr lang="en-GB" sz="2400" dirty="0"/>
                        <a:t> &lt;= upper,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5831716"/>
                  </a:ext>
                </a:extLst>
              </a:tr>
            </a:tbl>
          </a:graphicData>
        </a:graphic>
      </p:graphicFrame>
      <p:sp>
        <p:nvSpPr>
          <p:cNvPr id="56" name="TextBox 55">
            <a:extLst>
              <a:ext uri="{FF2B5EF4-FFF2-40B4-BE49-F238E27FC236}">
                <a16:creationId xmlns:a16="http://schemas.microsoft.com/office/drawing/2014/main" id="{F29F9AEC-8D02-E4C3-6969-BFAB6509FDA9}"/>
              </a:ext>
            </a:extLst>
          </p:cNvPr>
          <p:cNvSpPr txBox="1"/>
          <p:nvPr/>
        </p:nvSpPr>
        <p:spPr>
          <a:xfrm>
            <a:off x="603914" y="31484322"/>
            <a:ext cx="9474430" cy="1569660"/>
          </a:xfrm>
          <a:prstGeom prst="rect">
            <a:avLst/>
          </a:prstGeom>
          <a:noFill/>
        </p:spPr>
        <p:txBody>
          <a:bodyPr wrap="square" rtlCol="0">
            <a:spAutoFit/>
          </a:bodyPr>
          <a:lstStyle/>
          <a:p>
            <a:r>
              <a:rPr lang="en-GB" sz="2400" dirty="0"/>
              <a:t>Here I looked at the middle half of all prices and treated anything far above that as unusual. This is the same method we used in class. The cut-off came out at about </a:t>
            </a:r>
            <a:r>
              <a:rPr lang="en-GB" sz="2400" b="1" dirty="0"/>
              <a:t>€711,000</a:t>
            </a:r>
            <a:r>
              <a:rPr lang="en-GB" sz="2400" dirty="0"/>
              <a:t>, and 18,987 sales above it were removed. A boxplot and before/after charts show the difference.</a:t>
            </a:r>
          </a:p>
        </p:txBody>
      </p:sp>
      <p:graphicFrame>
        <p:nvGraphicFramePr>
          <p:cNvPr id="14" name="Table 13">
            <a:extLst>
              <a:ext uri="{FF2B5EF4-FFF2-40B4-BE49-F238E27FC236}">
                <a16:creationId xmlns:a16="http://schemas.microsoft.com/office/drawing/2014/main" id="{47F04257-C666-574E-2ECB-02D756BCAC4A}"/>
              </a:ext>
            </a:extLst>
          </p:cNvPr>
          <p:cNvGraphicFramePr>
            <a:graphicFrameLocks noGrp="1"/>
          </p:cNvGraphicFramePr>
          <p:nvPr>
            <p:extLst>
              <p:ext uri="{D42A27DB-BD31-4B8C-83A1-F6EECF244321}">
                <p14:modId xmlns:p14="http://schemas.microsoft.com/office/powerpoint/2010/main" val="5760353"/>
              </p:ext>
            </p:extLst>
          </p:nvPr>
        </p:nvGraphicFramePr>
        <p:xfrm>
          <a:off x="11767854" y="5887599"/>
          <a:ext cx="9474429" cy="1188720"/>
        </p:xfrm>
        <a:graphic>
          <a:graphicData uri="http://schemas.openxmlformats.org/drawingml/2006/table">
            <a:tbl>
              <a:tblPr firstRow="1" bandRow="1">
                <a:tableStyleId>{2D5ABB26-0587-4C30-8999-92F81FD0307C}</a:tableStyleId>
              </a:tblPr>
              <a:tblGrid>
                <a:gridCol w="9474429">
                  <a:extLst>
                    <a:ext uri="{9D8B030D-6E8A-4147-A177-3AD203B41FA5}">
                      <a16:colId xmlns:a16="http://schemas.microsoft.com/office/drawing/2014/main" val="3283303261"/>
                    </a:ext>
                  </a:extLst>
                </a:gridCol>
              </a:tblGrid>
              <a:tr h="747500">
                <a:tc>
                  <a:txBody>
                    <a:bodyPr/>
                    <a:lstStyle/>
                    <a:p>
                      <a:r>
                        <a:rPr lang="en-GB" sz="2400" dirty="0" err="1"/>
                        <a:t>mydata$year</a:t>
                      </a:r>
                      <a:r>
                        <a:rPr lang="en-GB" sz="2400" dirty="0"/>
                        <a:t>      &lt;- </a:t>
                      </a:r>
                      <a:r>
                        <a:rPr lang="en-GB" sz="2400" dirty="0" err="1"/>
                        <a:t>as.integer</a:t>
                      </a:r>
                      <a:r>
                        <a:rPr lang="en-GB" sz="2400" dirty="0"/>
                        <a:t>(format(</a:t>
                      </a:r>
                      <a:r>
                        <a:rPr lang="en-GB" sz="2400" dirty="0" err="1"/>
                        <a:t>mydata$date</a:t>
                      </a:r>
                      <a:r>
                        <a:rPr lang="en-GB" sz="2400" dirty="0"/>
                        <a:t>, "%Y"))</a:t>
                      </a:r>
                    </a:p>
                    <a:p>
                      <a:r>
                        <a:rPr lang="en-GB" sz="2400" dirty="0" err="1"/>
                        <a:t>mydata$is_new</a:t>
                      </a:r>
                      <a:r>
                        <a:rPr lang="en-GB" sz="2400" dirty="0"/>
                        <a:t>    &lt;- </a:t>
                      </a:r>
                      <a:r>
                        <a:rPr lang="en-GB" sz="2400" dirty="0" err="1"/>
                        <a:t>as.integer</a:t>
                      </a:r>
                      <a:r>
                        <a:rPr lang="en-GB" sz="2400" dirty="0"/>
                        <a:t>(</a:t>
                      </a:r>
                      <a:r>
                        <a:rPr lang="en-GB" sz="2400" dirty="0" err="1"/>
                        <a:t>grepl</a:t>
                      </a:r>
                      <a:r>
                        <a:rPr lang="en-GB" sz="2400" dirty="0"/>
                        <a:t>("^New", </a:t>
                      </a:r>
                      <a:r>
                        <a:rPr lang="en-GB" sz="2400" dirty="0" err="1"/>
                        <a:t>mydata$desc</a:t>
                      </a:r>
                      <a:r>
                        <a:rPr lang="en-GB" sz="2400" dirty="0"/>
                        <a:t>))</a:t>
                      </a:r>
                    </a:p>
                    <a:p>
                      <a:r>
                        <a:rPr lang="en-GB" sz="2400" dirty="0" err="1"/>
                        <a:t>mydata$is_dublin</a:t>
                      </a:r>
                      <a:r>
                        <a:rPr lang="en-GB" sz="2400" dirty="0"/>
                        <a:t> &lt;- </a:t>
                      </a:r>
                      <a:r>
                        <a:rPr lang="en-GB" sz="2400" dirty="0" err="1"/>
                        <a:t>as.integer</a:t>
                      </a:r>
                      <a:r>
                        <a:rPr lang="en-GB" sz="2400" dirty="0"/>
                        <a:t>(</a:t>
                      </a:r>
                      <a:r>
                        <a:rPr lang="en-GB" sz="2400" dirty="0" err="1"/>
                        <a:t>mydata$county</a:t>
                      </a:r>
                      <a:r>
                        <a:rPr lang="en-GB" sz="2400" dirty="0"/>
                        <a:t> == "Dublin")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5831716"/>
                  </a:ext>
                </a:extLst>
              </a:tr>
            </a:tbl>
          </a:graphicData>
        </a:graphic>
      </p:graphicFrame>
      <p:sp>
        <p:nvSpPr>
          <p:cNvPr id="23" name="TextBox 22">
            <a:extLst>
              <a:ext uri="{FF2B5EF4-FFF2-40B4-BE49-F238E27FC236}">
                <a16:creationId xmlns:a16="http://schemas.microsoft.com/office/drawing/2014/main" id="{24AF3DA0-1BD3-CC9B-5CD7-C48A64F7418A}"/>
              </a:ext>
            </a:extLst>
          </p:cNvPr>
          <p:cNvSpPr txBox="1"/>
          <p:nvPr/>
        </p:nvSpPr>
        <p:spPr>
          <a:xfrm>
            <a:off x="11693941" y="7084142"/>
            <a:ext cx="9474430" cy="2677656"/>
          </a:xfrm>
          <a:prstGeom prst="rect">
            <a:avLst/>
          </a:prstGeom>
          <a:noFill/>
        </p:spPr>
        <p:txBody>
          <a:bodyPr wrap="square" rtlCol="0">
            <a:spAutoFit/>
          </a:bodyPr>
          <a:lstStyle/>
          <a:p>
            <a:r>
              <a:rPr lang="en-GB" sz="2400" dirty="0"/>
              <a:t>I made columns for year, month and quarter, plus yes/no (1/0) columns for new homes, Dublin and VAT. I also grouped the 26 counties into 4 provinces, which makes charts easier to read.</a:t>
            </a:r>
          </a:p>
          <a:p>
            <a:r>
              <a:rPr lang="en-GB" sz="2400" b="1" dirty="0"/>
              <a:t>Final result</a:t>
            </a:r>
          </a:p>
          <a:p>
            <a:r>
              <a:rPr lang="en-GB" sz="2400" dirty="0"/>
              <a:t>After cleaning, the dataset has </a:t>
            </a:r>
            <a:r>
              <a:rPr lang="en-GB" sz="2400" b="1" dirty="0"/>
              <a:t>364,125 sales and 11 columns, with nothing missing.</a:t>
            </a:r>
            <a:r>
              <a:rPr lang="en-GB" sz="2400" dirty="0"/>
              <a:t> That is well above the minimum of 3,000 rows and 7 columns.</a:t>
            </a:r>
          </a:p>
        </p:txBody>
      </p:sp>
    </p:spTree>
    <p:extLst>
      <p:ext uri="{BB962C8B-B14F-4D97-AF65-F5344CB8AC3E}">
        <p14:creationId xmlns:p14="http://schemas.microsoft.com/office/powerpoint/2010/main" val="3160527046"/>
      </p:ext>
    </p:extLst>
  </p:cSld>
  <p:clrMapOvr>
    <a:masterClrMapping/>
  </p:clrMapOvr>
</p:sld>
</file>

<file path=ppt/theme/theme1.xml><?xml version="1.0" encoding="utf-8"?>
<a:theme xmlns:a="http://schemas.openxmlformats.org/drawingml/2006/main" name="36x48-Template-V2b">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Classic 3 Columns">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lassic - Wide Center">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36x48-Template-V2b</Template>
  <TotalTime>3482</TotalTime>
  <Words>2027</Words>
  <Application>Microsoft Office PowerPoint</Application>
  <PresentationFormat>Custom</PresentationFormat>
  <Paragraphs>133</Paragraphs>
  <Slides>1</Slides>
  <Notes>1</Notes>
  <HiddenSlides>0</HiddenSlides>
  <MMClips>0</MMClips>
  <ScaleCrop>false</ScaleCrop>
  <HeadingPairs>
    <vt:vector size="8" baseType="variant">
      <vt:variant>
        <vt:lpstr>Fonts Used</vt:lpstr>
      </vt:variant>
      <vt:variant>
        <vt:i4>4</vt:i4>
      </vt:variant>
      <vt:variant>
        <vt:lpstr>Theme</vt:lpstr>
      </vt:variant>
      <vt:variant>
        <vt:i4>3</vt:i4>
      </vt:variant>
      <vt:variant>
        <vt:lpstr>Embedded OLE Servers</vt:lpstr>
      </vt:variant>
      <vt:variant>
        <vt:i4>1</vt:i4>
      </vt:variant>
      <vt:variant>
        <vt:lpstr>Slide Titles</vt:lpstr>
      </vt:variant>
      <vt:variant>
        <vt:i4>1</vt:i4>
      </vt:variant>
    </vt:vector>
  </HeadingPairs>
  <TitlesOfParts>
    <vt:vector size="9" baseType="lpstr">
      <vt:lpstr>Arial</vt:lpstr>
      <vt:lpstr>Calibri</vt:lpstr>
      <vt:lpstr>Times New Roman</vt:lpstr>
      <vt:lpstr>Trebuchet MS</vt:lpstr>
      <vt:lpstr>36x48-Template-V2b</vt:lpstr>
      <vt:lpstr>1_Classic 3 Columns</vt:lpstr>
      <vt:lpstr>Classic - Wide Center</vt:lpstr>
      <vt:lpstr>Image</vt:lpstr>
      <vt:lpstr>PowerPoint Presentation</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CanterburyMedia</dc:creator>
  <dc:description>This template is the property of PosterPresentations.com. Call us if you need help with this poster template._x000d_
1-866-649-3004           _x000d_
 (c)PosterPresentations.com</dc:description>
  <cp:lastModifiedBy>Telmuun Dunia</cp:lastModifiedBy>
  <cp:revision>122</cp:revision>
  <dcterms:created xsi:type="dcterms:W3CDTF">2012-02-03T19:11:35Z</dcterms:created>
  <dcterms:modified xsi:type="dcterms:W3CDTF">2026-10-23T15:32:28Z</dcterms:modified>
</cp:coreProperties>
</file>